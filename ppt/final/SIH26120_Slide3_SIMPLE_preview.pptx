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0" r:id="rId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S_S1"/>
          <p:cNvSpPr/>
          <p:nvPr/>
        </p:nvSpPr>
        <p:spPr>
          <a:xfrm>
            <a:off x="292608" y="2029968"/>
            <a:ext cx="1965960" cy="2203704"/>
          </a:xfrm>
          <a:prstGeom prst="roundRect">
            <a:avLst>
              <a:gd name="adj" fmla="val 5581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S_S1_hdr"/>
          <p:cNvSpPr/>
          <p:nvPr/>
        </p:nvSpPr>
        <p:spPr>
          <a:xfrm>
            <a:off x="292608" y="2029968"/>
            <a:ext cx="1965960" cy="384048"/>
          </a:xfrm>
          <a:prstGeom prst="round2SameRect">
            <a:avLst>
              <a:gd name="adj1" fmla="val 28571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The well</a:t>
            </a:r>
            <a:endParaRPr lang="en-IN" sz="1500" dirty="0"/>
          </a:p>
        </p:txBody>
      </p:sp>
      <p:sp>
        <p:nvSpPr>
          <p:cNvPr id="17413" name="TS_S2"/>
          <p:cNvSpPr/>
          <p:nvPr/>
        </p:nvSpPr>
        <p:spPr>
          <a:xfrm>
            <a:off x="2724912" y="2029968"/>
            <a:ext cx="1965960" cy="2203704"/>
          </a:xfrm>
          <a:prstGeom prst="roundRect">
            <a:avLst>
              <a:gd name="adj" fmla="val 5581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S_S2_hdr"/>
          <p:cNvSpPr/>
          <p:nvPr/>
        </p:nvSpPr>
        <p:spPr>
          <a:xfrm>
            <a:off x="2724912" y="2029968"/>
            <a:ext cx="1965960" cy="384048"/>
          </a:xfrm>
          <a:prstGeom prst="round2SameRect">
            <a:avLst>
              <a:gd name="adj1" fmla="val 28571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Digital twin</a:t>
            </a:r>
            <a:endParaRPr lang="en-IN" sz="1500" dirty="0"/>
          </a:p>
        </p:txBody>
      </p:sp>
      <p:sp>
        <p:nvSpPr>
          <p:cNvPr id="17415" name="TS_S3"/>
          <p:cNvSpPr/>
          <p:nvPr/>
        </p:nvSpPr>
        <p:spPr>
          <a:xfrm>
            <a:off x="5157216" y="2029968"/>
            <a:ext cx="1965960" cy="2203704"/>
          </a:xfrm>
          <a:prstGeom prst="roundRect">
            <a:avLst>
              <a:gd name="adj" fmla="val 5581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S_S3_hdr"/>
          <p:cNvSpPr/>
          <p:nvPr/>
        </p:nvSpPr>
        <p:spPr>
          <a:xfrm>
            <a:off x="5157216" y="2029968"/>
            <a:ext cx="1965960" cy="384048"/>
          </a:xfrm>
          <a:prstGeom prst="round2SameRect">
            <a:avLst>
              <a:gd name="adj1" fmla="val 28571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Smart search</a:t>
            </a:r>
            <a:endParaRPr lang="en-IN" sz="1500" dirty="0"/>
          </a:p>
        </p:txBody>
      </p:sp>
      <p:sp>
        <p:nvSpPr>
          <p:cNvPr id="17417" name="TS_S4"/>
          <p:cNvSpPr/>
          <p:nvPr/>
        </p:nvSpPr>
        <p:spPr>
          <a:xfrm>
            <a:off x="7589520" y="2029968"/>
            <a:ext cx="1965960" cy="2203704"/>
          </a:xfrm>
          <a:prstGeom prst="roundRect">
            <a:avLst>
              <a:gd name="adj" fmla="val 5581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S_S4_hdr"/>
          <p:cNvSpPr/>
          <p:nvPr/>
        </p:nvSpPr>
        <p:spPr>
          <a:xfrm>
            <a:off x="7589520" y="2029968"/>
            <a:ext cx="1965960" cy="384048"/>
          </a:xfrm>
          <a:prstGeom prst="round2SameRect">
            <a:avLst>
              <a:gd name="adj1" fmla="val 28571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Dashboard</a:t>
            </a:r>
            <a:endParaRPr lang="en-IN" sz="1500" dirty="0"/>
          </a:p>
        </p:txBody>
      </p:sp>
      <p:sp>
        <p:nvSpPr>
          <p:cNvPr id="17419" name="TS_S5"/>
          <p:cNvSpPr/>
          <p:nvPr/>
        </p:nvSpPr>
        <p:spPr>
          <a:xfrm>
            <a:off x="10021824" y="2029968"/>
            <a:ext cx="1965960" cy="2203704"/>
          </a:xfrm>
          <a:prstGeom prst="roundRect">
            <a:avLst>
              <a:gd name="adj" fmla="val 5581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S_S5_hdr"/>
          <p:cNvSpPr/>
          <p:nvPr/>
        </p:nvSpPr>
        <p:spPr>
          <a:xfrm>
            <a:off x="10021824" y="2029968"/>
            <a:ext cx="1965960" cy="384048"/>
          </a:xfrm>
          <a:prstGeom prst="round2SameRect">
            <a:avLst>
              <a:gd name="adj1" fmla="val 28571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Operator</a:t>
            </a:r>
            <a:endParaRPr lang="en-IN" sz="1500" dirty="0"/>
          </a:p>
        </p:txBody>
      </p:sp>
      <p:sp>
        <p:nvSpPr>
          <p:cNvPr id="17421" name="TS_G"/>
          <p:cNvSpPr/>
          <p:nvPr/>
        </p:nvSpPr>
        <p:spPr>
          <a:xfrm>
            <a:off x="292608" y="4892040"/>
            <a:ext cx="6620256" cy="1042416"/>
          </a:xfrm>
          <a:prstGeom prst="roundRect">
            <a:avLst>
              <a:gd name="adj" fmla="val 8771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S_G_hdr"/>
          <p:cNvSpPr/>
          <p:nvPr/>
        </p:nvSpPr>
        <p:spPr>
          <a:xfrm>
            <a:off x="292608" y="4892040"/>
            <a:ext cx="6620256" cy="292608"/>
          </a:xfrm>
          <a:prstGeom prst="round2SameRect">
            <a:avLst>
              <a:gd name="adj1" fmla="val 31250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operator gets</a:t>
            </a:r>
            <a:endParaRPr lang="en-IN" sz="1300" dirty="0"/>
          </a:p>
        </p:txBody>
      </p:sp>
      <p:sp>
        <p:nvSpPr>
          <p:cNvPr id="17423" name="TS_L"/>
          <p:cNvSpPr/>
          <p:nvPr/>
        </p:nvSpPr>
        <p:spPr>
          <a:xfrm>
            <a:off x="7278624" y="4892040"/>
            <a:ext cx="4709160" cy="1042416"/>
          </a:xfrm>
          <a:prstGeom prst="roundRect">
            <a:avLst>
              <a:gd name="adj" fmla="val 8771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S_L_hdr"/>
          <p:cNvSpPr/>
          <p:nvPr/>
        </p:nvSpPr>
        <p:spPr>
          <a:xfrm>
            <a:off x="7278624" y="4892040"/>
            <a:ext cx="4709160" cy="292608"/>
          </a:xfrm>
          <a:prstGeom prst="round2SameRect">
            <a:avLst>
              <a:gd name="adj1" fmla="val 31250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300" dirty="0"/>
          </a:p>
        </p:txBody>
      </p:sp>
      <p:sp>
        <p:nvSpPr>
          <p:cNvPr id="17425" name="TS_S1_disc"/>
          <p:cNvSpPr/>
          <p:nvPr/>
        </p:nvSpPr>
        <p:spPr>
          <a:xfrm>
            <a:off x="763524" y="2505456"/>
            <a:ext cx="1024128" cy="10241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S_S2_disc"/>
          <p:cNvSpPr/>
          <p:nvPr/>
        </p:nvSpPr>
        <p:spPr>
          <a:xfrm>
            <a:off x="3195828" y="2505456"/>
            <a:ext cx="1024128" cy="10241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S_S3_disc"/>
          <p:cNvSpPr/>
          <p:nvPr/>
        </p:nvSpPr>
        <p:spPr>
          <a:xfrm>
            <a:off x="5628132" y="2505456"/>
            <a:ext cx="1024128" cy="10241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S_S4_disc"/>
          <p:cNvSpPr/>
          <p:nvPr/>
        </p:nvSpPr>
        <p:spPr>
          <a:xfrm>
            <a:off x="8060436" y="2505456"/>
            <a:ext cx="1024128" cy="10241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S_S5_disc"/>
          <p:cNvSpPr/>
          <p:nvPr/>
        </p:nvSpPr>
        <p:spPr>
          <a:xfrm>
            <a:off x="10492740" y="2505456"/>
            <a:ext cx="1024128" cy="10241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S_arrow00_S1_S2"/>
          <p:cNvCxnSpPr/>
          <p:nvPr/>
        </p:nvCxnSpPr>
        <p:spPr>
          <a:xfrm>
            <a:off x="2304288" y="3017520"/>
            <a:ext cx="374904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S_arrow01_S2_S3"/>
          <p:cNvCxnSpPr/>
          <p:nvPr/>
        </p:nvCxnSpPr>
        <p:spPr>
          <a:xfrm>
            <a:off x="4736592" y="3017520"/>
            <a:ext cx="374904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S_arrow02_S3_S4"/>
          <p:cNvCxnSpPr/>
          <p:nvPr/>
        </p:nvCxnSpPr>
        <p:spPr>
          <a:xfrm>
            <a:off x="7168896" y="3017520"/>
            <a:ext cx="374904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S_arrow03_S4_S5"/>
          <p:cNvCxnSpPr/>
          <p:nvPr/>
        </p:nvCxnSpPr>
        <p:spPr>
          <a:xfrm>
            <a:off x="9601200" y="3017520"/>
            <a:ext cx="374904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S_loop04_S5_S2"/>
          <p:cNvSpPr/>
          <p:nvPr/>
        </p:nvSpPr>
        <p:spPr>
          <a:xfrm>
            <a:off x="3707892" y="4233672"/>
            <a:ext cx="7296912" cy="237744"/>
          </a:xfrm>
          <a:custGeom>
            <a:avLst/>
            <a:gdLst/>
            <a:ahLst/>
            <a:cxnLst/>
            <a:rect l="l" t="t" r="r" b="b"/>
            <a:pathLst>
              <a:path w="7296912" h="237744">
                <a:moveTo>
                  <a:pt x="7296912" y="0"/>
                </a:moveTo>
                <a:lnTo>
                  <a:pt x="7296912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S_arrow05_G_L"/>
          <p:cNvCxnSpPr/>
          <p:nvPr/>
        </p:nvCxnSpPr>
        <p:spPr>
          <a:xfrm>
            <a:off x="6958584" y="5559552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S_S1_txt"/>
          <p:cNvSpPr txBox="1"/>
          <p:nvPr/>
        </p:nvSpPr>
        <p:spPr>
          <a:xfrm>
            <a:off x="365760" y="3602736"/>
            <a:ext cx="1819656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India's heavy-oil well: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goes in,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comes out.</a:t>
            </a:r>
            <a:endParaRPr lang="en-IN" sz="1200" dirty="0"/>
          </a:p>
        </p:txBody>
      </p:sp>
      <p:sp>
        <p:nvSpPr>
          <p:cNvPr id="17436" name="TS_S2_txt"/>
          <p:cNvSpPr txBox="1"/>
          <p:nvPr/>
        </p:nvSpPr>
        <p:spPr>
          <a:xfrm>
            <a:off x="2798064" y="3602736"/>
            <a:ext cx="1819656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computer copy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 the well —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pump.</a:t>
            </a:r>
            <a:endParaRPr lang="en-IN" sz="1200" dirty="0"/>
          </a:p>
        </p:txBody>
      </p:sp>
      <p:sp>
        <p:nvSpPr>
          <p:cNvPr id="17437" name="TS_S3_txt"/>
          <p:cNvSpPr txBox="1"/>
          <p:nvPr/>
        </p:nvSpPr>
        <p:spPr>
          <a:xfrm>
            <a:off x="5230368" y="3602736"/>
            <a:ext cx="1819656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Tries 53,000 settings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36 seconds,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keeps the safe ones.</a:t>
            </a:r>
            <a:endParaRPr lang="en-IN" sz="1200" dirty="0"/>
          </a:p>
        </p:txBody>
      </p:sp>
      <p:sp>
        <p:nvSpPr>
          <p:cNvPr id="17438" name="TS_S4_txt"/>
          <p:cNvSpPr txBox="1"/>
          <p:nvPr/>
        </p:nvSpPr>
        <p:spPr>
          <a:xfrm>
            <a:off x="7662672" y="3602736"/>
            <a:ext cx="1819656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Shows the best plan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plain words,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Hindi.</a:t>
            </a:r>
            <a:endParaRPr lang="en-IN" sz="1200" dirty="0"/>
          </a:p>
        </p:txBody>
      </p:sp>
      <p:sp>
        <p:nvSpPr>
          <p:cNvPr id="17439" name="TS_S5_txt"/>
          <p:cNvSpPr txBox="1"/>
          <p:nvPr/>
        </p:nvSpPr>
        <p:spPr>
          <a:xfrm>
            <a:off x="10094976" y="3602736"/>
            <a:ext cx="1819656" cy="58521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Decides.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Nothing is sent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the well automatically.</a:t>
            </a:r>
            <a:endParaRPr lang="en-IN" sz="1200" dirty="0"/>
          </a:p>
        </p:txBody>
      </p:sp>
      <p:sp>
        <p:nvSpPr>
          <p:cNvPr id="17440" name="TS_loop_txt"/>
          <p:cNvSpPr txBox="1"/>
          <p:nvPr/>
        </p:nvSpPr>
        <p:spPr>
          <a:xfrm>
            <a:off x="5573268" y="4535424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 cycle records come back → the twin learns</a:t>
            </a:r>
            <a:endParaRPr lang="en-IN" sz="1200" dirty="0"/>
          </a:p>
        </p:txBody>
      </p:sp>
      <p:sp>
        <p:nvSpPr>
          <p:cNvPr id="17441" name="TS_G1"/>
          <p:cNvSpPr/>
          <p:nvPr/>
        </p:nvSpPr>
        <p:spPr>
          <a:xfrm>
            <a:off x="384048" y="52760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much steam</a:t>
            </a:r>
            <a:endParaRPr lang="en-IN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pressure</a:t>
            </a:r>
            <a:endParaRPr lang="en-IN" sz="1200" dirty="0"/>
          </a:p>
        </p:txBody>
      </p:sp>
      <p:sp>
        <p:nvSpPr>
          <p:cNvPr id="17442" name="TS_G2"/>
          <p:cNvSpPr/>
          <p:nvPr/>
        </p:nvSpPr>
        <p:spPr>
          <a:xfrm>
            <a:off x="2560320" y="52760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speed</a:t>
            </a:r>
            <a:endParaRPr lang="en-IN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</a:t>
            </a:r>
            <a:endParaRPr lang="en-IN" sz="1200" dirty="0"/>
          </a:p>
        </p:txBody>
      </p:sp>
      <p:sp>
        <p:nvSpPr>
          <p:cNvPr id="17443" name="TS_G3"/>
          <p:cNvSpPr/>
          <p:nvPr/>
        </p:nvSpPr>
        <p:spPr>
          <a:xfrm>
            <a:off x="4736592" y="5276088"/>
            <a:ext cx="20848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When to stop before</a:t>
            </a:r>
            <a:endParaRPr lang="en-IN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rods jam</a:t>
            </a:r>
            <a:endParaRPr lang="en-IN" sz="1200" dirty="0"/>
          </a:p>
        </p:txBody>
      </p:sp>
      <p:sp>
        <p:nvSpPr>
          <p:cNvPr id="17444" name="TS_L1"/>
          <p:cNvSpPr/>
          <p:nvPr/>
        </p:nvSpPr>
        <p:spPr>
          <a:xfrm>
            <a:off x="7370064" y="5276088"/>
            <a:ext cx="144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</a:t>
            </a:r>
            <a:endParaRPr lang="en-IN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barrel</a:t>
            </a:r>
            <a:endParaRPr lang="en-IN" sz="1200" dirty="0"/>
          </a:p>
        </p:txBody>
      </p:sp>
      <p:sp>
        <p:nvSpPr>
          <p:cNvPr id="17445" name="TS_L2"/>
          <p:cNvSpPr/>
          <p:nvPr/>
        </p:nvSpPr>
        <p:spPr>
          <a:xfrm>
            <a:off x="8909304" y="5276088"/>
            <a:ext cx="144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Safer pump</a:t>
            </a:r>
            <a:endParaRPr lang="en-IN" sz="1200" dirty="0"/>
          </a:p>
        </p:txBody>
      </p:sp>
      <p:sp>
        <p:nvSpPr>
          <p:cNvPr id="17446" name="TS_L3"/>
          <p:cNvSpPr/>
          <p:nvPr/>
        </p:nvSpPr>
        <p:spPr>
          <a:xfrm>
            <a:off x="10448544" y="5276088"/>
            <a:ext cx="14478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93776" tIns="18288" rIns="45720" bIns="18288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More oil</a:t>
            </a:r>
            <a:endParaRPr lang="en-IN" sz="12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cycle</a:t>
            </a:r>
            <a:endParaRPr lang="en-IN" sz="1200" dirty="0"/>
          </a:p>
        </p:txBody>
      </p:sp>
      <p:sp>
        <p:nvSpPr>
          <p:cNvPr id="17447" name="TS_trust"/>
          <p:cNvSpPr txBox="1"/>
          <p:nvPr/>
        </p:nvSpPr>
        <p:spPr>
          <a:xfrm>
            <a:off x="5404104" y="6007608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Built on published physics · checked against real field data · 236 automated tests</a:t>
            </a:r>
            <a:endParaRPr lang="en-IN" sz="1100" dirty="0"/>
          </a:p>
        </p:txBody>
      </p:sp>
      <p:pic>
        <p:nvPicPr>
          <p:cNvPr id="17448" name="TS_S1_icon" descr="icon: ic_pumpja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587752"/>
            <a:ext cx="859536" cy="859536"/>
          </a:xfrm>
          <a:prstGeom prst="rect">
            <a:avLst/>
          </a:prstGeom>
        </p:spPr>
      </p:pic>
      <p:pic>
        <p:nvPicPr>
          <p:cNvPr id="17449" name="TS_S2_icon" descr="icon: ic_dashboard.svg frame + ic_pumpjack.svg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124" y="2587752"/>
            <a:ext cx="859536" cy="859536"/>
          </a:xfrm>
          <a:prstGeom prst="rect">
            <a:avLst/>
          </a:prstGeom>
        </p:spPr>
      </p:pic>
      <p:pic>
        <p:nvPicPr>
          <p:cNvPr id="17450" name="TS_S3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0428" y="2587752"/>
            <a:ext cx="859536" cy="859536"/>
          </a:xfrm>
          <a:prstGeom prst="rect">
            <a:avLst/>
          </a:prstGeom>
        </p:spPr>
      </p:pic>
      <p:pic>
        <p:nvPicPr>
          <p:cNvPr id="17451" name="TS_S4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32" y="2587752"/>
            <a:ext cx="859536" cy="859536"/>
          </a:xfrm>
          <a:prstGeom prst="rect">
            <a:avLst/>
          </a:prstGeom>
        </p:spPr>
      </p:pic>
      <p:pic>
        <p:nvPicPr>
          <p:cNvPr id="17452" name="TS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5036" y="2587752"/>
            <a:ext cx="859536" cy="859536"/>
          </a:xfrm>
          <a:prstGeom prst="rect">
            <a:avLst/>
          </a:prstGeom>
        </p:spPr>
      </p:pic>
      <p:pic>
        <p:nvPicPr>
          <p:cNvPr id="17453" name="TS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7508" y="4498848"/>
            <a:ext cx="310896" cy="310896"/>
          </a:xfrm>
          <a:prstGeom prst="rect">
            <a:avLst/>
          </a:prstGeom>
        </p:spPr>
      </p:pic>
      <p:pic>
        <p:nvPicPr>
          <p:cNvPr id="17454" name="TS_G1_icon" descr="icon: ic_steam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367528"/>
            <a:ext cx="384048" cy="384048"/>
          </a:xfrm>
          <a:prstGeom prst="rect">
            <a:avLst/>
          </a:prstGeom>
        </p:spPr>
      </p:pic>
      <p:pic>
        <p:nvPicPr>
          <p:cNvPr id="17455" name="TS_G2_icon" descr="icon: ic_pumpjack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367528"/>
            <a:ext cx="384048" cy="384048"/>
          </a:xfrm>
          <a:prstGeom prst="rect">
            <a:avLst/>
          </a:prstGeom>
        </p:spPr>
      </p:pic>
      <p:pic>
        <p:nvPicPr>
          <p:cNvPr id="17456" name="TS_G3_icon" descr="icon: ic_alert-triangle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367528"/>
            <a:ext cx="384048" cy="384048"/>
          </a:xfrm>
          <a:prstGeom prst="rect">
            <a:avLst/>
          </a:prstGeom>
        </p:spPr>
      </p:pic>
      <p:pic>
        <p:nvPicPr>
          <p:cNvPr id="17457" name="TS_L1_icon" descr="icon: ic_flame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367528"/>
            <a:ext cx="384048" cy="384048"/>
          </a:xfrm>
          <a:prstGeom prst="rect">
            <a:avLst/>
          </a:prstGeom>
        </p:spPr>
      </p:pic>
      <p:pic>
        <p:nvPicPr>
          <p:cNvPr id="17458" name="TS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367528"/>
            <a:ext cx="384048" cy="384048"/>
          </a:xfrm>
          <a:prstGeom prst="rect">
            <a:avLst/>
          </a:prstGeom>
        </p:spPr>
      </p:pic>
      <p:pic>
        <p:nvPicPr>
          <p:cNvPr id="17459" name="TS_L3_icon" descr="icon: ic_oil-drop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36752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