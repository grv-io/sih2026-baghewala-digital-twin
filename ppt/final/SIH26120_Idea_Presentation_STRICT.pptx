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7.png"/><Relationship Id="rId8" Type="http://schemas.openxmlformats.org/officeDocument/2006/relationships/image" Target="../media/image18.png"/><Relationship Id="rId9" Type="http://schemas.openxmlformats.org/officeDocument/2006/relationships/image" Target="../media/image19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18.png"/><Relationship Id="rId6" Type="http://schemas.openxmlformats.org/officeDocument/2006/relationships/image" Target="../media/image7.png"/><Relationship Id="rId7" Type="http://schemas.openxmlformats.org/officeDocument/2006/relationships/hyperlink" Target="https://doi.org/10.2118/1266-G" TargetMode="External"/><Relationship Id="rId8" Type="http://schemas.openxmlformats.org/officeDocument/2006/relationships/hyperlink" Target="https://petrowiki.org/PEH:Thermal_Recovery_by_Steam_Injection" TargetMode="External"/><Relationship Id="rId9" Type="http://schemas.openxmlformats.org/officeDocument/2006/relationships/hyperlink" Target="https://onepetro.org/JPT/article/20/01/83/163252" TargetMode="External"/><Relationship Id="rId10" Type="http://schemas.openxmlformats.org/officeDocument/2006/relationships/hyperlink" Target="https://doi.org/10.2118/588-PA" TargetMode="External"/><Relationship Id="rId11" Type="http://schemas.openxmlformats.org/officeDocument/2006/relationships/hyperlink" Target="https://www.astm.org/Standards/D341.htm" TargetMode="External"/><Relationship Id="rId12" Type="http://schemas.openxmlformats.org/officeDocument/2006/relationships/hyperlink" Target="https://www.api.org/products-and-services/standards" TargetMode="External"/><Relationship Id="rId13" Type="http://schemas.openxmlformats.org/officeDocument/2006/relationships/hyperlink" Target="https://onepetro.org/SPEAPOG/proceedings-abstract/23APOG/2-23APOG/535203" TargetMode="External"/><Relationship Id="rId14" Type="http://schemas.openxmlformats.org/officeDocument/2006/relationships/hyperlink" Target="https://doi.org/10.1038/s41598-022-14831-5" TargetMode="External"/><Relationship Id="rId15" Type="http://schemas.openxmlformats.org/officeDocument/2006/relationships/hyperlink" Target="https://www.oil-india.com/rajasthan-fields" TargetMode="External"/><Relationship Id="rId16" Type="http://schemas.openxmlformats.org/officeDocument/2006/relationships/hyperlink" Target="https://www.conservation.ca.gov/calgem/Documents/2021%20CalGEM%20Supervisor%20Annual%20Report.pdf" TargetMode="External"/><Relationship Id="rId17" Type="http://schemas.openxmlformats.org/officeDocument/2006/relationships/hyperlink" Target="https://github.com/InsideClimateNews/2022-09-ca-kern-oil-water" TargetMode="External"/><Relationship Id="rId18" Type="http://schemas.openxmlformats.org/officeDocument/2006/relationships/hyperlink" Target="https://www.lufkin.com/solutions-services/srod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201168" indent="-20116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Problem Statement ID – SIH26120</a:t>
            </a:r>
          </a:p>
          <a:p>
            <a:pPr marL="201168" indent="-20116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Problem Statement Title- Digital Twin for Well-to-Surface Optimization of Cyclic Steam Stimulation and Sucker Rod Pump Operations</a:t>
            </a:r>
          </a:p>
          <a:p>
            <a:pPr marL="201168" indent="-20116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Theme- Smart Automation</a:t>
            </a:r>
          </a:p>
          <a:p>
            <a:pPr marL="201168" indent="-20116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PS Category- Software</a:t>
            </a:r>
          </a:p>
          <a:p>
            <a:pPr marL="201168" indent="-20116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Team ID- TBD</a:t>
            </a:r>
          </a:p>
          <a:p>
            <a:pPr marL="201168" indent="-201168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Team Name (Registered on portal)- TEAM ________</a:t>
            </a:r>
          </a:p>
          <a:p>
            <a:pPr marL="201168" indent="-201168">
              <a:spcAft>
                <a:spcPts val="1400"/>
              </a:spcAft>
              <a:buFont typeface="Arial" panose="020B0604020202020204" pitchFamily="34" charset="0"/>
              <a:buChar char="•"/>
            </a:pPr>
            <a:r>
              <a:rPr lang="en-IN" sz="1600" b="1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Organisation- Oil India Limited  |  Baghewala field, Rajasthan</a:t>
            </a:r>
          </a:p>
          <a:p>
            <a:pPr marL="0" indent="0">
              <a:buNone/>
            </a:pPr>
            <a:r>
              <a:rPr lang="en-IN" sz="1500" b="1" i="1" dirty="0">
                <a:solidFill>
                  <a:srgbClr val="1F497D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“Physics + AI for India’s first cyclic-steam oilfield”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22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Digital Twin for CSS and Sucker Rod Pump Optimization</a:t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502920" y="1170432"/>
            <a:ext cx="11247120" cy="8412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0" indent="0">
              <a:spcAft>
                <a:spcPts val="300"/>
              </a:spcAft>
              <a:buNone/>
            </a:pPr>
            <a:r>
              <a:rPr lang="en-IN" sz="1800" b="1" u="sng" dirty="0">
                <a:solidFill>
                  <a:srgbClr val="1F497D"/>
                </a:solidFill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Proposed Solution (Describe your Idea/Solution/Prototype)</a:t>
            </a:r>
          </a:p>
          <a:p>
            <a:pPr marL="0" indent="0">
              <a:buNone/>
            </a:pPr>
            <a:r>
              <a:rPr lang="en-IN" sz="13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For Oil India's Baghewala field — India's first cyclic-steam wells: a digital twin that recommends the steam, pump and stop settings for each cycle, and tells the engineer why.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3" name="FD_A"/>
          <p:cNvSpPr/>
          <p:nvPr/>
        </p:nvSpPr>
        <p:spPr>
          <a:xfrm>
            <a:off x="292608" y="2066544"/>
            <a:ext cx="3678936" cy="3364992"/>
          </a:xfrm>
          <a:prstGeom prst="roundRect">
            <a:avLst>
              <a:gd name="adj" fmla="val 3260"/>
            </a:avLst>
          </a:prstGeom>
          <a:solidFill>
            <a:srgbClr val="FEF8F3"/>
          </a:solidFill>
          <a:ln w="19050">
            <a:solidFill>
              <a:srgbClr val="C55A11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5364" name="FD_A_hdr"/>
          <p:cNvSpPr/>
          <p:nvPr/>
        </p:nvSpPr>
        <p:spPr>
          <a:xfrm>
            <a:off x="292608" y="2066544"/>
            <a:ext cx="3678936" cy="530352"/>
          </a:xfrm>
          <a:prstGeom prst="round2SameRect">
            <a:avLst>
              <a:gd name="adj1" fmla="val 20689"/>
              <a:gd name="adj2" fmla="val 0"/>
            </a:avLst>
          </a:prstGeom>
          <a:solidFill>
            <a:srgbClr val="C55A11"/>
          </a:solidFill>
          <a:ln>
            <a:noFill/>
          </a:ln>
        </p:spPr>
        <p:txBody>
          <a:bodyPr rtlCol="0" anchor="ctr" wrap="square" lIns="73152" tIns="0" rIns="73152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Detailed explanation of the proposed solution</a:t>
            </a:r>
            <a:endParaRPr lang="en-IN" sz="1300" dirty="0"/>
          </a:p>
        </p:txBody>
      </p:sp>
      <p:sp>
        <p:nvSpPr>
          <p:cNvPr id="15365" name="FD_B"/>
          <p:cNvSpPr/>
          <p:nvPr/>
        </p:nvSpPr>
        <p:spPr>
          <a:xfrm>
            <a:off x="4300728" y="2066544"/>
            <a:ext cx="3678936" cy="3364992"/>
          </a:xfrm>
          <a:prstGeom prst="roundRect">
            <a:avLst>
              <a:gd name="adj" fmla="val 3260"/>
            </a:avLst>
          </a:prstGeom>
          <a:solidFill>
            <a:srgbClr val="F6FBF6"/>
          </a:solidFill>
          <a:ln w="19050">
            <a:solidFill>
              <a:srgbClr val="2E7D32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5366" name="FD_B_hdr"/>
          <p:cNvSpPr/>
          <p:nvPr/>
        </p:nvSpPr>
        <p:spPr>
          <a:xfrm>
            <a:off x="4300728" y="2066544"/>
            <a:ext cx="3678936" cy="530352"/>
          </a:xfrm>
          <a:prstGeom prst="round2SameRect">
            <a:avLst>
              <a:gd name="adj1" fmla="val 20689"/>
              <a:gd name="adj2" fmla="val 0"/>
            </a:avLst>
          </a:prstGeom>
          <a:solidFill>
            <a:srgbClr val="2E7D32"/>
          </a:solidFill>
          <a:ln>
            <a:noFill/>
          </a:ln>
        </p:spPr>
        <p:txBody>
          <a:bodyPr rtlCol="0" anchor="ctr" wrap="square" lIns="73152" tIns="0" rIns="73152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How it addresses the problem</a:t>
            </a:r>
            <a:endParaRPr lang="en-IN" sz="1300" dirty="0"/>
          </a:p>
        </p:txBody>
      </p:sp>
      <p:sp>
        <p:nvSpPr>
          <p:cNvPr id="15367" name="FD_C"/>
          <p:cNvSpPr/>
          <p:nvPr/>
        </p:nvSpPr>
        <p:spPr>
          <a:xfrm>
            <a:off x="8308848" y="2066544"/>
            <a:ext cx="3678936" cy="3364992"/>
          </a:xfrm>
          <a:prstGeom prst="roundRect">
            <a:avLst>
              <a:gd name="adj" fmla="val 3260"/>
            </a:avLst>
          </a:prstGeom>
          <a:solidFill>
            <a:srgbClr val="F6F8FC"/>
          </a:solidFill>
          <a:ln w="19050">
            <a:solidFill>
              <a:srgbClr val="1F497D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5368" name="FD_C_hdr"/>
          <p:cNvSpPr/>
          <p:nvPr/>
        </p:nvSpPr>
        <p:spPr>
          <a:xfrm>
            <a:off x="8308848" y="2066544"/>
            <a:ext cx="3678936" cy="530352"/>
          </a:xfrm>
          <a:prstGeom prst="round2SameRect">
            <a:avLst>
              <a:gd name="adj1" fmla="val 20689"/>
              <a:gd name="adj2" fmla="val 0"/>
            </a:avLst>
          </a:prstGeom>
          <a:solidFill>
            <a:srgbClr val="1F497D"/>
          </a:solidFill>
          <a:ln>
            <a:noFill/>
          </a:ln>
        </p:spPr>
        <p:txBody>
          <a:bodyPr rtlCol="0" anchor="ctr" wrap="square" lIns="73152" tIns="0" rIns="73152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Innovation and uniqueness of the solution</a:t>
            </a:r>
            <a:endParaRPr lang="en-IN" sz="1300" dirty="0"/>
          </a:p>
        </p:txBody>
      </p:sp>
      <p:sp>
        <p:nvSpPr>
          <p:cNvPr id="15369" name="FD_K"/>
          <p:cNvSpPr/>
          <p:nvPr/>
        </p:nvSpPr>
        <p:spPr>
          <a:xfrm>
            <a:off x="292608" y="5541264"/>
            <a:ext cx="11695176" cy="758952"/>
          </a:xfrm>
          <a:prstGeom prst="roundRect">
            <a:avLst>
              <a:gd name="adj" fmla="val 12048"/>
            </a:avLst>
          </a:prstGeom>
          <a:solidFill>
            <a:srgbClr val="F9F7FD"/>
          </a:solidFill>
          <a:ln w="15875">
            <a:solidFill>
              <a:srgbClr val="5B3FA0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5370" name="FD_K_hdr"/>
          <p:cNvSpPr/>
          <p:nvPr/>
        </p:nvSpPr>
        <p:spPr>
          <a:xfrm>
            <a:off x="292608" y="5541264"/>
            <a:ext cx="11695176" cy="246888"/>
          </a:xfrm>
          <a:prstGeom prst="round2SameRect">
            <a:avLst>
              <a:gd name="adj1" fmla="val 37037"/>
              <a:gd name="adj2" fmla="val 0"/>
            </a:avLst>
          </a:prstGeom>
          <a:solidFill>
            <a:srgbClr val="5B3FA0"/>
          </a:solidFill>
          <a:ln>
            <a:noFill/>
          </a:ln>
        </p:spPr>
        <p:txBody>
          <a:bodyPr rtlCol="0" anchor="ctr" wrap="square" lIns="109728" tIns="0" rIns="54864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Links (fill in before submission)</a:t>
            </a:r>
            <a:endParaRPr lang="en-IN" sz="1200" dirty="0"/>
          </a:p>
        </p:txBody>
      </p:sp>
      <p:sp>
        <p:nvSpPr>
          <p:cNvPr id="15371" name="FD_A_disc"/>
          <p:cNvSpPr/>
          <p:nvPr/>
        </p:nvSpPr>
        <p:spPr>
          <a:xfrm>
            <a:off x="1766316" y="2660904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55A1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72" name="FD_B_disc"/>
          <p:cNvSpPr/>
          <p:nvPr/>
        </p:nvSpPr>
        <p:spPr>
          <a:xfrm>
            <a:off x="5774436" y="2660904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73" name="FD_C_disc"/>
          <p:cNvSpPr/>
          <p:nvPr/>
        </p:nvSpPr>
        <p:spPr>
          <a:xfrm>
            <a:off x="9782556" y="2660904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497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74" name="FD_A_txt"/>
          <p:cNvSpPr txBox="1"/>
          <p:nvPr/>
        </p:nvSpPr>
        <p:spPr>
          <a:xfrm>
            <a:off x="384048" y="3438144"/>
            <a:ext cx="3496056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Every steam cycle, the twin re-plans</a:t>
            </a:r>
            <a:endParaRPr lang="en-IN" sz="115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the well from first principles —</a:t>
            </a:r>
            <a:endParaRPr lang="en-IN" sz="115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heat, thick oil, the rod pump.</a:t>
            </a:r>
            <a:endParaRPr lang="en-IN" sz="1150" dirty="0"/>
          </a:p>
        </p:txBody>
      </p:sp>
      <p:sp>
        <p:nvSpPr>
          <p:cNvPr id="15375" name="FD_A_d1"/>
          <p:cNvSpPr/>
          <p:nvPr/>
        </p:nvSpPr>
        <p:spPr>
          <a:xfrm>
            <a:off x="365760" y="4059936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FCEEE4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One well, simulated day by day: inject → soak → produce</a:t>
            </a:r>
            <a:endParaRPr lang="en-IN" sz="950" dirty="0"/>
          </a:p>
        </p:txBody>
      </p:sp>
      <p:sp>
        <p:nvSpPr>
          <p:cNvPr id="15376" name="FD_A_d2"/>
          <p:cNvSpPr/>
          <p:nvPr/>
        </p:nvSpPr>
        <p:spPr>
          <a:xfrm>
            <a:off x="365760" y="4338828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FCEEE4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Tracks heat, viscosity, water cut and rod loads</a:t>
            </a:r>
            <a:endParaRPr lang="en-IN" sz="950" dirty="0"/>
          </a:p>
        </p:txBody>
      </p:sp>
      <p:sp>
        <p:nvSpPr>
          <p:cNvPr id="15377" name="FD_A_d3"/>
          <p:cNvSpPr/>
          <p:nvPr/>
        </p:nvSpPr>
        <p:spPr>
          <a:xfrm>
            <a:off x="365760" y="4617720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FCEEE4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Inputs: field parameters + Oil India's cycle records</a:t>
            </a:r>
            <a:endParaRPr lang="en-IN" sz="950" dirty="0"/>
          </a:p>
        </p:txBody>
      </p:sp>
      <p:sp>
        <p:nvSpPr>
          <p:cNvPr id="15378" name="FD_A_d4"/>
          <p:cNvSpPr/>
          <p:nvPr/>
        </p:nvSpPr>
        <p:spPr>
          <a:xfrm>
            <a:off x="365760" y="4896612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FCEEE4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Output: 5 settings + an operating rule, with a range</a:t>
            </a:r>
            <a:endParaRPr lang="en-IN" sz="950" dirty="0"/>
          </a:p>
        </p:txBody>
      </p:sp>
      <p:sp>
        <p:nvSpPr>
          <p:cNvPr id="15379" name="FD_A_d5"/>
          <p:cNvSpPr/>
          <p:nvPr/>
        </p:nvSpPr>
        <p:spPr>
          <a:xfrm>
            <a:off x="365760" y="5175504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FCEEE4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Field view: which of the 33 wells gets steam next</a:t>
            </a:r>
            <a:endParaRPr lang="en-IN" sz="950" dirty="0"/>
          </a:p>
        </p:txBody>
      </p:sp>
      <p:sp>
        <p:nvSpPr>
          <p:cNvPr id="15380" name="FD_B_txt"/>
          <p:cNvSpPr txBox="1"/>
          <p:nvPr/>
        </p:nvSpPr>
        <p:spPr>
          <a:xfrm>
            <a:off x="4392168" y="3438144"/>
            <a:ext cx="3496056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Today's cycles are tuned by experience;</a:t>
            </a:r>
            <a:endParaRPr lang="en-IN" sz="115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the twin adds the physics</a:t>
            </a:r>
            <a:endParaRPr lang="en-IN" sz="115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and keeps the engineer in charge.</a:t>
            </a:r>
            <a:endParaRPr lang="en-IN" sz="1150" dirty="0"/>
          </a:p>
        </p:txBody>
      </p:sp>
      <p:sp>
        <p:nvSpPr>
          <p:cNvPr id="15381" name="FD_B_d1"/>
          <p:cNvSpPr/>
          <p:nvPr/>
        </p:nvSpPr>
        <p:spPr>
          <a:xfrm>
            <a:off x="4373880" y="4059936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E8F3E9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Manual steam and pump choices → one checked plan</a:t>
            </a:r>
            <a:endParaRPr lang="en-IN" sz="950" dirty="0"/>
          </a:p>
        </p:txBody>
      </p:sp>
      <p:sp>
        <p:nvSpPr>
          <p:cNvPr id="15382" name="FD_B_d2"/>
          <p:cNvSpPr/>
          <p:nvPr/>
        </p:nvSpPr>
        <p:spPr>
          <a:xfrm>
            <a:off x="4373880" y="4338828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E8F3E9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Rods that float late in the cycle → slowed, then pulled</a:t>
            </a:r>
            <a:endParaRPr lang="en-IN" sz="950" dirty="0"/>
          </a:p>
        </p:txBody>
      </p:sp>
      <p:sp>
        <p:nvSpPr>
          <p:cNvPr id="15383" name="FD_B_d3"/>
          <p:cNvSpPr/>
          <p:nvPr/>
        </p:nvSpPr>
        <p:spPr>
          <a:xfrm>
            <a:off x="4373880" y="4617720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E8F3E9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Steam wasted on cold oil → less steam per m³ of oil</a:t>
            </a:r>
            <a:endParaRPr lang="en-IN" sz="950" dirty="0"/>
          </a:p>
        </p:txBody>
      </p:sp>
      <p:sp>
        <p:nvSpPr>
          <p:cNvPr id="15384" name="FD_B_d4"/>
          <p:cNvSpPr/>
          <p:nvPr/>
        </p:nvSpPr>
        <p:spPr>
          <a:xfrm>
            <a:off x="4373880" y="4896612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E8F3E9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No field data yet → every assumption tagged and ranged</a:t>
            </a:r>
            <a:endParaRPr lang="en-IN" sz="950" dirty="0"/>
          </a:p>
        </p:txBody>
      </p:sp>
      <p:sp>
        <p:nvSpPr>
          <p:cNvPr id="15385" name="FD_B_d5"/>
          <p:cNvSpPr/>
          <p:nvPr/>
        </p:nvSpPr>
        <p:spPr>
          <a:xfrm>
            <a:off x="4373880" y="5175504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E8F3E9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Engineer reviews, confirms, then loads — advisory only</a:t>
            </a:r>
            <a:endParaRPr lang="en-IN" sz="950" dirty="0"/>
          </a:p>
        </p:txBody>
      </p:sp>
      <p:sp>
        <p:nvSpPr>
          <p:cNvPr id="15386" name="FD_C_txt"/>
          <p:cNvSpPr txBox="1"/>
          <p:nvPr/>
        </p:nvSpPr>
        <p:spPr>
          <a:xfrm>
            <a:off x="8400288" y="3438144"/>
            <a:ext cx="3496056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Steam and pump treated as one system —</a:t>
            </a:r>
            <a:endParaRPr lang="en-IN" sz="115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because one thick oil</a:t>
            </a:r>
            <a:endParaRPr lang="en-IN" sz="115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causes both failures.</a:t>
            </a:r>
            <a:endParaRPr lang="en-IN" sz="1150" dirty="0"/>
          </a:p>
        </p:txBody>
      </p:sp>
      <p:sp>
        <p:nvSpPr>
          <p:cNvPr id="15387" name="FD_C_d1"/>
          <p:cNvSpPr/>
          <p:nvPr/>
        </p:nvSpPr>
        <p:spPr>
          <a:xfrm>
            <a:off x="8382000" y="4059936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Couples the steam cycle to the rod pump — rare in tools</a:t>
            </a:r>
            <a:endParaRPr lang="en-IN" sz="950" dirty="0"/>
          </a:p>
        </p:txBody>
      </p:sp>
      <p:sp>
        <p:nvSpPr>
          <p:cNvPr id="15388" name="FD_C_d2"/>
          <p:cNvSpPr/>
          <p:nvPr/>
        </p:nvSpPr>
        <p:spPr>
          <a:xfrm>
            <a:off x="8382000" y="4338828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Rod float predicted from falling water cut, late in the cycle</a:t>
            </a:r>
            <a:endParaRPr lang="en-IN" sz="950" dirty="0"/>
          </a:p>
        </p:txBody>
      </p:sp>
      <p:sp>
        <p:nvSpPr>
          <p:cNvPr id="15389" name="FD_C_d3"/>
          <p:cNvSpPr/>
          <p:nvPr/>
        </p:nvSpPr>
        <p:spPr>
          <a:xfrm>
            <a:off x="8382000" y="4617720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Computed dynamometer card + a measured-card checker</a:t>
            </a:r>
            <a:endParaRPr lang="en-IN" sz="950" dirty="0"/>
          </a:p>
        </p:txBody>
      </p:sp>
      <p:sp>
        <p:nvSpPr>
          <p:cNvPr id="15390" name="FD_C_d4"/>
          <p:cNvSpPr/>
          <p:nvPr/>
        </p:nvSpPr>
        <p:spPr>
          <a:xfrm>
            <a:off x="8382000" y="4896612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Self-audited: 3 physics bugs found and fixed before judging</a:t>
            </a:r>
            <a:endParaRPr lang="en-IN" sz="950" dirty="0"/>
          </a:p>
        </p:txBody>
      </p:sp>
      <p:sp>
        <p:nvSpPr>
          <p:cNvPr id="15391" name="FD_C_d5"/>
          <p:cNvSpPr/>
          <p:nvPr/>
        </p:nvSpPr>
        <p:spPr>
          <a:xfrm>
            <a:off x="8382000" y="5175504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Offline, English + Hindi, no licence cost — built for the field</a:t>
            </a:r>
            <a:endParaRPr lang="en-IN" sz="950" dirty="0"/>
          </a:p>
        </p:txBody>
      </p:sp>
      <p:sp>
        <p:nvSpPr>
          <p:cNvPr id="15392" name="FD_K1"/>
          <p:cNvSpPr/>
          <p:nvPr/>
        </p:nvSpPr>
        <p:spPr>
          <a:xfrm>
            <a:off x="384048" y="5843016"/>
            <a:ext cx="3776472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5B3FA0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Live dashboard:</a:t>
            </a:r>
            <a:endParaRPr lang="en-IN" sz="10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https://  ________________</a:t>
            </a:r>
            <a:endParaRPr lang="en-IN" sz="1050" dirty="0"/>
          </a:p>
        </p:txBody>
      </p:sp>
      <p:sp>
        <p:nvSpPr>
          <p:cNvPr id="15393" name="FD_K2"/>
          <p:cNvSpPr/>
          <p:nvPr/>
        </p:nvSpPr>
        <p:spPr>
          <a:xfrm>
            <a:off x="4251960" y="5843016"/>
            <a:ext cx="3776472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5B3FA0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Demo video:</a:t>
            </a:r>
            <a:endParaRPr lang="en-IN" sz="10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https://  ________________</a:t>
            </a:r>
            <a:endParaRPr lang="en-IN" sz="1050" dirty="0"/>
          </a:p>
        </p:txBody>
      </p:sp>
      <p:sp>
        <p:nvSpPr>
          <p:cNvPr id="15394" name="FD_K3"/>
          <p:cNvSpPr/>
          <p:nvPr/>
        </p:nvSpPr>
        <p:spPr>
          <a:xfrm>
            <a:off x="8119872" y="5843016"/>
            <a:ext cx="3776472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5B3FA0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GitHub repository:</a:t>
            </a:r>
            <a:endParaRPr lang="en-IN" sz="10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https://  ________________</a:t>
            </a:r>
            <a:endParaRPr lang="en-IN" sz="1050" dirty="0"/>
          </a:p>
        </p:txBody>
      </p:sp>
      <p:pic>
        <p:nvPicPr>
          <p:cNvPr id="15395" name="FD_A_icon" descr="icon: ic_dashboard.svg frame + ic_pumpjack.svg (composed)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9468" y="2734056"/>
            <a:ext cx="585216" cy="585216"/>
          </a:xfrm>
          <a:prstGeom prst="rect">
            <a:avLst/>
          </a:prstGeom>
        </p:spPr>
      </p:pic>
      <p:pic>
        <p:nvPicPr>
          <p:cNvPr id="15396" name="FD_B_icon" descr="icon: ic_team.svg centre figure + hard hat (compose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7588" y="2734056"/>
            <a:ext cx="585216" cy="585216"/>
          </a:xfrm>
          <a:prstGeom prst="rect">
            <a:avLst/>
          </a:prstGeom>
        </p:spPr>
      </p:pic>
      <p:pic>
        <p:nvPicPr>
          <p:cNvPr id="15397" name="FD_C_icon" descr="icon: magnifier + ic_neural-net.svg (composed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5708" y="2734056"/>
            <a:ext cx="585216" cy="585216"/>
          </a:xfrm>
          <a:prstGeom prst="rect">
            <a:avLst/>
          </a:prstGeom>
        </p:spPr>
      </p:pic>
      <p:pic>
        <p:nvPicPr>
          <p:cNvPr id="15398" name="FD_K1_icon" descr="icon: ic_dashboard.sv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5879592"/>
            <a:ext cx="329184" cy="329184"/>
          </a:xfrm>
          <a:prstGeom prst="rect">
            <a:avLst/>
          </a:prstGeom>
        </p:spPr>
      </p:pic>
      <p:pic>
        <p:nvPicPr>
          <p:cNvPr id="15399" name="FD_K2_icon" descr="icon: ic_sensor.sv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25112" y="5879592"/>
            <a:ext cx="329184" cy="329184"/>
          </a:xfrm>
          <a:prstGeom prst="rect">
            <a:avLst/>
          </a:prstGeom>
        </p:spPr>
      </p:pic>
      <p:pic>
        <p:nvPicPr>
          <p:cNvPr id="15400" name="FD_K3_icon" descr="icon: ic_ai-chip.sv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3024" y="5879592"/>
            <a:ext cx="32918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133856"/>
            <a:ext cx="11247120" cy="7680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201168" indent="-201168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Technologies to be used: Python 3.13 · NumPy / SciPy · pandas · scikit-learn · XGBoost · scikit-optimize · FastAPI · Plotly · pytest</a:t>
            </a:r>
          </a:p>
          <a:p>
            <a:pPr marL="201168" indent="-201168">
              <a:buFont typeface="Arial" panose="020B0604020202020204" pitchFamily="34" charset="0"/>
              <a:buChar char="•"/>
            </a:pPr>
            <a:r>
              <a:rPr lang="en-IN" sz="140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Methodology and process for implementation: physics engine → 3,000 synthetic cycles → ML emulator → true-physics grid optimiser → dashboard → advisory set-points + operating rule to the operator (SCADA hook planned)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TF_S1"/>
          <p:cNvSpPr/>
          <p:nvPr/>
        </p:nvSpPr>
        <p:spPr>
          <a:xfrm>
            <a:off x="292608" y="2011680"/>
            <a:ext cx="2017166" cy="2720340"/>
          </a:xfrm>
          <a:prstGeom prst="roundRect">
            <a:avLst>
              <a:gd name="adj" fmla="val 5439"/>
            </a:avLst>
          </a:prstGeom>
          <a:solidFill>
            <a:srgbClr val="F6F8FC"/>
          </a:solidFill>
          <a:ln w="19050">
            <a:solidFill>
              <a:srgbClr val="1F497D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2" name="TF_S1_hdr"/>
          <p:cNvSpPr/>
          <p:nvPr/>
        </p:nvSpPr>
        <p:spPr>
          <a:xfrm>
            <a:off x="292608" y="2011680"/>
            <a:ext cx="2017166" cy="347472"/>
          </a:xfrm>
          <a:prstGeom prst="round2SameRect">
            <a:avLst>
              <a:gd name="adj1" fmla="val 31578"/>
              <a:gd name="adj2" fmla="val 0"/>
            </a:avLst>
          </a:prstGeom>
          <a:solidFill>
            <a:srgbClr val="1F497D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 · The well</a:t>
            </a:r>
            <a:endParaRPr lang="en-IN" sz="1500" dirty="0"/>
          </a:p>
        </p:txBody>
      </p:sp>
      <p:sp>
        <p:nvSpPr>
          <p:cNvPr id="17413" name="TF_S2"/>
          <p:cNvSpPr/>
          <p:nvPr/>
        </p:nvSpPr>
        <p:spPr>
          <a:xfrm>
            <a:off x="2712110" y="2011680"/>
            <a:ext cx="2017166" cy="2720340"/>
          </a:xfrm>
          <a:prstGeom prst="roundRect">
            <a:avLst>
              <a:gd name="adj" fmla="val 5439"/>
            </a:avLst>
          </a:prstGeom>
          <a:solidFill>
            <a:srgbClr val="FEF8F3"/>
          </a:solidFill>
          <a:ln w="19050">
            <a:solidFill>
              <a:srgbClr val="C55A11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4" name="TF_S2_hdr"/>
          <p:cNvSpPr/>
          <p:nvPr/>
        </p:nvSpPr>
        <p:spPr>
          <a:xfrm>
            <a:off x="2712110" y="2011680"/>
            <a:ext cx="2017166" cy="347472"/>
          </a:xfrm>
          <a:prstGeom prst="round2SameRect">
            <a:avLst>
              <a:gd name="adj1" fmla="val 31578"/>
              <a:gd name="adj2" fmla="val 0"/>
            </a:avLst>
          </a:prstGeom>
          <a:solidFill>
            <a:srgbClr val="C55A11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 · Digital twin</a:t>
            </a:r>
            <a:endParaRPr lang="en-IN" sz="1500" dirty="0"/>
          </a:p>
        </p:txBody>
      </p:sp>
      <p:sp>
        <p:nvSpPr>
          <p:cNvPr id="17415" name="TF_S3"/>
          <p:cNvSpPr/>
          <p:nvPr/>
        </p:nvSpPr>
        <p:spPr>
          <a:xfrm>
            <a:off x="5131613" y="2011680"/>
            <a:ext cx="2017166" cy="2720340"/>
          </a:xfrm>
          <a:prstGeom prst="roundRect">
            <a:avLst>
              <a:gd name="adj" fmla="val 5439"/>
            </a:avLst>
          </a:prstGeom>
          <a:solidFill>
            <a:srgbClr val="F6FBF6"/>
          </a:solidFill>
          <a:ln w="19050">
            <a:solidFill>
              <a:srgbClr val="2E7D32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6" name="TF_S3_hdr"/>
          <p:cNvSpPr/>
          <p:nvPr/>
        </p:nvSpPr>
        <p:spPr>
          <a:xfrm>
            <a:off x="5131613" y="2011680"/>
            <a:ext cx="2017166" cy="347472"/>
          </a:xfrm>
          <a:prstGeom prst="round2SameRect">
            <a:avLst>
              <a:gd name="adj1" fmla="val 31578"/>
              <a:gd name="adj2" fmla="val 0"/>
            </a:avLst>
          </a:prstGeom>
          <a:solidFill>
            <a:srgbClr val="2E7D32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 · Smart search</a:t>
            </a:r>
            <a:endParaRPr lang="en-IN" sz="1500" dirty="0"/>
          </a:p>
        </p:txBody>
      </p:sp>
      <p:sp>
        <p:nvSpPr>
          <p:cNvPr id="17417" name="TF_S4"/>
          <p:cNvSpPr/>
          <p:nvPr/>
        </p:nvSpPr>
        <p:spPr>
          <a:xfrm>
            <a:off x="7551115" y="2011680"/>
            <a:ext cx="2017166" cy="2720340"/>
          </a:xfrm>
          <a:prstGeom prst="roundRect">
            <a:avLst>
              <a:gd name="adj" fmla="val 5439"/>
            </a:avLst>
          </a:prstGeom>
          <a:solidFill>
            <a:srgbClr val="F9F7FD"/>
          </a:solidFill>
          <a:ln w="19050">
            <a:solidFill>
              <a:srgbClr val="5B3FA0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8" name="TF_S4_hdr"/>
          <p:cNvSpPr/>
          <p:nvPr/>
        </p:nvSpPr>
        <p:spPr>
          <a:xfrm>
            <a:off x="7551115" y="2011680"/>
            <a:ext cx="2017166" cy="347472"/>
          </a:xfrm>
          <a:prstGeom prst="round2SameRect">
            <a:avLst>
              <a:gd name="adj1" fmla="val 31578"/>
              <a:gd name="adj2" fmla="val 0"/>
            </a:avLst>
          </a:prstGeom>
          <a:solidFill>
            <a:srgbClr val="5B3FA0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 · Dashboard</a:t>
            </a:r>
            <a:endParaRPr lang="en-IN" sz="1500" dirty="0"/>
          </a:p>
        </p:txBody>
      </p:sp>
      <p:sp>
        <p:nvSpPr>
          <p:cNvPr id="17419" name="TF_S5"/>
          <p:cNvSpPr/>
          <p:nvPr/>
        </p:nvSpPr>
        <p:spPr>
          <a:xfrm>
            <a:off x="9970618" y="2011680"/>
            <a:ext cx="2017166" cy="2720340"/>
          </a:xfrm>
          <a:prstGeom prst="roundRect">
            <a:avLst>
              <a:gd name="adj" fmla="val 5439"/>
            </a:avLst>
          </a:prstGeom>
          <a:solidFill>
            <a:srgbClr val="F6F8FC"/>
          </a:solidFill>
          <a:ln w="19050">
            <a:solidFill>
              <a:srgbClr val="1F497D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20" name="TF_S5_hdr"/>
          <p:cNvSpPr/>
          <p:nvPr/>
        </p:nvSpPr>
        <p:spPr>
          <a:xfrm>
            <a:off x="9970618" y="2011680"/>
            <a:ext cx="2017166" cy="347472"/>
          </a:xfrm>
          <a:prstGeom prst="round2SameRect">
            <a:avLst>
              <a:gd name="adj1" fmla="val 31578"/>
              <a:gd name="adj2" fmla="val 0"/>
            </a:avLst>
          </a:prstGeom>
          <a:solidFill>
            <a:srgbClr val="1F497D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5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 · Operator</a:t>
            </a:r>
            <a:endParaRPr lang="en-IN" sz="1500" dirty="0"/>
          </a:p>
        </p:txBody>
      </p:sp>
      <p:sp>
        <p:nvSpPr>
          <p:cNvPr id="17421" name="TF_G"/>
          <p:cNvSpPr/>
          <p:nvPr/>
        </p:nvSpPr>
        <p:spPr>
          <a:xfrm>
            <a:off x="292608" y="5216652"/>
            <a:ext cx="6620256" cy="804672"/>
          </a:xfrm>
          <a:prstGeom prst="roundRect">
            <a:avLst>
              <a:gd name="adj" fmla="val 11363"/>
            </a:avLst>
          </a:prstGeom>
          <a:solidFill>
            <a:srgbClr val="F6F8FC"/>
          </a:solidFill>
          <a:ln w="15875">
            <a:solidFill>
              <a:srgbClr val="1F497D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22" name="TF_G_hdr"/>
          <p:cNvSpPr/>
          <p:nvPr/>
        </p:nvSpPr>
        <p:spPr>
          <a:xfrm>
            <a:off x="292608" y="5216652"/>
            <a:ext cx="6620256" cy="246888"/>
          </a:xfrm>
          <a:prstGeom prst="round2SameRect">
            <a:avLst>
              <a:gd name="adj1" fmla="val 37037"/>
              <a:gd name="adj2" fmla="val 0"/>
            </a:avLst>
          </a:prstGeom>
          <a:solidFill>
            <a:srgbClr val="1F497D"/>
          </a:solidFill>
          <a:ln>
            <a:noFill/>
          </a:ln>
        </p:spPr>
        <p:txBody>
          <a:bodyPr rtlCol="0" anchor="ctr" wrap="square" lIns="109728" tIns="0" rIns="54864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the operator gets</a:t>
            </a:r>
            <a:endParaRPr lang="en-IN" sz="1200" dirty="0"/>
          </a:p>
        </p:txBody>
      </p:sp>
      <p:sp>
        <p:nvSpPr>
          <p:cNvPr id="17423" name="TF_L"/>
          <p:cNvSpPr/>
          <p:nvPr/>
        </p:nvSpPr>
        <p:spPr>
          <a:xfrm>
            <a:off x="7278624" y="5216652"/>
            <a:ext cx="4709160" cy="804672"/>
          </a:xfrm>
          <a:prstGeom prst="roundRect">
            <a:avLst>
              <a:gd name="adj" fmla="val 11363"/>
            </a:avLst>
          </a:prstGeom>
          <a:solidFill>
            <a:srgbClr val="F6FBF6"/>
          </a:solidFill>
          <a:ln w="15875">
            <a:solidFill>
              <a:srgbClr val="2E7D32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24" name="TF_L_hdr"/>
          <p:cNvSpPr/>
          <p:nvPr/>
        </p:nvSpPr>
        <p:spPr>
          <a:xfrm>
            <a:off x="7278624" y="5216652"/>
            <a:ext cx="4709160" cy="246888"/>
          </a:xfrm>
          <a:prstGeom prst="round2SameRect">
            <a:avLst>
              <a:gd name="adj1" fmla="val 37037"/>
              <a:gd name="adj2" fmla="val 0"/>
            </a:avLst>
          </a:prstGeom>
          <a:solidFill>
            <a:srgbClr val="2E7D32"/>
          </a:solidFill>
          <a:ln>
            <a:noFill/>
          </a:ln>
        </p:spPr>
        <p:txBody>
          <a:bodyPr rtlCol="0" anchor="ctr" wrap="square" lIns="109728" tIns="0" rIns="54864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it leads to</a:t>
            </a:r>
            <a:endParaRPr lang="en-IN" sz="1200" dirty="0"/>
          </a:p>
        </p:txBody>
      </p:sp>
      <p:sp>
        <p:nvSpPr>
          <p:cNvPr id="17425" name="TF_S1_disc"/>
          <p:cNvSpPr/>
          <p:nvPr/>
        </p:nvSpPr>
        <p:spPr>
          <a:xfrm>
            <a:off x="871423" y="2414016"/>
            <a:ext cx="859536" cy="8595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497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6" name="TF_S2_disc"/>
          <p:cNvSpPr/>
          <p:nvPr/>
        </p:nvSpPr>
        <p:spPr>
          <a:xfrm>
            <a:off x="3290926" y="2414016"/>
            <a:ext cx="859536" cy="8595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55A1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7" name="TF_S3_disc"/>
          <p:cNvSpPr/>
          <p:nvPr/>
        </p:nvSpPr>
        <p:spPr>
          <a:xfrm>
            <a:off x="5710428" y="2414016"/>
            <a:ext cx="859536" cy="8595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8" name="TF_S4_disc"/>
          <p:cNvSpPr/>
          <p:nvPr/>
        </p:nvSpPr>
        <p:spPr>
          <a:xfrm>
            <a:off x="8129930" y="2414016"/>
            <a:ext cx="859536" cy="8595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3FA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9" name="TF_S5_disc"/>
          <p:cNvSpPr/>
          <p:nvPr/>
        </p:nvSpPr>
        <p:spPr>
          <a:xfrm>
            <a:off x="10549433" y="2414016"/>
            <a:ext cx="859536" cy="8595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497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430" name="TF_arrow00_S1_S2"/>
          <p:cNvCxnSpPr/>
          <p:nvPr/>
        </p:nvCxnSpPr>
        <p:spPr>
          <a:xfrm>
            <a:off x="2355494" y="2843784"/>
            <a:ext cx="310896" cy="0"/>
          </a:xfrm>
          <a:prstGeom prst="line">
            <a:avLst/>
          </a:prstGeom>
          <a:ln w="50800">
            <a:solidFill>
              <a:srgbClr val="595959"/>
            </a:solidFill>
            <a:round/>
            <a:tailEnd type="triangle" w="med" len="med"/>
          </a:ln>
        </p:spPr>
      </p:cxnSp>
      <p:cxnSp>
        <p:nvCxnSpPr>
          <p:cNvPr id="17431" name="TF_arrow01_S2_S3"/>
          <p:cNvCxnSpPr/>
          <p:nvPr/>
        </p:nvCxnSpPr>
        <p:spPr>
          <a:xfrm>
            <a:off x="4774997" y="2843784"/>
            <a:ext cx="310896" cy="0"/>
          </a:xfrm>
          <a:prstGeom prst="line">
            <a:avLst/>
          </a:prstGeom>
          <a:ln w="50800">
            <a:solidFill>
              <a:srgbClr val="595959"/>
            </a:solidFill>
            <a:round/>
            <a:tailEnd type="triangle" w="med" len="med"/>
          </a:ln>
        </p:spPr>
      </p:cxnSp>
      <p:cxnSp>
        <p:nvCxnSpPr>
          <p:cNvPr id="17432" name="TF_arrow02_S3_S4"/>
          <p:cNvCxnSpPr/>
          <p:nvPr/>
        </p:nvCxnSpPr>
        <p:spPr>
          <a:xfrm>
            <a:off x="7194499" y="2843784"/>
            <a:ext cx="310896" cy="0"/>
          </a:xfrm>
          <a:prstGeom prst="line">
            <a:avLst/>
          </a:prstGeom>
          <a:ln w="50800">
            <a:solidFill>
              <a:srgbClr val="595959"/>
            </a:solidFill>
            <a:round/>
            <a:tailEnd type="triangle" w="med" len="med"/>
          </a:ln>
        </p:spPr>
      </p:cxnSp>
      <p:cxnSp>
        <p:nvCxnSpPr>
          <p:cNvPr id="17433" name="TF_arrow03_S4_S5"/>
          <p:cNvCxnSpPr/>
          <p:nvPr/>
        </p:nvCxnSpPr>
        <p:spPr>
          <a:xfrm>
            <a:off x="9614002" y="2843784"/>
            <a:ext cx="310896" cy="0"/>
          </a:xfrm>
          <a:prstGeom prst="line">
            <a:avLst/>
          </a:prstGeom>
          <a:ln w="50800">
            <a:solidFill>
              <a:srgbClr val="595959"/>
            </a:solidFill>
            <a:round/>
            <a:tailEnd type="triangle" w="med" len="med"/>
          </a:ln>
        </p:spPr>
      </p:cxnSp>
      <p:sp>
        <p:nvSpPr>
          <p:cNvPr id="2" name="TF_loop04_S5_S2"/>
          <p:cNvSpPr/>
          <p:nvPr/>
        </p:nvSpPr>
        <p:spPr>
          <a:xfrm>
            <a:off x="3720694" y="4732020"/>
            <a:ext cx="7258507" cy="182880"/>
          </a:xfrm>
          <a:custGeom>
            <a:avLst/>
            <a:gdLst/>
            <a:ahLst/>
            <a:cxnLst/>
            <a:rect l="l" t="t" r="r" b="b"/>
            <a:pathLst>
              <a:path w="7258507" h="182880">
                <a:moveTo>
                  <a:pt x="7258507" y="0"/>
                </a:moveTo>
                <a:lnTo>
                  <a:pt x="7258507" y="182880"/>
                </a:lnTo>
                <a:lnTo>
                  <a:pt x="0" y="182880"/>
                </a:lnTo>
                <a:lnTo>
                  <a:pt x="0" y="0"/>
                </a:lnTo>
              </a:path>
            </a:pathLst>
          </a:custGeom>
          <a:noFill/>
          <a:ln w="28575">
            <a:solidFill>
              <a:srgbClr val="404040"/>
            </a:solidFill>
            <a:prstDash val="dash"/>
            <a:round/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17434" name="TF_arrow05_G_L"/>
          <p:cNvCxnSpPr/>
          <p:nvPr/>
        </p:nvCxnSpPr>
        <p:spPr>
          <a:xfrm>
            <a:off x="6958584" y="5737860"/>
            <a:ext cx="274320" cy="0"/>
          </a:xfrm>
          <a:prstGeom prst="line">
            <a:avLst/>
          </a:prstGeom>
          <a:ln w="50800">
            <a:solidFill>
              <a:srgbClr val="595959"/>
            </a:solidFill>
            <a:round/>
            <a:tailEnd type="triangle" w="med" len="med"/>
          </a:ln>
        </p:spPr>
      </p:cxnSp>
      <p:sp>
        <p:nvSpPr>
          <p:cNvPr id="17435" name="TF_S1_txt"/>
          <p:cNvSpPr txBox="1"/>
          <p:nvPr/>
        </p:nvSpPr>
        <p:spPr>
          <a:xfrm>
            <a:off x="365760" y="3319272"/>
            <a:ext cx="1870862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Oil India's heavy-oil well: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steam goes in,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oil comes out.</a:t>
            </a:r>
            <a:endParaRPr lang="en-IN" sz="1200" dirty="0"/>
          </a:p>
        </p:txBody>
      </p:sp>
      <p:sp>
        <p:nvSpPr>
          <p:cNvPr id="17436" name="TF_S1_d1"/>
          <p:cNvSpPr/>
          <p:nvPr/>
        </p:nvSpPr>
        <p:spPr>
          <a:xfrm>
            <a:off x="356616" y="3931920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Baghewala: 1,150 m, 11,500 cP</a:t>
            </a:r>
            <a:endParaRPr lang="en-IN" sz="950" dirty="0"/>
          </a:p>
        </p:txBody>
      </p:sp>
      <p:sp>
        <p:nvSpPr>
          <p:cNvPr id="17437" name="TF_S1_d2"/>
          <p:cNvSpPr/>
          <p:nvPr/>
        </p:nvSpPr>
        <p:spPr>
          <a:xfrm>
            <a:off x="356616" y="4192524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Oil India cycle records (CSV)</a:t>
            </a:r>
            <a:endParaRPr lang="en-IN" sz="950" dirty="0"/>
          </a:p>
        </p:txBody>
      </p:sp>
      <p:sp>
        <p:nvSpPr>
          <p:cNvPr id="17438" name="TF_S1_d3"/>
          <p:cNvSpPr/>
          <p:nvPr/>
        </p:nvSpPr>
        <p:spPr>
          <a:xfrm>
            <a:off x="356616" y="4453128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Band check vs California data</a:t>
            </a:r>
            <a:endParaRPr lang="en-IN" sz="950" dirty="0"/>
          </a:p>
        </p:txBody>
      </p:sp>
      <p:sp>
        <p:nvSpPr>
          <p:cNvPr id="17439" name="TF_S2_txt"/>
          <p:cNvSpPr txBox="1"/>
          <p:nvPr/>
        </p:nvSpPr>
        <p:spPr>
          <a:xfrm>
            <a:off x="2785262" y="3319272"/>
            <a:ext cx="1870862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 computer copy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of the well —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heat, thick oil, the pump.</a:t>
            </a:r>
            <a:endParaRPr lang="en-IN" sz="1200" dirty="0"/>
          </a:p>
        </p:txBody>
      </p:sp>
      <p:sp>
        <p:nvSpPr>
          <p:cNvPr id="17440" name="TF_S2_d1"/>
          <p:cNvSpPr/>
          <p:nvPr/>
        </p:nvSpPr>
        <p:spPr>
          <a:xfrm>
            <a:off x="2776118" y="3931920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FCEEE4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Heat flow (Marx–Langenheim)</a:t>
            </a:r>
            <a:endParaRPr lang="en-IN" sz="950" dirty="0"/>
          </a:p>
        </p:txBody>
      </p:sp>
      <p:sp>
        <p:nvSpPr>
          <p:cNvPr id="17441" name="TF_S2_d2"/>
          <p:cNvSpPr/>
          <p:nvPr/>
        </p:nvSpPr>
        <p:spPr>
          <a:xfrm>
            <a:off x="2776118" y="4192524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FCEEE4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Thick oil: less flow + stuck rods</a:t>
            </a:r>
            <a:endParaRPr lang="en-IN" sz="950" dirty="0"/>
          </a:p>
        </p:txBody>
      </p:sp>
      <p:sp>
        <p:nvSpPr>
          <p:cNvPr id="17442" name="TF_S2_d3"/>
          <p:cNvSpPr/>
          <p:nvPr/>
        </p:nvSpPr>
        <p:spPr>
          <a:xfrm>
            <a:off x="2776118" y="4453128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FCEEE4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Pump loads, rod-float risk</a:t>
            </a:r>
            <a:endParaRPr lang="en-IN" sz="950" dirty="0"/>
          </a:p>
        </p:txBody>
      </p:sp>
      <p:sp>
        <p:nvSpPr>
          <p:cNvPr id="17443" name="TF_S3_txt"/>
          <p:cNvSpPr txBox="1"/>
          <p:nvPr/>
        </p:nvSpPr>
        <p:spPr>
          <a:xfrm>
            <a:off x="5204765" y="3319272"/>
            <a:ext cx="1870862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Tries 13,000 plans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in about 3 minutes,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keeps the safe ones.</a:t>
            </a:r>
            <a:endParaRPr lang="en-IN" sz="1200" dirty="0"/>
          </a:p>
        </p:txBody>
      </p:sp>
      <p:sp>
        <p:nvSpPr>
          <p:cNvPr id="17444" name="TF_S3_d1"/>
          <p:cNvSpPr/>
          <p:nvPr/>
        </p:nvSpPr>
        <p:spPr>
          <a:xfrm>
            <a:off x="5195621" y="3931920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8F3E9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Physics grid: 12,936 plans</a:t>
            </a:r>
            <a:endParaRPr lang="en-IN" sz="950" dirty="0"/>
          </a:p>
        </p:txBody>
      </p:sp>
      <p:sp>
        <p:nvSpPr>
          <p:cNvPr id="17445" name="TF_S3_d2"/>
          <p:cNvSpPr/>
          <p:nvPr/>
        </p:nvSpPr>
        <p:spPr>
          <a:xfrm>
            <a:off x="5195621" y="4192524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8F3E9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Fast what-if model (XGBoost)</a:t>
            </a:r>
            <a:endParaRPr lang="en-IN" sz="950" dirty="0"/>
          </a:p>
        </p:txBody>
      </p:sp>
      <p:sp>
        <p:nvSpPr>
          <p:cNvPr id="17446" name="TF_S3_d3"/>
          <p:cNvSpPr/>
          <p:nvPr/>
        </p:nvSpPr>
        <p:spPr>
          <a:xfrm>
            <a:off x="5195621" y="4453128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8F3E9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Best / worst case (1,500 runs)</a:t>
            </a:r>
            <a:endParaRPr lang="en-IN" sz="950" dirty="0"/>
          </a:p>
        </p:txBody>
      </p:sp>
      <p:sp>
        <p:nvSpPr>
          <p:cNvPr id="17447" name="TF_S4_txt"/>
          <p:cNvSpPr txBox="1"/>
          <p:nvPr/>
        </p:nvSpPr>
        <p:spPr>
          <a:xfrm>
            <a:off x="7624267" y="3319272"/>
            <a:ext cx="1870862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Shows the best plan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in plain words,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English and Hindi.</a:t>
            </a:r>
            <a:endParaRPr lang="en-IN" sz="1200" dirty="0"/>
          </a:p>
        </p:txBody>
      </p:sp>
      <p:sp>
        <p:nvSpPr>
          <p:cNvPr id="17448" name="TF_S4_d1"/>
          <p:cNvSpPr/>
          <p:nvPr/>
        </p:nvSpPr>
        <p:spPr>
          <a:xfrm>
            <a:off x="7615123" y="3931920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EEAF7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4 pages, works offline</a:t>
            </a:r>
            <a:endParaRPr lang="en-IN" sz="950" dirty="0"/>
          </a:p>
        </p:txBody>
      </p:sp>
      <p:sp>
        <p:nvSpPr>
          <p:cNvPr id="17449" name="TF_S4_d2"/>
          <p:cNvSpPr/>
          <p:nvPr/>
        </p:nvSpPr>
        <p:spPr>
          <a:xfrm>
            <a:off x="7615123" y="4192524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EEAF7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Computed pump card (dyno)</a:t>
            </a:r>
            <a:endParaRPr lang="en-IN" sz="950" dirty="0"/>
          </a:p>
        </p:txBody>
      </p:sp>
      <p:sp>
        <p:nvSpPr>
          <p:cNvPr id="17450" name="TF_S4_d3"/>
          <p:cNvSpPr/>
          <p:nvPr/>
        </p:nvSpPr>
        <p:spPr>
          <a:xfrm>
            <a:off x="7615123" y="4453128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EEAF7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Upload records → twin re-fits</a:t>
            </a:r>
            <a:endParaRPr lang="en-IN" sz="950" dirty="0"/>
          </a:p>
        </p:txBody>
      </p:sp>
      <p:sp>
        <p:nvSpPr>
          <p:cNvPr id="17451" name="TF_S5_txt"/>
          <p:cNvSpPr txBox="1"/>
          <p:nvPr/>
        </p:nvSpPr>
        <p:spPr>
          <a:xfrm>
            <a:off x="10043770" y="3319272"/>
            <a:ext cx="1870862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Decides.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Nothing is sent</a:t>
            </a:r>
            <a:endParaRPr lang="en-IN" sz="120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to the well automatically.</a:t>
            </a:r>
            <a:endParaRPr lang="en-IN" sz="1200" dirty="0"/>
          </a:p>
        </p:txBody>
      </p:sp>
      <p:sp>
        <p:nvSpPr>
          <p:cNvPr id="17452" name="TF_S5_d1"/>
          <p:cNvSpPr/>
          <p:nvPr/>
        </p:nvSpPr>
        <p:spPr>
          <a:xfrm>
            <a:off x="10034626" y="3931920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5 settings + an operating rule</a:t>
            </a:r>
            <a:endParaRPr lang="en-IN" sz="950" dirty="0"/>
          </a:p>
        </p:txBody>
      </p:sp>
      <p:sp>
        <p:nvSpPr>
          <p:cNvPr id="17453" name="TF_S5_d2"/>
          <p:cNvSpPr/>
          <p:nvPr/>
        </p:nvSpPr>
        <p:spPr>
          <a:xfrm>
            <a:off x="10034626" y="4192524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Review, confirm, then load</a:t>
            </a:r>
            <a:endParaRPr lang="en-IN" sz="950" dirty="0"/>
          </a:p>
        </p:txBody>
      </p:sp>
      <p:sp>
        <p:nvSpPr>
          <p:cNvPr id="17454" name="TF_S5_d3"/>
          <p:cNvSpPr/>
          <p:nvPr/>
        </p:nvSpPr>
        <p:spPr>
          <a:xfrm>
            <a:off x="10034626" y="4453128"/>
            <a:ext cx="1889150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Field view: which well next</a:t>
            </a:r>
            <a:endParaRPr lang="en-IN" sz="950" dirty="0"/>
          </a:p>
        </p:txBody>
      </p:sp>
      <p:sp>
        <p:nvSpPr>
          <p:cNvPr id="17455" name="TF_loop_txt"/>
          <p:cNvSpPr txBox="1"/>
          <p:nvPr/>
        </p:nvSpPr>
        <p:spPr>
          <a:xfrm>
            <a:off x="5612587" y="4960620"/>
            <a:ext cx="3840480" cy="201168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rPr>
              <a:t>Real cycle records come back → the twin re-learns</a:t>
            </a:r>
            <a:endParaRPr lang="en-IN" sz="1100" dirty="0"/>
          </a:p>
        </p:txBody>
      </p:sp>
      <p:sp>
        <p:nvSpPr>
          <p:cNvPr id="17456" name="TF_G1"/>
          <p:cNvSpPr/>
          <p:nvPr/>
        </p:nvSpPr>
        <p:spPr>
          <a:xfrm>
            <a:off x="384048" y="5509260"/>
            <a:ext cx="208483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97D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How much steam</a:t>
            </a:r>
            <a:endParaRPr lang="en-IN" sz="11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&amp; pressure</a:t>
            </a:r>
            <a:endParaRPr lang="en-IN" sz="1100" dirty="0"/>
          </a:p>
        </p:txBody>
      </p:sp>
      <p:sp>
        <p:nvSpPr>
          <p:cNvPr id="17457" name="TF_G2"/>
          <p:cNvSpPr/>
          <p:nvPr/>
        </p:nvSpPr>
        <p:spPr>
          <a:xfrm>
            <a:off x="2560320" y="5509260"/>
            <a:ext cx="208483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97D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Pump speed</a:t>
            </a:r>
            <a:endParaRPr lang="en-IN" sz="11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&amp; stroke</a:t>
            </a:r>
            <a:endParaRPr lang="en-IN" sz="1100" dirty="0"/>
          </a:p>
        </p:txBody>
      </p:sp>
      <p:sp>
        <p:nvSpPr>
          <p:cNvPr id="17458" name="TF_G3"/>
          <p:cNvSpPr/>
          <p:nvPr/>
        </p:nvSpPr>
        <p:spPr>
          <a:xfrm>
            <a:off x="4736592" y="5509260"/>
            <a:ext cx="2084832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1F497D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Slow, then stop,</a:t>
            </a:r>
            <a:endParaRPr lang="en-IN" sz="11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before the rods jam</a:t>
            </a:r>
            <a:endParaRPr lang="en-IN" sz="1100" dirty="0"/>
          </a:p>
        </p:txBody>
      </p:sp>
      <p:sp>
        <p:nvSpPr>
          <p:cNvPr id="17459" name="TF_L1"/>
          <p:cNvSpPr/>
          <p:nvPr/>
        </p:nvSpPr>
        <p:spPr>
          <a:xfrm>
            <a:off x="7370064" y="5509260"/>
            <a:ext cx="1447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E7D32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Less diesel</a:t>
            </a:r>
            <a:endParaRPr lang="en-IN" sz="11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per barrel</a:t>
            </a:r>
            <a:endParaRPr lang="en-IN" sz="1100" dirty="0"/>
          </a:p>
        </p:txBody>
      </p:sp>
      <p:sp>
        <p:nvSpPr>
          <p:cNvPr id="17460" name="TF_L2"/>
          <p:cNvSpPr/>
          <p:nvPr/>
        </p:nvSpPr>
        <p:spPr>
          <a:xfrm>
            <a:off x="8909304" y="5509260"/>
            <a:ext cx="1447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E7D32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 stop rule</a:t>
            </a:r>
            <a:endParaRPr lang="en-IN" sz="11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for the rods</a:t>
            </a:r>
            <a:endParaRPr lang="en-IN" sz="1100" dirty="0"/>
          </a:p>
        </p:txBody>
      </p:sp>
      <p:sp>
        <p:nvSpPr>
          <p:cNvPr id="17461" name="TF_L3"/>
          <p:cNvSpPr/>
          <p:nvPr/>
        </p:nvSpPr>
        <p:spPr>
          <a:xfrm>
            <a:off x="10448544" y="5509260"/>
            <a:ext cx="144780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E7D32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Every plan</a:t>
            </a:r>
            <a:endParaRPr lang="en-IN" sz="110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with a range</a:t>
            </a:r>
            <a:endParaRPr lang="en-IN" sz="1100" dirty="0"/>
          </a:p>
        </p:txBody>
      </p:sp>
      <p:sp>
        <p:nvSpPr>
          <p:cNvPr id="17462" name="TF_trust"/>
          <p:cNvSpPr txBox="1"/>
          <p:nvPr/>
        </p:nvSpPr>
        <p:spPr>
          <a:xfrm>
            <a:off x="5404104" y="6076188"/>
            <a:ext cx="6583680" cy="201168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00" dirty="0" i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Built on published physics · benchmarked against a California steam-ratio band · 263 automated tests</a:t>
            </a:r>
            <a:endParaRPr lang="en-IN" sz="1100" dirty="0"/>
          </a:p>
        </p:txBody>
      </p:sp>
      <p:pic>
        <p:nvPicPr>
          <p:cNvPr id="17463" name="TF_S1_icon" descr="icon: ic_pumpjack.sv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575" y="2487168"/>
            <a:ext cx="713232" cy="713232"/>
          </a:xfrm>
          <a:prstGeom prst="rect">
            <a:avLst/>
          </a:prstGeom>
        </p:spPr>
      </p:pic>
      <p:pic>
        <p:nvPicPr>
          <p:cNvPr id="17464" name="TF_S2_icon" descr="icon: ic_dashboard.svg frame + ic_pumpjack.svg (composed)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4078" y="2487168"/>
            <a:ext cx="713232" cy="713232"/>
          </a:xfrm>
          <a:prstGeom prst="rect">
            <a:avLst/>
          </a:prstGeom>
        </p:spPr>
      </p:pic>
      <p:pic>
        <p:nvPicPr>
          <p:cNvPr id="17465" name="TF_S3_icon" descr="icon: magnifier + ic_neural-net.svg (composed)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3580" y="2487168"/>
            <a:ext cx="713232" cy="713232"/>
          </a:xfrm>
          <a:prstGeom prst="rect">
            <a:avLst/>
          </a:prstGeom>
        </p:spPr>
      </p:pic>
      <p:pic>
        <p:nvPicPr>
          <p:cNvPr id="17466" name="TF_S4_icon" descr="icon: ic_dashboard.sv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03082" y="2487168"/>
            <a:ext cx="713232" cy="713232"/>
          </a:xfrm>
          <a:prstGeom prst="rect">
            <a:avLst/>
          </a:prstGeom>
        </p:spPr>
      </p:pic>
      <p:pic>
        <p:nvPicPr>
          <p:cNvPr id="17467" name="TF_S5_icon" descr="icon: ic_team.svg centre figure + hard hat (composed)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622585" y="2487168"/>
            <a:ext cx="713232" cy="713232"/>
          </a:xfrm>
          <a:prstGeom prst="rect">
            <a:avLst/>
          </a:prstGeom>
        </p:spPr>
      </p:pic>
      <p:pic>
        <p:nvPicPr>
          <p:cNvPr id="17468" name="TF_loop_icon" descr="icon: ic_calendar-cycle.sv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1691" y="4942332"/>
            <a:ext cx="256032" cy="256032"/>
          </a:xfrm>
          <a:prstGeom prst="rect">
            <a:avLst/>
          </a:prstGeom>
        </p:spPr>
      </p:pic>
      <p:pic>
        <p:nvPicPr>
          <p:cNvPr id="17469" name="TF_G1_icon" descr="icon: ic_steam.sv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57200" y="5573268"/>
            <a:ext cx="329184" cy="329184"/>
          </a:xfrm>
          <a:prstGeom prst="rect">
            <a:avLst/>
          </a:prstGeom>
        </p:spPr>
      </p:pic>
      <p:pic>
        <p:nvPicPr>
          <p:cNvPr id="17470" name="TF_G2_icon" descr="icon: ic_pumpjack.sv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633472" y="5573268"/>
            <a:ext cx="329184" cy="329184"/>
          </a:xfrm>
          <a:prstGeom prst="rect">
            <a:avLst/>
          </a:prstGeom>
        </p:spPr>
      </p:pic>
      <p:pic>
        <p:nvPicPr>
          <p:cNvPr id="17471" name="TF_G3_icon" descr="icon: ic_alert-triangle.sv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809744" y="5573268"/>
            <a:ext cx="329184" cy="329184"/>
          </a:xfrm>
          <a:prstGeom prst="rect">
            <a:avLst/>
          </a:prstGeom>
        </p:spPr>
      </p:pic>
      <p:pic>
        <p:nvPicPr>
          <p:cNvPr id="17472" name="TF_L1_icon" descr="icon: ic_flame.sv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43216" y="5573268"/>
            <a:ext cx="329184" cy="329184"/>
          </a:xfrm>
          <a:prstGeom prst="rect">
            <a:avLst/>
          </a:prstGeom>
        </p:spPr>
      </p:pic>
      <p:pic>
        <p:nvPicPr>
          <p:cNvPr id="17473" name="TF_L2_icon" descr="icon: ic_shield-check.sv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982456" y="5573268"/>
            <a:ext cx="329184" cy="329184"/>
          </a:xfrm>
          <a:prstGeom prst="rect">
            <a:avLst/>
          </a:prstGeom>
        </p:spPr>
      </p:pic>
      <p:pic>
        <p:nvPicPr>
          <p:cNvPr id="17474" name="TF_L3_icon" descr="icon: ic_oil-drop.sv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521696" y="5573268"/>
            <a:ext cx="329184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170432"/>
            <a:ext cx="11247120" cy="43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0" indent="0">
              <a:buNone/>
            </a:pPr>
            <a:r>
              <a:rPr lang="en-IN" sz="13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Feasibility and viability — a working prototype, its known gaps, and how each gap closes with Oil India's data.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FD_A"/>
          <p:cNvSpPr/>
          <p:nvPr/>
        </p:nvSpPr>
        <p:spPr>
          <a:xfrm>
            <a:off x="292608" y="1755648"/>
            <a:ext cx="3678936" cy="3346704"/>
          </a:xfrm>
          <a:prstGeom prst="roundRect">
            <a:avLst>
              <a:gd name="adj" fmla="val 3278"/>
            </a:avLst>
          </a:prstGeom>
          <a:solidFill>
            <a:srgbClr val="F6FBF6"/>
          </a:solidFill>
          <a:ln w="19050">
            <a:solidFill>
              <a:srgbClr val="2E7D32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2" name="FD_A_hdr"/>
          <p:cNvSpPr/>
          <p:nvPr/>
        </p:nvSpPr>
        <p:spPr>
          <a:xfrm>
            <a:off x="292608" y="1755648"/>
            <a:ext cx="3678936" cy="530352"/>
          </a:xfrm>
          <a:prstGeom prst="round2SameRect">
            <a:avLst>
              <a:gd name="adj1" fmla="val 20689"/>
              <a:gd name="adj2" fmla="val 0"/>
            </a:avLst>
          </a:prstGeom>
          <a:solidFill>
            <a:srgbClr val="2E7D32"/>
          </a:solidFill>
          <a:ln>
            <a:noFill/>
          </a:ln>
        </p:spPr>
        <p:txBody>
          <a:bodyPr rtlCol="0" anchor="ctr" wrap="square" lIns="73152" tIns="0" rIns="73152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Analysis of the feasibility of the idea</a:t>
            </a:r>
            <a:endParaRPr lang="en-IN" sz="1300" dirty="0"/>
          </a:p>
        </p:txBody>
      </p:sp>
      <p:sp>
        <p:nvSpPr>
          <p:cNvPr id="17413" name="FD_B"/>
          <p:cNvSpPr/>
          <p:nvPr/>
        </p:nvSpPr>
        <p:spPr>
          <a:xfrm>
            <a:off x="4300728" y="1755648"/>
            <a:ext cx="3678936" cy="3346704"/>
          </a:xfrm>
          <a:prstGeom prst="roundRect">
            <a:avLst>
              <a:gd name="adj" fmla="val 3278"/>
            </a:avLst>
          </a:prstGeom>
          <a:solidFill>
            <a:srgbClr val="FEF8F3"/>
          </a:solidFill>
          <a:ln w="19050">
            <a:solidFill>
              <a:srgbClr val="C55A11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4" name="FD_B_hdr"/>
          <p:cNvSpPr/>
          <p:nvPr/>
        </p:nvSpPr>
        <p:spPr>
          <a:xfrm>
            <a:off x="4300728" y="1755648"/>
            <a:ext cx="3678936" cy="530352"/>
          </a:xfrm>
          <a:prstGeom prst="round2SameRect">
            <a:avLst>
              <a:gd name="adj1" fmla="val 20689"/>
              <a:gd name="adj2" fmla="val 0"/>
            </a:avLst>
          </a:prstGeom>
          <a:solidFill>
            <a:srgbClr val="C55A11"/>
          </a:solidFill>
          <a:ln>
            <a:noFill/>
          </a:ln>
        </p:spPr>
        <p:txBody>
          <a:bodyPr rtlCol="0" anchor="ctr" wrap="square" lIns="73152" tIns="0" rIns="73152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Potential challenges and risks</a:t>
            </a:r>
            <a:endParaRPr lang="en-IN" sz="1300" dirty="0"/>
          </a:p>
        </p:txBody>
      </p:sp>
      <p:sp>
        <p:nvSpPr>
          <p:cNvPr id="17415" name="FD_C"/>
          <p:cNvSpPr/>
          <p:nvPr/>
        </p:nvSpPr>
        <p:spPr>
          <a:xfrm>
            <a:off x="8308848" y="1755648"/>
            <a:ext cx="3678936" cy="3346704"/>
          </a:xfrm>
          <a:prstGeom prst="roundRect">
            <a:avLst>
              <a:gd name="adj" fmla="val 3278"/>
            </a:avLst>
          </a:prstGeom>
          <a:solidFill>
            <a:srgbClr val="F6F8FC"/>
          </a:solidFill>
          <a:ln w="19050">
            <a:solidFill>
              <a:srgbClr val="1F497D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6" name="FD_C_hdr"/>
          <p:cNvSpPr/>
          <p:nvPr/>
        </p:nvSpPr>
        <p:spPr>
          <a:xfrm>
            <a:off x="8308848" y="1755648"/>
            <a:ext cx="3678936" cy="530352"/>
          </a:xfrm>
          <a:prstGeom prst="round2SameRect">
            <a:avLst>
              <a:gd name="adj1" fmla="val 20689"/>
              <a:gd name="adj2" fmla="val 0"/>
            </a:avLst>
          </a:prstGeom>
          <a:solidFill>
            <a:srgbClr val="1F497D"/>
          </a:solidFill>
          <a:ln>
            <a:noFill/>
          </a:ln>
        </p:spPr>
        <p:txBody>
          <a:bodyPr rtlCol="0" anchor="ctr" wrap="square" lIns="73152" tIns="0" rIns="73152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Strategies for overcoming these challenges</a:t>
            </a:r>
            <a:endParaRPr lang="en-IN" sz="1300" dirty="0"/>
          </a:p>
        </p:txBody>
      </p:sp>
      <p:sp>
        <p:nvSpPr>
          <p:cNvPr id="17417" name="FD_T"/>
          <p:cNvSpPr/>
          <p:nvPr/>
        </p:nvSpPr>
        <p:spPr>
          <a:xfrm>
            <a:off x="292608" y="5212080"/>
            <a:ext cx="11695176" cy="777240"/>
          </a:xfrm>
          <a:prstGeom prst="roundRect">
            <a:avLst>
              <a:gd name="adj" fmla="val 11764"/>
            </a:avLst>
          </a:prstGeom>
          <a:solidFill>
            <a:srgbClr val="F9F7FD"/>
          </a:solidFill>
          <a:ln w="15875">
            <a:solidFill>
              <a:srgbClr val="5B3FA0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8" name="FD_T_hdr"/>
          <p:cNvSpPr/>
          <p:nvPr/>
        </p:nvSpPr>
        <p:spPr>
          <a:xfrm>
            <a:off x="292608" y="5212080"/>
            <a:ext cx="11695176" cy="246888"/>
          </a:xfrm>
          <a:prstGeom prst="round2SameRect">
            <a:avLst>
              <a:gd name="adj1" fmla="val 37037"/>
              <a:gd name="adj2" fmla="val 0"/>
            </a:avLst>
          </a:prstGeom>
          <a:solidFill>
            <a:srgbClr val="5B3FA0"/>
          </a:solidFill>
          <a:ln>
            <a:noFill/>
          </a:ln>
        </p:spPr>
        <p:txBody>
          <a:bodyPr rtlCol="0" anchor="ctr" wrap="square" lIns="109728" tIns="0" rIns="54864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Roadmap</a:t>
            </a:r>
            <a:endParaRPr lang="en-IN" sz="1200" dirty="0"/>
          </a:p>
        </p:txBody>
      </p:sp>
      <p:sp>
        <p:nvSpPr>
          <p:cNvPr id="17419" name="FD_A_disc"/>
          <p:cNvSpPr/>
          <p:nvPr/>
        </p:nvSpPr>
        <p:spPr>
          <a:xfrm>
            <a:off x="1766316" y="2350008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0" name="FD_B_disc"/>
          <p:cNvSpPr/>
          <p:nvPr/>
        </p:nvSpPr>
        <p:spPr>
          <a:xfrm>
            <a:off x="5774436" y="2350008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55A1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1" name="FD_C_disc"/>
          <p:cNvSpPr/>
          <p:nvPr/>
        </p:nvSpPr>
        <p:spPr>
          <a:xfrm>
            <a:off x="9782556" y="2350008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497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2" name="FD_A_txt"/>
          <p:cNvSpPr txBox="1"/>
          <p:nvPr/>
        </p:nvSpPr>
        <p:spPr>
          <a:xfrm>
            <a:off x="384048" y="3127248"/>
            <a:ext cx="3496056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Built and running today —</a:t>
            </a:r>
            <a:endParaRPr lang="en-IN" sz="115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published physics,</a:t>
            </a:r>
            <a:endParaRPr lang="en-IN" sz="115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real field numbers.</a:t>
            </a:r>
            <a:endParaRPr lang="en-IN" sz="1150" dirty="0"/>
          </a:p>
        </p:txBody>
      </p:sp>
      <p:sp>
        <p:nvSpPr>
          <p:cNvPr id="17423" name="FD_A_d1"/>
          <p:cNvSpPr/>
          <p:nvPr/>
        </p:nvSpPr>
        <p:spPr>
          <a:xfrm>
            <a:off x="365760" y="3749040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E8F3E9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Real Baghewala inputs: 1,150 m, 11,500 cP</a:t>
            </a:r>
            <a:endParaRPr lang="en-IN" sz="950" dirty="0"/>
          </a:p>
        </p:txBody>
      </p:sp>
      <p:sp>
        <p:nvSpPr>
          <p:cNvPr id="17424" name="FD_A_d2"/>
          <p:cNvSpPr/>
          <p:nvPr/>
        </p:nvSpPr>
        <p:spPr>
          <a:xfrm>
            <a:off x="365760" y="4027932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E8F3E9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Steam 85–97 kgf/cm², 60–70 % quality (published)</a:t>
            </a:r>
            <a:endParaRPr lang="en-IN" sz="950" dirty="0"/>
          </a:p>
        </p:txBody>
      </p:sp>
      <p:sp>
        <p:nvSpPr>
          <p:cNvPr id="17425" name="FD_A_d3"/>
          <p:cNvSpPr/>
          <p:nvPr/>
        </p:nvSpPr>
        <p:spPr>
          <a:xfrm>
            <a:off x="365760" y="4306824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E8F3E9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Inside real field bands (uplift 5–6×, CalGEM)</a:t>
            </a:r>
            <a:endParaRPr lang="en-IN" sz="950" dirty="0"/>
          </a:p>
        </p:txBody>
      </p:sp>
      <p:sp>
        <p:nvSpPr>
          <p:cNvPr id="17426" name="FD_A_d4"/>
          <p:cNvSpPr/>
          <p:nvPr/>
        </p:nvSpPr>
        <p:spPr>
          <a:xfrm>
            <a:off x="365760" y="4585716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E8F3E9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Runs on a laptop · deployable API + Docker</a:t>
            </a:r>
            <a:endParaRPr lang="en-IN" sz="950" dirty="0"/>
          </a:p>
        </p:txBody>
      </p:sp>
      <p:sp>
        <p:nvSpPr>
          <p:cNvPr id="17427" name="FD_B_txt"/>
          <p:cNvSpPr txBox="1"/>
          <p:nvPr/>
        </p:nvSpPr>
        <p:spPr>
          <a:xfrm>
            <a:off x="4392168" y="3127248"/>
            <a:ext cx="3496056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Some numbers stay assumptions</a:t>
            </a:r>
            <a:endParaRPr lang="en-IN" sz="115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until Oil India</a:t>
            </a:r>
            <a:endParaRPr lang="en-IN" sz="115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shares its data.</a:t>
            </a:r>
            <a:endParaRPr lang="en-IN" sz="1150" dirty="0"/>
          </a:p>
        </p:txBody>
      </p:sp>
      <p:sp>
        <p:nvSpPr>
          <p:cNvPr id="17428" name="FD_B_d1"/>
          <p:cNvSpPr/>
          <p:nvPr/>
        </p:nvSpPr>
        <p:spPr>
          <a:xfrm>
            <a:off x="4373880" y="3749040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FCEEE4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No public per-cycle Baghewala records</a:t>
            </a:r>
            <a:endParaRPr lang="en-IN" sz="950" dirty="0"/>
          </a:p>
        </p:txBody>
      </p:sp>
      <p:sp>
        <p:nvSpPr>
          <p:cNvPr id="17429" name="FD_B_d2"/>
          <p:cNvSpPr/>
          <p:nvPr/>
        </p:nvSpPr>
        <p:spPr>
          <a:xfrm>
            <a:off x="4373880" y="4027932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FCEEE4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Skin, water cut, condensate return unknown</a:t>
            </a:r>
            <a:endParaRPr lang="en-IN" sz="950" dirty="0"/>
          </a:p>
        </p:txBody>
      </p:sp>
      <p:sp>
        <p:nvSpPr>
          <p:cNvPr id="17430" name="FD_B_d3"/>
          <p:cNvSpPr/>
          <p:nvPr/>
        </p:nvSpPr>
        <p:spPr>
          <a:xfrm>
            <a:off x="4373880" y="4306824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FCEEE4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Rod float depends on emulsion behaviour</a:t>
            </a:r>
            <a:endParaRPr lang="en-IN" sz="950" dirty="0"/>
          </a:p>
        </p:txBody>
      </p:sp>
      <p:sp>
        <p:nvSpPr>
          <p:cNvPr id="17431" name="FD_B_d4"/>
          <p:cNvSpPr/>
          <p:nvPr/>
        </p:nvSpPr>
        <p:spPr>
          <a:xfrm>
            <a:off x="4373880" y="4585716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FCEEE4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Marginal at $65/bbl; negative net of royalty + cess</a:t>
            </a:r>
            <a:endParaRPr lang="en-IN" sz="950" dirty="0"/>
          </a:p>
        </p:txBody>
      </p:sp>
      <p:sp>
        <p:nvSpPr>
          <p:cNvPr id="17432" name="FD_C_txt"/>
          <p:cNvSpPr txBox="1"/>
          <p:nvPr/>
        </p:nvSpPr>
        <p:spPr>
          <a:xfrm>
            <a:off x="8400288" y="3127248"/>
            <a:ext cx="3496056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Every assumption is tagged,</a:t>
            </a:r>
            <a:endParaRPr lang="en-IN" sz="115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given a range,</a:t>
            </a:r>
            <a:endParaRPr lang="en-IN" sz="115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and re-fitted from data.</a:t>
            </a:r>
            <a:endParaRPr lang="en-IN" sz="1150" dirty="0"/>
          </a:p>
        </p:txBody>
      </p:sp>
      <p:sp>
        <p:nvSpPr>
          <p:cNvPr id="17433" name="FD_C_d1"/>
          <p:cNvSpPr/>
          <p:nvPr/>
        </p:nvSpPr>
        <p:spPr>
          <a:xfrm>
            <a:off x="8382000" y="3749040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Data request to Oil India ready (10 items)</a:t>
            </a:r>
            <a:endParaRPr lang="en-IN" sz="950" dirty="0"/>
          </a:p>
        </p:txBody>
      </p:sp>
      <p:sp>
        <p:nvSpPr>
          <p:cNvPr id="17434" name="FD_C_d2"/>
          <p:cNvSpPr/>
          <p:nvPr/>
        </p:nvSpPr>
        <p:spPr>
          <a:xfrm>
            <a:off x="8382000" y="4027932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Calibration loop: 10 cycles → re-fit in minutes</a:t>
            </a:r>
            <a:endParaRPr lang="en-IN" sz="950" dirty="0"/>
          </a:p>
        </p:txBody>
      </p:sp>
      <p:sp>
        <p:nvSpPr>
          <p:cNvPr id="17435" name="FD_C_d3"/>
          <p:cNvSpPr/>
          <p:nvPr/>
        </p:nvSpPr>
        <p:spPr>
          <a:xfrm>
            <a:off x="8382000" y="4306824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Uncertainty shown as a range, not one number</a:t>
            </a:r>
            <a:endParaRPr lang="en-IN" sz="950" dirty="0"/>
          </a:p>
        </p:txBody>
      </p:sp>
      <p:sp>
        <p:nvSpPr>
          <p:cNvPr id="17436" name="FD_C_d4"/>
          <p:cNvSpPr/>
          <p:nvPr/>
        </p:nvSpPr>
        <p:spPr>
          <a:xfrm>
            <a:off x="8382000" y="4585716"/>
            <a:ext cx="3532632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Advisory mode first · control hook later</a:t>
            </a:r>
            <a:endParaRPr lang="en-IN" sz="950" dirty="0"/>
          </a:p>
        </p:txBody>
      </p:sp>
      <p:sp>
        <p:nvSpPr>
          <p:cNvPr id="17437" name="FD_T1"/>
          <p:cNvSpPr/>
          <p:nvPr/>
        </p:nvSpPr>
        <p:spPr>
          <a:xfrm>
            <a:off x="384048" y="5513832"/>
            <a:ext cx="2809494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5B3FA0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Now: prototype,</a:t>
            </a:r>
            <a:endParaRPr lang="en-IN" sz="10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263 tests, live demo</a:t>
            </a:r>
            <a:endParaRPr lang="en-IN" sz="1050" dirty="0"/>
          </a:p>
        </p:txBody>
      </p:sp>
      <p:sp>
        <p:nvSpPr>
          <p:cNvPr id="17438" name="FD_T2"/>
          <p:cNvSpPr/>
          <p:nvPr/>
        </p:nvSpPr>
        <p:spPr>
          <a:xfrm>
            <a:off x="3284982" y="5513832"/>
            <a:ext cx="2809494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5B3FA0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Oct: Oil India data,</a:t>
            </a:r>
            <a:endParaRPr lang="en-IN" sz="10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calibrate the twin</a:t>
            </a:r>
            <a:endParaRPr lang="en-IN" sz="1050" dirty="0"/>
          </a:p>
        </p:txBody>
      </p:sp>
      <p:sp>
        <p:nvSpPr>
          <p:cNvPr id="17439" name="FD_T3"/>
          <p:cNvSpPr/>
          <p:nvPr/>
        </p:nvSpPr>
        <p:spPr>
          <a:xfrm>
            <a:off x="6185916" y="5513832"/>
            <a:ext cx="2809494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5B3FA0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Finale: field-checked</a:t>
            </a:r>
            <a:endParaRPr lang="en-IN" sz="10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recommendations</a:t>
            </a:r>
            <a:endParaRPr lang="en-IN" sz="1050" dirty="0"/>
          </a:p>
        </p:txBody>
      </p:sp>
      <p:sp>
        <p:nvSpPr>
          <p:cNvPr id="17440" name="FD_T4"/>
          <p:cNvSpPr/>
          <p:nvPr/>
        </p:nvSpPr>
        <p:spPr>
          <a:xfrm>
            <a:off x="9086850" y="5513832"/>
            <a:ext cx="2809494" cy="420624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9525">
            <a:solidFill>
              <a:srgbClr val="5B3FA0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Pilot: one well,</a:t>
            </a:r>
            <a:endParaRPr lang="en-IN" sz="10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 b="1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advisory mode</a:t>
            </a:r>
            <a:endParaRPr lang="en-IN" sz="1050" dirty="0"/>
          </a:p>
        </p:txBody>
      </p:sp>
      <p:sp>
        <p:nvSpPr>
          <p:cNvPr id="17441" name="FD_n"/>
          <p:cNvSpPr txBox="1"/>
          <p:nvPr/>
        </p:nvSpPr>
        <p:spPr>
          <a:xfrm>
            <a:off x="292608" y="6025896"/>
            <a:ext cx="11695176" cy="201168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 i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Team: Chemical Engineering + Software, MNIT Jaipur · open-source stack, no licence cost to Oil India</a:t>
            </a:r>
            <a:endParaRPr lang="en-IN" sz="1050" dirty="0"/>
          </a:p>
        </p:txBody>
      </p:sp>
      <p:pic>
        <p:nvPicPr>
          <p:cNvPr id="17442" name="FD_A_icon" descr="icon: ic_shield-check.sv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39468" y="2423160"/>
            <a:ext cx="585216" cy="585216"/>
          </a:xfrm>
          <a:prstGeom prst="rect">
            <a:avLst/>
          </a:prstGeom>
        </p:spPr>
      </p:pic>
      <p:pic>
        <p:nvPicPr>
          <p:cNvPr id="17443" name="FD_B_icon" descr="icon: ic_alert-triangle.sv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47588" y="2423160"/>
            <a:ext cx="585216" cy="585216"/>
          </a:xfrm>
          <a:prstGeom prst="rect">
            <a:avLst/>
          </a:prstGeom>
        </p:spPr>
      </p:pic>
      <p:pic>
        <p:nvPicPr>
          <p:cNvPr id="17444" name="FD_C_icon" descr="icon: ic_calendar-cycle.sv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55708" y="2423160"/>
            <a:ext cx="585216" cy="585216"/>
          </a:xfrm>
          <a:prstGeom prst="rect">
            <a:avLst/>
          </a:prstGeom>
        </p:spPr>
      </p:pic>
      <p:pic>
        <p:nvPicPr>
          <p:cNvPr id="17445" name="FD_T1_icon" descr="icon: ic_graph-up.sv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7200" y="5559552"/>
            <a:ext cx="329184" cy="329184"/>
          </a:xfrm>
          <a:prstGeom prst="rect">
            <a:avLst/>
          </a:prstGeom>
        </p:spPr>
      </p:pic>
      <p:pic>
        <p:nvPicPr>
          <p:cNvPr id="17446" name="FD_T2_icon" descr="icon: ic_calendar-cycle.sv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58134" y="5559552"/>
            <a:ext cx="329184" cy="329184"/>
          </a:xfrm>
          <a:prstGeom prst="rect">
            <a:avLst/>
          </a:prstGeom>
        </p:spPr>
      </p:pic>
      <p:pic>
        <p:nvPicPr>
          <p:cNvPr id="17447" name="FD_T3_icon" descr="icon: ic_shield-check.sv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59068" y="5559552"/>
            <a:ext cx="329184" cy="329184"/>
          </a:xfrm>
          <a:prstGeom prst="rect">
            <a:avLst/>
          </a:prstGeom>
        </p:spPr>
      </p:pic>
      <p:pic>
        <p:nvPicPr>
          <p:cNvPr id="17448" name="FD_T4_icon" descr="icon: ic_well.sv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60002" y="5559552"/>
            <a:ext cx="329184" cy="32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170432"/>
            <a:ext cx="11247120" cy="43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0" indent="0">
              <a:buNone/>
            </a:pPr>
            <a:r>
              <a:rPr lang="en-IN" sz="13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Impact and benefits — what changes for Oil India's operators, and what we honestly do and do not claim yet.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FD_A"/>
          <p:cNvSpPr/>
          <p:nvPr/>
        </p:nvSpPr>
        <p:spPr>
          <a:xfrm>
            <a:off x="292608" y="1755648"/>
            <a:ext cx="3703320" cy="3346704"/>
          </a:xfrm>
          <a:prstGeom prst="roundRect">
            <a:avLst>
              <a:gd name="adj" fmla="val 3278"/>
            </a:avLst>
          </a:prstGeom>
          <a:solidFill>
            <a:srgbClr val="F6F8FC"/>
          </a:solidFill>
          <a:ln w="19050">
            <a:solidFill>
              <a:srgbClr val="1F497D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2" name="FD_A_hdr"/>
          <p:cNvSpPr/>
          <p:nvPr/>
        </p:nvSpPr>
        <p:spPr>
          <a:xfrm>
            <a:off x="292608" y="1755648"/>
            <a:ext cx="3703320" cy="530352"/>
          </a:xfrm>
          <a:prstGeom prst="round2SameRect">
            <a:avLst>
              <a:gd name="adj1" fmla="val 20689"/>
              <a:gd name="adj2" fmla="val 0"/>
            </a:avLst>
          </a:prstGeom>
          <a:solidFill>
            <a:srgbClr val="1F497D"/>
          </a:solidFill>
          <a:ln>
            <a:noFill/>
          </a:ln>
        </p:spPr>
        <p:txBody>
          <a:bodyPr rtlCol="0" anchor="ctr" wrap="square" lIns="73152" tIns="0" rIns="73152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Potential impact on the target audience</a:t>
            </a:r>
            <a:endParaRPr lang="en-IN" sz="1300" dirty="0"/>
          </a:p>
        </p:txBody>
      </p:sp>
      <p:sp>
        <p:nvSpPr>
          <p:cNvPr id="17413" name="FD_B"/>
          <p:cNvSpPr/>
          <p:nvPr/>
        </p:nvSpPr>
        <p:spPr>
          <a:xfrm>
            <a:off x="4325112" y="1755648"/>
            <a:ext cx="7662672" cy="3346704"/>
          </a:xfrm>
          <a:prstGeom prst="roundRect">
            <a:avLst>
              <a:gd name="adj" fmla="val 3278"/>
            </a:avLst>
          </a:prstGeom>
          <a:solidFill>
            <a:srgbClr val="F6FBF6"/>
          </a:solidFill>
          <a:ln w="19050">
            <a:solidFill>
              <a:srgbClr val="2E7D32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4" name="FD_B_hdr"/>
          <p:cNvSpPr/>
          <p:nvPr/>
        </p:nvSpPr>
        <p:spPr>
          <a:xfrm>
            <a:off x="4325112" y="1755648"/>
            <a:ext cx="7662672" cy="530352"/>
          </a:xfrm>
          <a:prstGeom prst="round2SameRect">
            <a:avLst>
              <a:gd name="adj1" fmla="val 20689"/>
              <a:gd name="adj2" fmla="val 0"/>
            </a:avLst>
          </a:prstGeom>
          <a:solidFill>
            <a:srgbClr val="2E7D32"/>
          </a:solidFill>
          <a:ln>
            <a:noFill/>
          </a:ln>
        </p:spPr>
        <p:txBody>
          <a:bodyPr rtlCol="0" anchor="ctr" wrap="square" lIns="73152" tIns="0" rIns="73152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Benefits of the solution (social, economic, environmental, etc.)</a:t>
            </a:r>
            <a:endParaRPr lang="en-IN" sz="1300" dirty="0"/>
          </a:p>
        </p:txBody>
      </p:sp>
      <p:sp>
        <p:nvSpPr>
          <p:cNvPr id="17415" name="FD_M0"/>
          <p:cNvSpPr/>
          <p:nvPr/>
        </p:nvSpPr>
        <p:spPr>
          <a:xfrm>
            <a:off x="4416552" y="2377440"/>
            <a:ext cx="2420112" cy="2633472"/>
          </a:xfrm>
          <a:prstGeom prst="roundRect">
            <a:avLst>
              <a:gd name="adj" fmla="val 3778"/>
            </a:avLst>
          </a:prstGeom>
          <a:solidFill>
            <a:srgbClr val="FFFFFF"/>
          </a:solidFill>
          <a:ln w="12700">
            <a:solidFill>
              <a:srgbClr val="2E7D32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6" name="FD_M1"/>
          <p:cNvSpPr/>
          <p:nvPr/>
        </p:nvSpPr>
        <p:spPr>
          <a:xfrm>
            <a:off x="6946392" y="2377440"/>
            <a:ext cx="2420112" cy="2633472"/>
          </a:xfrm>
          <a:prstGeom prst="roundRect">
            <a:avLst>
              <a:gd name="adj" fmla="val 3778"/>
            </a:avLst>
          </a:prstGeom>
          <a:solidFill>
            <a:srgbClr val="FFFFFF"/>
          </a:solidFill>
          <a:ln w="12700">
            <a:solidFill>
              <a:srgbClr val="C55A11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7" name="FD_M2"/>
          <p:cNvSpPr/>
          <p:nvPr/>
        </p:nvSpPr>
        <p:spPr>
          <a:xfrm>
            <a:off x="9476232" y="2377440"/>
            <a:ext cx="2420112" cy="2633472"/>
          </a:xfrm>
          <a:prstGeom prst="roundRect">
            <a:avLst>
              <a:gd name="adj" fmla="val 3778"/>
            </a:avLst>
          </a:prstGeom>
          <a:solidFill>
            <a:srgbClr val="FFFFFF"/>
          </a:solidFill>
          <a:ln w="12700">
            <a:solidFill>
              <a:srgbClr val="5B3FA0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8" name="FD_H"/>
          <p:cNvSpPr/>
          <p:nvPr/>
        </p:nvSpPr>
        <p:spPr>
          <a:xfrm>
            <a:off x="292608" y="5212080"/>
            <a:ext cx="11695176" cy="740664"/>
          </a:xfrm>
          <a:prstGeom prst="roundRect">
            <a:avLst>
              <a:gd name="adj" fmla="val 12345"/>
            </a:avLst>
          </a:prstGeom>
          <a:solidFill>
            <a:srgbClr val="FAFAFA"/>
          </a:solidFill>
          <a:ln w="15875">
            <a:solidFill>
              <a:srgbClr val="595959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9" name="FD_H_hdr"/>
          <p:cNvSpPr/>
          <p:nvPr/>
        </p:nvSpPr>
        <p:spPr>
          <a:xfrm>
            <a:off x="292608" y="5212080"/>
            <a:ext cx="11695176" cy="246888"/>
          </a:xfrm>
          <a:prstGeom prst="round2SameRect">
            <a:avLst>
              <a:gd name="adj1" fmla="val 37037"/>
              <a:gd name="adj2" fmla="val 0"/>
            </a:avLst>
          </a:prstGeom>
          <a:solidFill>
            <a:srgbClr val="595959"/>
          </a:solidFill>
          <a:ln>
            <a:noFill/>
          </a:ln>
        </p:spPr>
        <p:txBody>
          <a:bodyPr rtlCol="0" anchor="ctr" wrap="square" lIns="109728" tIns="0" rIns="54864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Assumptions to confirm with Oil India</a:t>
            </a:r>
            <a:endParaRPr lang="en-IN" sz="1200" dirty="0"/>
          </a:p>
        </p:txBody>
      </p:sp>
      <p:sp>
        <p:nvSpPr>
          <p:cNvPr id="17420" name="FD_A_disc"/>
          <p:cNvSpPr/>
          <p:nvPr/>
        </p:nvSpPr>
        <p:spPr>
          <a:xfrm>
            <a:off x="1778508" y="2350008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F497D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1" name="FD_M0_disc"/>
          <p:cNvSpPr/>
          <p:nvPr/>
        </p:nvSpPr>
        <p:spPr>
          <a:xfrm>
            <a:off x="5260848" y="2505456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7D32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2" name="FD_M1_disc"/>
          <p:cNvSpPr/>
          <p:nvPr/>
        </p:nvSpPr>
        <p:spPr>
          <a:xfrm>
            <a:off x="7790688" y="2505456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55A11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3" name="FD_M2_disc"/>
          <p:cNvSpPr/>
          <p:nvPr/>
        </p:nvSpPr>
        <p:spPr>
          <a:xfrm>
            <a:off x="10320528" y="2505456"/>
            <a:ext cx="731520" cy="7315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B3FA0"/>
            </a:solidFill>
            <a:round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424" name="FD_A_txt"/>
          <p:cNvSpPr txBox="1"/>
          <p:nvPr/>
        </p:nvSpPr>
        <p:spPr>
          <a:xfrm>
            <a:off x="384048" y="3127248"/>
            <a:ext cx="3520440" cy="566928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The plan: 1,000 t steam · 89 kgf/cm²</a:t>
            </a:r>
            <a:endParaRPr lang="en-IN" sz="115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64-in stroke · start 4.5 spm ·</a:t>
            </a:r>
            <a:endParaRPr lang="en-IN" sz="115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1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slow at the float limit, then pull.</a:t>
            </a:r>
            <a:endParaRPr lang="en-IN" sz="1150" dirty="0"/>
          </a:p>
        </p:txBody>
      </p:sp>
      <p:sp>
        <p:nvSpPr>
          <p:cNvPr id="17425" name="FD_A_d1"/>
          <p:cNvSpPr/>
          <p:nvPr/>
        </p:nvSpPr>
        <p:spPr>
          <a:xfrm>
            <a:off x="365760" y="3749040"/>
            <a:ext cx="3557016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Steam per m³ of oil: 3.3 → 2.8 t (−14 %), same policy</a:t>
            </a:r>
            <a:endParaRPr lang="en-IN" sz="950" dirty="0"/>
          </a:p>
        </p:txBody>
      </p:sp>
      <p:sp>
        <p:nvSpPr>
          <p:cNvPr id="17426" name="FD_A_d2"/>
          <p:cNvSpPr/>
          <p:nvPr/>
        </p:nvSpPr>
        <p:spPr>
          <a:xfrm>
            <a:off x="365760" y="4027932"/>
            <a:ext cx="3557016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Beats our assumed baseline in 84–96 % of runs</a:t>
            </a:r>
            <a:endParaRPr lang="en-IN" sz="950" dirty="0"/>
          </a:p>
        </p:txBody>
      </p:sp>
      <p:sp>
        <p:nvSpPr>
          <p:cNvPr id="17427" name="FD_A_d3"/>
          <p:cNvSpPr/>
          <p:nvPr/>
        </p:nvSpPr>
        <p:spPr>
          <a:xfrm>
            <a:off x="365760" y="4306824"/>
            <a:ext cx="3557016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₹ gain ₹0–5k/day — set by the VFD's minimum speed</a:t>
            </a:r>
            <a:endParaRPr lang="en-IN" sz="950" dirty="0"/>
          </a:p>
        </p:txBody>
      </p:sp>
      <p:sp>
        <p:nvSpPr>
          <p:cNvPr id="17428" name="FD_A_d4"/>
          <p:cNvSpPr/>
          <p:nvPr/>
        </p:nvSpPr>
        <p:spPr>
          <a:xfrm>
            <a:off x="365760" y="4585716"/>
            <a:ext cx="3557016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Drive slows the pump at the float limit, then pull</a:t>
            </a:r>
            <a:endParaRPr lang="en-IN" sz="950" dirty="0"/>
          </a:p>
        </p:txBody>
      </p:sp>
      <p:sp>
        <p:nvSpPr>
          <p:cNvPr id="17429" name="FD_A_d5"/>
          <p:cNvSpPr/>
          <p:nvPr/>
        </p:nvSpPr>
        <p:spPr>
          <a:xfrm>
            <a:off x="365760" y="4864608"/>
            <a:ext cx="3557016" cy="214884"/>
          </a:xfrm>
          <a:prstGeom prst="roundRect">
            <a:avLst>
              <a:gd name="adj" fmla="val 21276"/>
            </a:avLst>
          </a:prstGeom>
          <a:solidFill>
            <a:srgbClr val="EAF0F8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Field view: which well gets steam next</a:t>
            </a:r>
            <a:endParaRPr lang="en-IN" sz="950" dirty="0"/>
          </a:p>
        </p:txBody>
      </p:sp>
      <p:sp>
        <p:nvSpPr>
          <p:cNvPr id="17430" name="FD_M0_t"/>
          <p:cNvSpPr txBox="1"/>
          <p:nvPr/>
        </p:nvSpPr>
        <p:spPr>
          <a:xfrm>
            <a:off x="4471416" y="3310128"/>
            <a:ext cx="2310384" cy="21945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 b="1">
                <a:solidFill>
                  <a:srgbClr val="2E7D32"/>
                </a:solidFill>
                <a:latin typeface="Arial"/>
                <a:ea typeface="Arial"/>
                <a:cs typeface="Arial"/>
                <a:sym typeface="Arial"/>
              </a:rPr>
              <a:t>Economic</a:t>
            </a:r>
            <a:endParaRPr lang="en-IN" sz="1250" dirty="0"/>
          </a:p>
        </p:txBody>
      </p:sp>
      <p:sp>
        <p:nvSpPr>
          <p:cNvPr id="17431" name="FD_M0_s"/>
          <p:cNvSpPr txBox="1"/>
          <p:nvPr/>
        </p:nvSpPr>
        <p:spPr>
          <a:xfrm>
            <a:off x="4471416" y="3566160"/>
            <a:ext cx="2310384" cy="365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Less steam per barrel:</a:t>
            </a:r>
            <a:endParaRPr lang="en-IN" sz="105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3.3 → 2.8 t/m³ (−14 %)</a:t>
            </a:r>
            <a:endParaRPr lang="en-IN" sz="1050" dirty="0"/>
          </a:p>
        </p:txBody>
      </p:sp>
      <p:sp>
        <p:nvSpPr>
          <p:cNvPr id="17432" name="FD_M0_d1"/>
          <p:cNvSpPr/>
          <p:nvPr/>
        </p:nvSpPr>
        <p:spPr>
          <a:xfrm>
            <a:off x="4471416" y="4023360"/>
            <a:ext cx="2310384" cy="214884"/>
          </a:xfrm>
          <a:prstGeom prst="roundRect">
            <a:avLst>
              <a:gd name="adj" fmla="val 21276"/>
            </a:avLst>
          </a:prstGeom>
          <a:solidFill>
            <a:srgbClr val="E8F3E9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23 % less steam · 11 % less oil</a:t>
            </a:r>
            <a:endParaRPr lang="en-IN" sz="950" dirty="0"/>
          </a:p>
        </p:txBody>
      </p:sp>
      <p:sp>
        <p:nvSpPr>
          <p:cNvPr id="17433" name="FD_M0_d2"/>
          <p:cNvSpPr/>
          <p:nvPr/>
        </p:nvSpPr>
        <p:spPr>
          <a:xfrm>
            <a:off x="4471416" y="4306824"/>
            <a:ext cx="2310384" cy="214884"/>
          </a:xfrm>
          <a:prstGeom prst="roundRect">
            <a:avLst>
              <a:gd name="adj" fmla="val 21276"/>
            </a:avLst>
          </a:prstGeom>
          <a:solidFill>
            <a:srgbClr val="E8F3E9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₹ gain hinges on OIL's VFD floor speed</a:t>
            </a:r>
            <a:endParaRPr lang="en-IN" sz="950" dirty="0"/>
          </a:p>
        </p:txBody>
      </p:sp>
      <p:sp>
        <p:nvSpPr>
          <p:cNvPr id="17434" name="FD_M0_d3"/>
          <p:cNvSpPr/>
          <p:nvPr/>
        </p:nvSpPr>
        <p:spPr>
          <a:xfrm>
            <a:off x="4471416" y="4590288"/>
            <a:ext cx="2310384" cy="214884"/>
          </a:xfrm>
          <a:prstGeom prst="roundRect">
            <a:avLst>
              <a:gd name="adj" fmla="val 21276"/>
            </a:avLst>
          </a:prstGeom>
          <a:solidFill>
            <a:srgbClr val="E8F3E9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 range is shown, never one number</a:t>
            </a:r>
            <a:endParaRPr lang="en-IN" sz="950" dirty="0"/>
          </a:p>
        </p:txBody>
      </p:sp>
      <p:sp>
        <p:nvSpPr>
          <p:cNvPr id="17435" name="FD_M1_t"/>
          <p:cNvSpPr txBox="1"/>
          <p:nvPr/>
        </p:nvSpPr>
        <p:spPr>
          <a:xfrm>
            <a:off x="7001256" y="3310128"/>
            <a:ext cx="2310384" cy="21945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 b="1">
                <a:solidFill>
                  <a:srgbClr val="C55A11"/>
                </a:solidFill>
                <a:latin typeface="Arial"/>
                <a:ea typeface="Arial"/>
                <a:cs typeface="Arial"/>
                <a:sym typeface="Arial"/>
              </a:rPr>
              <a:t>Environmental</a:t>
            </a:r>
            <a:endParaRPr lang="en-IN" sz="1250" dirty="0"/>
          </a:p>
        </p:txBody>
      </p:sp>
      <p:sp>
        <p:nvSpPr>
          <p:cNvPr id="17436" name="FD_M1_s"/>
          <p:cNvSpPr txBox="1"/>
          <p:nvPr/>
        </p:nvSpPr>
        <p:spPr>
          <a:xfrm>
            <a:off x="7001256" y="3566160"/>
            <a:ext cx="2310384" cy="365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Every tonne of steam burns</a:t>
            </a:r>
            <a:endParaRPr lang="en-IN" sz="105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71 kg of diesel</a:t>
            </a:r>
            <a:endParaRPr lang="en-IN" sz="1050" dirty="0"/>
          </a:p>
        </p:txBody>
      </p:sp>
      <p:sp>
        <p:nvSpPr>
          <p:cNvPr id="17437" name="FD_M1_d1"/>
          <p:cNvSpPr/>
          <p:nvPr/>
        </p:nvSpPr>
        <p:spPr>
          <a:xfrm>
            <a:off x="7001256" y="4023360"/>
            <a:ext cx="2310384" cy="214884"/>
          </a:xfrm>
          <a:prstGeom prst="roundRect">
            <a:avLst>
              <a:gd name="adj" fmla="val 21276"/>
            </a:avLst>
          </a:prstGeom>
          <a:solidFill>
            <a:srgbClr val="FCEEE4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Fewer tonnes of steam per m³ oil</a:t>
            </a:r>
            <a:endParaRPr lang="en-IN" sz="950" dirty="0"/>
          </a:p>
        </p:txBody>
      </p:sp>
      <p:sp>
        <p:nvSpPr>
          <p:cNvPr id="17438" name="FD_M1_d2"/>
          <p:cNvSpPr/>
          <p:nvPr/>
        </p:nvSpPr>
        <p:spPr>
          <a:xfrm>
            <a:off x="7001256" y="4306824"/>
            <a:ext cx="2310384" cy="214884"/>
          </a:xfrm>
          <a:prstGeom prst="roundRect">
            <a:avLst>
              <a:gd name="adj" fmla="val 21276"/>
            </a:avLst>
          </a:prstGeom>
          <a:solidFill>
            <a:srgbClr val="FCEEE4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Less diesel and CO₂ per barrel</a:t>
            </a:r>
            <a:endParaRPr lang="en-IN" sz="950" dirty="0"/>
          </a:p>
        </p:txBody>
      </p:sp>
      <p:sp>
        <p:nvSpPr>
          <p:cNvPr id="17439" name="FD_M1_d3"/>
          <p:cNvSpPr/>
          <p:nvPr/>
        </p:nvSpPr>
        <p:spPr>
          <a:xfrm>
            <a:off x="7001256" y="4590288"/>
            <a:ext cx="2310384" cy="214884"/>
          </a:xfrm>
          <a:prstGeom prst="roundRect">
            <a:avLst>
              <a:gd name="adj" fmla="val 21276"/>
            </a:avLst>
          </a:prstGeom>
          <a:solidFill>
            <a:srgbClr val="FCEEE4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No wasted pumping after float</a:t>
            </a:r>
            <a:endParaRPr lang="en-IN" sz="950" dirty="0"/>
          </a:p>
        </p:txBody>
      </p:sp>
      <p:sp>
        <p:nvSpPr>
          <p:cNvPr id="17440" name="FD_M2_t"/>
          <p:cNvSpPr txBox="1"/>
          <p:nvPr/>
        </p:nvSpPr>
        <p:spPr>
          <a:xfrm>
            <a:off x="9531096" y="3310128"/>
            <a:ext cx="2310384" cy="219456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50" dirty="0" b="1">
                <a:solidFill>
                  <a:srgbClr val="5B3FA0"/>
                </a:solidFill>
                <a:latin typeface="Arial"/>
                <a:ea typeface="Arial"/>
                <a:cs typeface="Arial"/>
                <a:sym typeface="Arial"/>
              </a:rPr>
              <a:t>Social &amp; operational</a:t>
            </a:r>
            <a:endParaRPr lang="en-IN" sz="1250" dirty="0"/>
          </a:p>
        </p:txBody>
      </p:sp>
      <p:sp>
        <p:nvSpPr>
          <p:cNvPr id="17441" name="FD_M2_s"/>
          <p:cNvSpPr txBox="1"/>
          <p:nvPr/>
        </p:nvSpPr>
        <p:spPr>
          <a:xfrm>
            <a:off x="9531096" y="3566160"/>
            <a:ext cx="2310384" cy="365760"/>
          </a:xfrm>
          <a:prstGeom prst="rect">
            <a:avLst/>
          </a:prstGeom>
          <a:noFill/>
        </p:spPr>
        <p:txBody>
          <a:bodyPr wrap="square" lIns="0" tIns="0" rIns="0" bIns="0" anchor="t" rtlCol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Operators keep control;</a:t>
            </a:r>
            <a:endParaRPr lang="en-IN" sz="1050" dirty="0"/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the twin explains itself</a:t>
            </a:r>
            <a:endParaRPr lang="en-IN" sz="1050" dirty="0"/>
          </a:p>
        </p:txBody>
      </p:sp>
      <p:sp>
        <p:nvSpPr>
          <p:cNvPr id="17442" name="FD_M2_d1"/>
          <p:cNvSpPr/>
          <p:nvPr/>
        </p:nvSpPr>
        <p:spPr>
          <a:xfrm>
            <a:off x="9531096" y="4023360"/>
            <a:ext cx="2310384" cy="214884"/>
          </a:xfrm>
          <a:prstGeom prst="roundRect">
            <a:avLst>
              <a:gd name="adj" fmla="val 21276"/>
            </a:avLst>
          </a:prstGeom>
          <a:solidFill>
            <a:srgbClr val="EEEAF7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Plain words, English and Hindi</a:t>
            </a:r>
            <a:endParaRPr lang="en-IN" sz="950" dirty="0"/>
          </a:p>
        </p:txBody>
      </p:sp>
      <p:sp>
        <p:nvSpPr>
          <p:cNvPr id="17443" name="FD_M2_d2"/>
          <p:cNvSpPr/>
          <p:nvPr/>
        </p:nvSpPr>
        <p:spPr>
          <a:xfrm>
            <a:off x="9531096" y="4306824"/>
            <a:ext cx="2310384" cy="214884"/>
          </a:xfrm>
          <a:prstGeom prst="roundRect">
            <a:avLst>
              <a:gd name="adj" fmla="val 21276"/>
            </a:avLst>
          </a:prstGeom>
          <a:solidFill>
            <a:srgbClr val="EEEAF7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Rod failures not priced yet ($15–50k)</a:t>
            </a:r>
            <a:endParaRPr lang="en-IN" sz="950" dirty="0"/>
          </a:p>
        </p:txBody>
      </p:sp>
      <p:sp>
        <p:nvSpPr>
          <p:cNvPr id="17444" name="FD_M2_d3"/>
          <p:cNvSpPr/>
          <p:nvPr/>
        </p:nvSpPr>
        <p:spPr>
          <a:xfrm>
            <a:off x="9531096" y="4590288"/>
            <a:ext cx="2310384" cy="214884"/>
          </a:xfrm>
          <a:prstGeom prst="roundRect">
            <a:avLst>
              <a:gd name="adj" fmla="val 21276"/>
            </a:avLst>
          </a:prstGeom>
          <a:solidFill>
            <a:srgbClr val="EEEAF7"/>
          </a:solidFill>
          <a:ln>
            <a:noFill/>
          </a:ln>
        </p:spPr>
        <p:txBody>
          <a:bodyPr rtlCol="0" anchor="ctr" wrap="square" lIns="54864" tIns="0" rIns="36576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Open source — skills stay with OIL</a:t>
            </a:r>
            <a:endParaRPr lang="en-IN" sz="950" dirty="0"/>
          </a:p>
        </p:txBody>
      </p:sp>
      <p:sp>
        <p:nvSpPr>
          <p:cNvPr id="17445" name="FD_H1"/>
          <p:cNvSpPr/>
          <p:nvPr/>
        </p:nvSpPr>
        <p:spPr>
          <a:xfrm>
            <a:off x="384048" y="5513832"/>
            <a:ext cx="2809494" cy="384048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595959"/>
            </a:solidFill>
            <a:round/>
          </a:ln>
        </p:spPr>
        <p:txBody>
          <a:bodyPr rtlCol="0" anchor="ctr" wrap="square" lIns="73152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Synthetic data today — the first real</a:t>
            </a:r>
            <a:endParaRPr lang="en-IN" sz="10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cycle records re-fit the twin in minutes</a:t>
            </a:r>
            <a:endParaRPr lang="en-IN" sz="1050" dirty="0"/>
          </a:p>
        </p:txBody>
      </p:sp>
      <p:sp>
        <p:nvSpPr>
          <p:cNvPr id="17446" name="FD_H2"/>
          <p:cNvSpPr/>
          <p:nvPr/>
        </p:nvSpPr>
        <p:spPr>
          <a:xfrm>
            <a:off x="3284982" y="5513832"/>
            <a:ext cx="2809494" cy="384048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595959"/>
            </a:solidFill>
            <a:round/>
          </a:ln>
        </p:spPr>
        <p:txBody>
          <a:bodyPr rtlCol="0" anchor="ctr" wrap="square" lIns="73152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Cash-positive in about half of scenarios</a:t>
            </a:r>
            <a:endParaRPr lang="en-IN" sz="10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at OIL's FY25 price (vs a shut-in well)</a:t>
            </a:r>
            <a:endParaRPr lang="en-IN" sz="1050" dirty="0"/>
          </a:p>
        </p:txBody>
      </p:sp>
      <p:sp>
        <p:nvSpPr>
          <p:cNvPr id="17447" name="FD_H3"/>
          <p:cNvSpPr/>
          <p:nvPr/>
        </p:nvSpPr>
        <p:spPr>
          <a:xfrm>
            <a:off x="6185916" y="5513832"/>
            <a:ext cx="2809494" cy="384048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595959"/>
            </a:solidFill>
            <a:round/>
          </a:ln>
        </p:spPr>
        <p:txBody>
          <a:bodyPr rtlCol="0" anchor="ctr" wrap="square" lIns="73152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Break-even at $65/bbl; negative net of</a:t>
            </a:r>
            <a:endParaRPr lang="en-IN" sz="10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royalty + cess — OIL's price deck decides</a:t>
            </a:r>
            <a:endParaRPr lang="en-IN" sz="1050" dirty="0"/>
          </a:p>
        </p:txBody>
      </p:sp>
      <p:sp>
        <p:nvSpPr>
          <p:cNvPr id="17448" name="FD_H4"/>
          <p:cNvSpPr/>
          <p:nvPr/>
        </p:nvSpPr>
        <p:spPr>
          <a:xfrm>
            <a:off x="9086850" y="5513832"/>
            <a:ext cx="2809494" cy="384048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9525">
            <a:solidFill>
              <a:srgbClr val="595959"/>
            </a:solidFill>
            <a:round/>
          </a:ln>
        </p:spPr>
        <p:txBody>
          <a:bodyPr rtlCol="0" anchor="ctr" wrap="square" lIns="73152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VFD minimum speed and pull criterion set</a:t>
            </a:r>
            <a:endParaRPr lang="en-IN" sz="10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the ₹ gain — both on our data request</a:t>
            </a:r>
            <a:endParaRPr lang="en-IN" sz="1050" dirty="0"/>
          </a:p>
        </p:txBody>
      </p:sp>
      <p:sp>
        <p:nvSpPr>
          <p:cNvPr id="17449" name="FD_n"/>
          <p:cNvSpPr txBox="1"/>
          <p:nvPr/>
        </p:nvSpPr>
        <p:spPr>
          <a:xfrm>
            <a:off x="292608" y="5989320"/>
            <a:ext cx="11695176" cy="201168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 i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Scales with the field: 218 t (FY17) → 43,773 t (FY26) of heavy oil · 19 steam jobs in FY26 · one twin per well</a:t>
            </a:r>
            <a:endParaRPr lang="en-IN" sz="1050" dirty="0"/>
          </a:p>
        </p:txBody>
      </p:sp>
      <p:pic>
        <p:nvPicPr>
          <p:cNvPr id="17450" name="FD_A_icon" descr="icon: ic_team.sv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1660" y="2423160"/>
            <a:ext cx="585216" cy="585216"/>
          </a:xfrm>
          <a:prstGeom prst="rect">
            <a:avLst/>
          </a:prstGeom>
        </p:spPr>
      </p:pic>
      <p:pic>
        <p:nvPicPr>
          <p:cNvPr id="17451" name="FD_M0_icon" descr="icon: ic_rupee-saving.sv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3144" y="2587752"/>
            <a:ext cx="566928" cy="566928"/>
          </a:xfrm>
          <a:prstGeom prst="rect">
            <a:avLst/>
          </a:prstGeom>
        </p:spPr>
      </p:pic>
      <p:pic>
        <p:nvPicPr>
          <p:cNvPr id="17452" name="FD_M1_icon" descr="icon: ic_co2-cloud.sv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72984" y="2587752"/>
            <a:ext cx="566928" cy="566928"/>
          </a:xfrm>
          <a:prstGeom prst="rect">
            <a:avLst/>
          </a:prstGeom>
        </p:spPr>
      </p:pic>
      <p:pic>
        <p:nvPicPr>
          <p:cNvPr id="17453" name="FD_M2_icon" descr="icon: ic_team.sv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2824" y="2587752"/>
            <a:ext cx="566928" cy="566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502920" y="1170432"/>
            <a:ext cx="11247120" cy="438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noAutofit/>
          </a:bodyPr>
          <a:lstStyle/>
          <a:p>
            <a:pPr marL="0" indent="0">
              <a:buNone/>
            </a:pPr>
            <a:r>
              <a:rPr lang="en-IN" sz="1350" dirty="0">
                <a:latin typeface="Arial" pitchFamily="34" charset="0"/>
                <a:ea typeface="Arial" pitchFamily="34" charset="0"/>
                <a:cs typeface="Arial" pitchFamily="34" charset="0"/>
                <a:sym typeface="Arial" pitchFamily="34" charset="0"/>
              </a:rPr>
              <a:t>Everything we used is public and cited — physics from the 1950s–80s, field facts from Oil India and SPE, benchmarks from California's regulator.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7411" name="FD_R"/>
          <p:cNvSpPr/>
          <p:nvPr/>
        </p:nvSpPr>
        <p:spPr>
          <a:xfrm>
            <a:off x="292608" y="1755648"/>
            <a:ext cx="11695176" cy="3200400"/>
          </a:xfrm>
          <a:prstGeom prst="roundRect">
            <a:avLst>
              <a:gd name="adj" fmla="val 3428"/>
            </a:avLst>
          </a:prstGeom>
          <a:solidFill>
            <a:srgbClr val="F6F8FC"/>
          </a:solidFill>
          <a:ln w="19050">
            <a:solidFill>
              <a:srgbClr val="1F497D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2" name="FD_R_hdr"/>
          <p:cNvSpPr/>
          <p:nvPr/>
        </p:nvSpPr>
        <p:spPr>
          <a:xfrm>
            <a:off x="292608" y="1755648"/>
            <a:ext cx="11695176" cy="530352"/>
          </a:xfrm>
          <a:prstGeom prst="round2SameRect">
            <a:avLst>
              <a:gd name="adj1" fmla="val 20689"/>
              <a:gd name="adj2" fmla="val 0"/>
            </a:avLst>
          </a:prstGeom>
          <a:solidFill>
            <a:srgbClr val="1F497D"/>
          </a:solidFill>
          <a:ln>
            <a:noFill/>
          </a:ln>
        </p:spPr>
        <p:txBody>
          <a:bodyPr rtlCol="0" anchor="ctr" wrap="square" lIns="73152" tIns="0" rIns="73152" bIns="0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3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Details / Links of the reference and research work</a:t>
            </a:r>
            <a:endParaRPr lang="en-IN" sz="1300" dirty="0"/>
          </a:p>
        </p:txBody>
      </p:sp>
      <p:sp>
        <p:nvSpPr>
          <p:cNvPr id="17413" name="FD_K"/>
          <p:cNvSpPr/>
          <p:nvPr/>
        </p:nvSpPr>
        <p:spPr>
          <a:xfrm>
            <a:off x="292608" y="5065776"/>
            <a:ext cx="11695176" cy="758952"/>
          </a:xfrm>
          <a:prstGeom prst="roundRect">
            <a:avLst>
              <a:gd name="adj" fmla="val 12048"/>
            </a:avLst>
          </a:prstGeom>
          <a:solidFill>
            <a:srgbClr val="F9F7FD"/>
          </a:solidFill>
          <a:ln w="15875">
            <a:solidFill>
              <a:srgbClr val="5B3FA0"/>
            </a:solidFill>
            <a:round/>
          </a:ln>
        </p:spPr>
        <p:txBody>
          <a:bodyPr rtlCol="0" anchor="t" wrap="square" lIns="45720" tIns="18288" rIns="36576" bIns="9144">
            <a:noAutofit/>
          </a:bodyPr>
          <a:lstStyle/>
          <a:p/>
        </p:txBody>
      </p:sp>
      <p:sp>
        <p:nvSpPr>
          <p:cNvPr id="17414" name="FD_K_hdr"/>
          <p:cNvSpPr/>
          <p:nvPr/>
        </p:nvSpPr>
        <p:spPr>
          <a:xfrm>
            <a:off x="292608" y="5065776"/>
            <a:ext cx="11695176" cy="246888"/>
          </a:xfrm>
          <a:prstGeom prst="round2SameRect">
            <a:avLst>
              <a:gd name="adj1" fmla="val 37037"/>
              <a:gd name="adj2" fmla="val 0"/>
            </a:avLst>
          </a:prstGeom>
          <a:solidFill>
            <a:srgbClr val="5B3FA0"/>
          </a:solidFill>
          <a:ln>
            <a:noFill/>
          </a:ln>
        </p:spPr>
        <p:txBody>
          <a:bodyPr rtlCol="0" anchor="ctr" wrap="square" lIns="109728" tIns="0" rIns="54864" bIns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200" dirty="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Links (fill in before submission)</a:t>
            </a:r>
            <a:endParaRPr lang="en-IN" sz="1200" dirty="0"/>
          </a:p>
        </p:txBody>
      </p:sp>
      <p:sp>
        <p:nvSpPr>
          <p:cNvPr id="17415" name="FD_R00"/>
          <p:cNvSpPr/>
          <p:nvPr/>
        </p:nvSpPr>
        <p:spPr>
          <a:xfrm>
            <a:off x="384048" y="2377440"/>
            <a:ext cx="571042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1F497D"/>
            </a:solidFill>
            <a:round/>
          </a:ln>
        </p:spPr>
        <p:txBody>
          <a:bodyPr rtlCol="0" anchor="ctr" wrap="square" lIns="73152" tIns="9144" rIns="54864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Marx &amp; Langenheim (1959). Reservoir heating by hot fluid injection. Trans. AIME 216.</a:t>
            </a:r>
            <a:endParaRPr lang="en-IN" sz="9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dirty="0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  <a:hlinkClick r:id="rId7"/>
              </a:rPr>
              <a:t>https://doi.org/10.2118/1266-G</a:t>
            </a:r>
            <a:endParaRPr lang="en-IN" sz="800" dirty="0"/>
          </a:p>
        </p:txBody>
      </p:sp>
      <p:sp>
        <p:nvSpPr>
          <p:cNvPr id="17416" name="FD_R01"/>
          <p:cNvSpPr/>
          <p:nvPr/>
        </p:nvSpPr>
        <p:spPr>
          <a:xfrm>
            <a:off x="384048" y="2798064"/>
            <a:ext cx="571042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1F497D"/>
            </a:solidFill>
            <a:round/>
          </a:ln>
        </p:spPr>
        <p:txBody>
          <a:bodyPr rtlCol="0" anchor="ctr" wrap="square" lIns="73152" tIns="9144" rIns="54864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Boberg &amp; Lantz (1966). Thermally stimulated well rate — via SPE PEH ch. 15 (Prats).</a:t>
            </a:r>
            <a:endParaRPr lang="en-IN" sz="9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dirty="0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  <a:hlinkClick r:id="rId8"/>
              </a:rPr>
              <a:t>https://petrowiki.org/PEH:Thermal_Recovery_by_Steam_Injection</a:t>
            </a:r>
            <a:endParaRPr lang="en-IN" sz="800" dirty="0"/>
          </a:p>
        </p:txBody>
      </p:sp>
      <p:sp>
        <p:nvSpPr>
          <p:cNvPr id="17417" name="FD_R02"/>
          <p:cNvSpPr/>
          <p:nvPr/>
        </p:nvSpPr>
        <p:spPr>
          <a:xfrm>
            <a:off x="384048" y="3218688"/>
            <a:ext cx="571042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1F497D"/>
            </a:solidFill>
            <a:round/>
          </a:ln>
        </p:spPr>
        <p:txBody>
          <a:bodyPr rtlCol="0" anchor="ctr" wrap="square" lIns="73152" tIns="9144" rIns="54864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Vogel (1968). Inflow performance relationships for solution-gas drive wells. JPT.</a:t>
            </a:r>
            <a:endParaRPr lang="en-IN" sz="9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dirty="0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  <a:hlinkClick r:id="rId9"/>
              </a:rPr>
              <a:t>https://onepetro.org/JPT/article/20/01/83/163252</a:t>
            </a:r>
            <a:endParaRPr lang="en-IN" sz="800" dirty="0"/>
          </a:p>
        </p:txBody>
      </p:sp>
      <p:sp>
        <p:nvSpPr>
          <p:cNvPr id="17418" name="FD_R03"/>
          <p:cNvSpPr/>
          <p:nvPr/>
        </p:nvSpPr>
        <p:spPr>
          <a:xfrm>
            <a:off x="384048" y="3639312"/>
            <a:ext cx="571042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1F497D"/>
            </a:solidFill>
            <a:round/>
          </a:ln>
        </p:spPr>
        <p:txBody>
          <a:bodyPr rtlCol="0" anchor="ctr" wrap="square" lIns="73152" tIns="9144" rIns="54864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Gibbs (1963). Predicting the behavior of sucker-rod pumping systems. JPT 15.</a:t>
            </a:r>
            <a:endParaRPr lang="en-IN" sz="9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dirty="0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  <a:hlinkClick r:id="rId10"/>
              </a:rPr>
              <a:t>https://doi.org/10.2118/588-PA</a:t>
            </a:r>
            <a:endParaRPr lang="en-IN" sz="800" dirty="0"/>
          </a:p>
        </p:txBody>
      </p:sp>
      <p:sp>
        <p:nvSpPr>
          <p:cNvPr id="17419" name="FD_R04"/>
          <p:cNvSpPr/>
          <p:nvPr/>
        </p:nvSpPr>
        <p:spPr>
          <a:xfrm>
            <a:off x="384048" y="4059936"/>
            <a:ext cx="571042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1F497D"/>
            </a:solidFill>
            <a:round/>
          </a:ln>
        </p:spPr>
        <p:txBody>
          <a:bodyPr rtlCol="0" anchor="ctr" wrap="square" lIns="73152" tIns="9144" rIns="54864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ASTM D341 viscosity–temperature charts (Walther); Pal &amp; Rhodes (1989) emulsions.</a:t>
            </a:r>
            <a:endParaRPr lang="en-IN" sz="9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dirty="0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  <a:hlinkClick r:id="rId11"/>
              </a:rPr>
              <a:t>https://www.astm.org/Standards/D341.htm</a:t>
            </a:r>
            <a:endParaRPr lang="en-IN" sz="800" dirty="0"/>
          </a:p>
        </p:txBody>
      </p:sp>
      <p:sp>
        <p:nvSpPr>
          <p:cNvPr id="17420" name="FD_R05"/>
          <p:cNvSpPr/>
          <p:nvPr/>
        </p:nvSpPr>
        <p:spPr>
          <a:xfrm>
            <a:off x="384048" y="4480560"/>
            <a:ext cx="571042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1F497D"/>
            </a:solidFill>
            <a:round/>
          </a:ln>
        </p:spPr>
        <p:txBody>
          <a:bodyPr rtlCol="0" anchor="ctr" wrap="square" lIns="73152" tIns="9144" rIns="54864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API Spec 11E / RP 11L — pumping-unit ratings and rod-string design.</a:t>
            </a:r>
            <a:endParaRPr lang="en-IN" sz="9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dirty="0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  <a:hlinkClick r:id="rId12"/>
              </a:rPr>
              <a:t>https://www.api.org/products-and-services/standards</a:t>
            </a:r>
            <a:endParaRPr lang="en-IN" sz="800" dirty="0"/>
          </a:p>
        </p:txBody>
      </p:sp>
      <p:sp>
        <p:nvSpPr>
          <p:cNvPr id="17421" name="FD_R10"/>
          <p:cNvSpPr/>
          <p:nvPr/>
        </p:nvSpPr>
        <p:spPr>
          <a:xfrm>
            <a:off x="6185916" y="2377440"/>
            <a:ext cx="571042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1F497D"/>
            </a:solidFill>
            <a:round/>
          </a:ln>
        </p:spPr>
        <p:txBody>
          <a:bodyPr rtlCol="0" anchor="ctr" wrap="square" lIns="73152" tIns="9144" rIns="54864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SPE-23APOG-535203 (2023). Baghewala heavy oil: depth, API, viscosity, heater case.</a:t>
            </a:r>
            <a:endParaRPr lang="en-IN" sz="9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dirty="0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  <a:hlinkClick r:id="rId13"/>
              </a:rPr>
              <a:t>https://onepetro.org/SPEAPOG/proceedings-abstract/23APOG/2-23APOG/535203</a:t>
            </a:r>
            <a:endParaRPr lang="en-IN" sz="800" dirty="0"/>
          </a:p>
        </p:txBody>
      </p:sp>
      <p:sp>
        <p:nvSpPr>
          <p:cNvPr id="17422" name="FD_R11"/>
          <p:cNvSpPr/>
          <p:nvPr/>
        </p:nvSpPr>
        <p:spPr>
          <a:xfrm>
            <a:off x="6185916" y="2798064"/>
            <a:ext cx="571042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1F497D"/>
            </a:solidFill>
            <a:round/>
          </a:ln>
        </p:spPr>
        <p:txBody>
          <a:bodyPr rtlCol="0" anchor="ctr" wrap="square" lIns="73152" tIns="9144" rIns="54864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Yasin et al. (2022). Scientific Reports 12:11086 — Baghewala-1 reservoir properties.</a:t>
            </a:r>
            <a:endParaRPr lang="en-IN" sz="9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dirty="0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  <a:hlinkClick r:id="rId14"/>
              </a:rPr>
              <a:t>https://doi.org/10.1038/s41598-022-14831-5</a:t>
            </a:r>
            <a:endParaRPr lang="en-IN" sz="800" dirty="0"/>
          </a:p>
        </p:txBody>
      </p:sp>
      <p:sp>
        <p:nvSpPr>
          <p:cNvPr id="17423" name="FD_R12"/>
          <p:cNvSpPr/>
          <p:nvPr/>
        </p:nvSpPr>
        <p:spPr>
          <a:xfrm>
            <a:off x="6185916" y="3218688"/>
            <a:ext cx="571042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1F497D"/>
            </a:solidFill>
            <a:round/>
          </a:ln>
        </p:spPr>
        <p:txBody>
          <a:bodyPr rtlCol="0" anchor="ctr" wrap="square" lIns="73152" tIns="9144" rIns="54864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Oil India Ltd — Rajasthan fields (BGW-8 CSS); investor presentation (realised price).</a:t>
            </a:r>
            <a:endParaRPr lang="en-IN" sz="9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dirty="0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  <a:hlinkClick r:id="rId15"/>
              </a:rPr>
              <a:t>https://www.oil-india.com/rajasthan-fields</a:t>
            </a:r>
            <a:endParaRPr lang="en-IN" sz="800" dirty="0"/>
          </a:p>
        </p:txBody>
      </p:sp>
      <p:sp>
        <p:nvSpPr>
          <p:cNvPr id="17424" name="FD_R13"/>
          <p:cNvSpPr/>
          <p:nvPr/>
        </p:nvSpPr>
        <p:spPr>
          <a:xfrm>
            <a:off x="6185916" y="3639312"/>
            <a:ext cx="571042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1F497D"/>
            </a:solidFill>
            <a:round/>
          </a:ln>
        </p:spPr>
        <p:txBody>
          <a:bodyPr rtlCol="0" anchor="ctr" wrap="square" lIns="73152" tIns="9144" rIns="54864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CalGEM (2021). Annual Report of the State Oil &amp; Gas Supervisor — field steam-oil ratios.</a:t>
            </a:r>
            <a:endParaRPr lang="en-IN" sz="9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dirty="0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  <a:hlinkClick r:id="rId16"/>
              </a:rPr>
              <a:t>https://www.conservation.ca.gov/calgem/Documents/2021%20CalGEM%20Supervisor%20Annual%20Report.pdf</a:t>
            </a:r>
            <a:endParaRPr lang="en-IN" sz="800" dirty="0"/>
          </a:p>
        </p:txBody>
      </p:sp>
      <p:sp>
        <p:nvSpPr>
          <p:cNvPr id="17425" name="FD_R14"/>
          <p:cNvSpPr/>
          <p:nvPr/>
        </p:nvSpPr>
        <p:spPr>
          <a:xfrm>
            <a:off x="6185916" y="4059936"/>
            <a:ext cx="571042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1F497D"/>
            </a:solidFill>
            <a:round/>
          </a:ln>
        </p:spPr>
        <p:txBody>
          <a:bodyPr rtlCol="0" anchor="ctr" wrap="square" lIns="73152" tIns="9144" rIns="54864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Inside Climate News (2022) mirror of CalGEM injection data — 9,692 cyclic-steam records.</a:t>
            </a:r>
            <a:endParaRPr lang="en-IN" sz="9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dirty="0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  <a:hlinkClick r:id="rId17"/>
              </a:rPr>
              <a:t>https://github.com/InsideClimateNews/2022-09-ca-kern-oil-water</a:t>
            </a:r>
            <a:endParaRPr lang="en-IN" sz="800" dirty="0"/>
          </a:p>
        </p:txBody>
      </p:sp>
      <p:sp>
        <p:nvSpPr>
          <p:cNvPr id="17426" name="FD_R15"/>
          <p:cNvSpPr/>
          <p:nvPr/>
        </p:nvSpPr>
        <p:spPr>
          <a:xfrm>
            <a:off x="6185916" y="4480560"/>
            <a:ext cx="5710428" cy="36576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1F497D"/>
            </a:solidFill>
            <a:round/>
          </a:ln>
        </p:spPr>
        <p:txBody>
          <a:bodyPr rtlCol="0" anchor="ctr" wrap="square" lIns="73152" tIns="9144" rIns="54864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9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Landscape: XSPOC, Lufkin SAM/SROD, ForeSite, AVEVA — none couples CSS with the pump.</a:t>
            </a:r>
            <a:endParaRPr lang="en-IN" sz="9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800" dirty="0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  <a:hlinkClick r:id="rId18"/>
              </a:rPr>
              <a:t>https://www.lufkin.com/solutions-services/srod/</a:t>
            </a:r>
            <a:endParaRPr lang="en-IN" sz="800" dirty="0"/>
          </a:p>
        </p:txBody>
      </p:sp>
      <p:sp>
        <p:nvSpPr>
          <p:cNvPr id="17427" name="FD_K1"/>
          <p:cNvSpPr/>
          <p:nvPr/>
        </p:nvSpPr>
        <p:spPr>
          <a:xfrm>
            <a:off x="384048" y="5367528"/>
            <a:ext cx="3776472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5B3FA0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Live dashboard:</a:t>
            </a:r>
            <a:endParaRPr lang="en-IN" sz="10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https://  ________________</a:t>
            </a:r>
            <a:endParaRPr lang="en-IN" sz="1050" dirty="0"/>
          </a:p>
        </p:txBody>
      </p:sp>
      <p:sp>
        <p:nvSpPr>
          <p:cNvPr id="17428" name="FD_K2"/>
          <p:cNvSpPr/>
          <p:nvPr/>
        </p:nvSpPr>
        <p:spPr>
          <a:xfrm>
            <a:off x="4251960" y="5367528"/>
            <a:ext cx="3776472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5B3FA0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Demo video:</a:t>
            </a:r>
            <a:endParaRPr lang="en-IN" sz="10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https://  ________________</a:t>
            </a:r>
            <a:endParaRPr lang="en-IN" sz="1050" dirty="0"/>
          </a:p>
        </p:txBody>
      </p:sp>
      <p:sp>
        <p:nvSpPr>
          <p:cNvPr id="17429" name="FD_K3"/>
          <p:cNvSpPr/>
          <p:nvPr/>
        </p:nvSpPr>
        <p:spPr>
          <a:xfrm>
            <a:off x="8119872" y="5367528"/>
            <a:ext cx="3776472" cy="402336"/>
          </a:xfrm>
          <a:prstGeom prst="roundRect">
            <a:avLst>
              <a:gd name="adj" fmla="val 13636"/>
            </a:avLst>
          </a:prstGeom>
          <a:solidFill>
            <a:srgbClr val="FFFFFF"/>
          </a:solidFill>
          <a:ln w="9525">
            <a:solidFill>
              <a:srgbClr val="5B3FA0"/>
            </a:solidFill>
            <a:round/>
          </a:ln>
        </p:spPr>
        <p:txBody>
          <a:bodyPr rtlCol="0" anchor="ctr" wrap="square" lIns="457200" tIns="9144" rIns="45720" bIns="9144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GitHub repository:</a:t>
            </a:r>
            <a:endParaRPr lang="en-IN" sz="1050" dirty="0"/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https://  ________________</a:t>
            </a:r>
            <a:endParaRPr lang="en-IN" sz="1050" dirty="0"/>
          </a:p>
        </p:txBody>
      </p:sp>
      <p:sp>
        <p:nvSpPr>
          <p:cNvPr id="17430" name="FD_n"/>
          <p:cNvSpPr txBox="1"/>
          <p:nvPr/>
        </p:nvSpPr>
        <p:spPr>
          <a:xfrm>
            <a:off x="292608" y="5861304"/>
            <a:ext cx="11695176" cy="201168"/>
          </a:xfrm>
          <a:prstGeom prst="rect">
            <a:avLst/>
          </a:prstGeom>
          <a:noFill/>
        </p:spPr>
        <p:txBody>
          <a:bodyPr wrap="square" lIns="0" tIns="0" rIns="0" bIns="0" anchor="ctr" rtlCol="0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050" dirty="0" i="1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Every link is clickable in this PDF · full list with notes in the repository (docs/research/references.md)</a:t>
            </a:r>
            <a:endParaRPr lang="en-IN" sz="1050" dirty="0"/>
          </a:p>
        </p:txBody>
      </p:sp>
      <p:pic>
        <p:nvPicPr>
          <p:cNvPr id="17431" name="FD_K1_icon" descr="icon: ic_dashboard.sv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5404104"/>
            <a:ext cx="329184" cy="329184"/>
          </a:xfrm>
          <a:prstGeom prst="rect">
            <a:avLst/>
          </a:prstGeom>
        </p:spPr>
      </p:pic>
      <p:pic>
        <p:nvPicPr>
          <p:cNvPr id="17432" name="FD_K2_icon" descr="icon: ic_sensor.sv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5112" y="5404104"/>
            <a:ext cx="329184" cy="329184"/>
          </a:xfrm>
          <a:prstGeom prst="rect">
            <a:avLst/>
          </a:prstGeom>
        </p:spPr>
      </p:pic>
      <p:pic>
        <p:nvPicPr>
          <p:cNvPr id="17433" name="FD_K3_icon" descr="icon: ic_ai-chip.sv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3024" y="5404104"/>
            <a:ext cx="329184" cy="329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