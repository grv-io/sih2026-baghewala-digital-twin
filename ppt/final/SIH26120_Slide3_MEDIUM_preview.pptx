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0" r:id="rId4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Relationship Id="rId9" Type="http://schemas.openxmlformats.org/officeDocument/2006/relationships/image" Target="../media/image7.png"/><Relationship Id="rId10" Type="http://schemas.openxmlformats.org/officeDocument/2006/relationships/image" Target="../media/image8.png"/><Relationship Id="rId11" Type="http://schemas.openxmlformats.org/officeDocument/2006/relationships/image" Target="../media/image9.png"/><Relationship Id="rId12" Type="http://schemas.openxmlformats.org/officeDocument/2006/relationships/image" Target="../media/image10.png"/><Relationship Id="rId13" Type="http://schemas.openxmlformats.org/officeDocument/2006/relationships/image" Target="../media/image11.png"/><Relationship Id="rId14" Type="http://schemas.openxmlformats.org/officeDocument/2006/relationships/image" Target="../media/image12.png"/><Relationship Id="rId15" Type="http://schemas.openxmlformats.org/officeDocument/2006/relationships/image" Target="../media/image13.png"/></Relationships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502920" y="1133856"/>
            <a:ext cx="11247120" cy="7680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noAutofit/>
          </a:bodyPr>
          <a:lstStyle/>
          <a:p>
            <a:pPr marL="201168" indent="-201168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IN" sz="1400" dirty="0">
                <a:latin typeface="Arial" pitchFamily="34" charset="0"/>
                <a:ea typeface="Arial" pitchFamily="34" charset="0"/>
                <a:cs typeface="Arial" pitchFamily="34" charset="0"/>
                <a:sym typeface="Arial" pitchFamily="34" charset="0"/>
              </a:rPr>
              <a:t>Technologies to be used: Python 3.13 · NumPy / SciPy · pandas · scikit-learn · XGBoost · scikit-optimize · FastAPI · Plotly · pytest</a:t>
            </a:r>
          </a:p>
          <a:p>
            <a:pPr marL="201168" indent="-201168">
              <a:buFont typeface="Arial" panose="020B0604020202020204" pitchFamily="34" charset="0"/>
              <a:buChar char="•"/>
            </a:pPr>
            <a:r>
              <a:rPr lang="en-IN" sz="1400" dirty="0">
                <a:latin typeface="Arial" pitchFamily="34" charset="0"/>
                <a:ea typeface="Arial" pitchFamily="34" charset="0"/>
                <a:cs typeface="Arial" pitchFamily="34" charset="0"/>
                <a:sym typeface="Arial" pitchFamily="34" charset="0"/>
              </a:rPr>
              <a:t>Methodology and process for implementation: physics engine → 3,000 synthetic cycles → ML emulator → true-physics grid optimiser → dashboard → advisory set-points + operating rule to the operator (SCADA hook planned)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1" name="TM_S1"/>
          <p:cNvSpPr/>
          <p:nvPr/>
        </p:nvSpPr>
        <p:spPr>
          <a:xfrm>
            <a:off x="292608" y="2011680"/>
            <a:ext cx="2017166" cy="2720340"/>
          </a:xfrm>
          <a:prstGeom prst="roundRect">
            <a:avLst>
              <a:gd name="adj" fmla="val 5439"/>
            </a:avLst>
          </a:prstGeom>
          <a:solidFill>
            <a:srgbClr val="F6F8FC"/>
          </a:solidFill>
          <a:ln w="19050">
            <a:solidFill>
              <a:srgbClr val="1F497D"/>
            </a:solidFill>
            <a:round/>
          </a:ln>
        </p:spPr>
        <p:txBody>
          <a:bodyPr rtlCol="0" anchor="t" wrap="square" lIns="45720" tIns="18288" rIns="36576" bIns="9144">
            <a:noAutofit/>
          </a:bodyPr>
          <a:lstStyle/>
          <a:p/>
        </p:txBody>
      </p:sp>
      <p:sp>
        <p:nvSpPr>
          <p:cNvPr id="17412" name="TM_S1_hdr"/>
          <p:cNvSpPr/>
          <p:nvPr/>
        </p:nvSpPr>
        <p:spPr>
          <a:xfrm>
            <a:off x="292608" y="2011680"/>
            <a:ext cx="2017166" cy="347472"/>
          </a:xfrm>
          <a:prstGeom prst="round2SameRect">
            <a:avLst>
              <a:gd name="adj1" fmla="val 31578"/>
              <a:gd name="adj2" fmla="val 0"/>
            </a:avLst>
          </a:prstGeom>
          <a:solidFill>
            <a:srgbClr val="1F497D"/>
          </a:solidFill>
          <a:ln>
            <a:noFill/>
          </a:ln>
        </p:spPr>
        <p:txBody>
          <a:bodyPr rtlCol="0" anchor="ctr" wrap="square" lIns="54864" tIns="0" rIns="54864" bIns="0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500" dirty="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 · The well</a:t>
            </a:r>
            <a:endParaRPr lang="en-IN" sz="1500" dirty="0"/>
          </a:p>
        </p:txBody>
      </p:sp>
      <p:sp>
        <p:nvSpPr>
          <p:cNvPr id="17413" name="TM_S2"/>
          <p:cNvSpPr/>
          <p:nvPr/>
        </p:nvSpPr>
        <p:spPr>
          <a:xfrm>
            <a:off x="2712110" y="2011680"/>
            <a:ext cx="2017166" cy="2720340"/>
          </a:xfrm>
          <a:prstGeom prst="roundRect">
            <a:avLst>
              <a:gd name="adj" fmla="val 5439"/>
            </a:avLst>
          </a:prstGeom>
          <a:solidFill>
            <a:srgbClr val="FEF8F3"/>
          </a:solidFill>
          <a:ln w="19050">
            <a:solidFill>
              <a:srgbClr val="C55A11"/>
            </a:solidFill>
            <a:round/>
          </a:ln>
        </p:spPr>
        <p:txBody>
          <a:bodyPr rtlCol="0" anchor="t" wrap="square" lIns="45720" tIns="18288" rIns="36576" bIns="9144">
            <a:noAutofit/>
          </a:bodyPr>
          <a:lstStyle/>
          <a:p/>
        </p:txBody>
      </p:sp>
      <p:sp>
        <p:nvSpPr>
          <p:cNvPr id="17414" name="TM_S2_hdr"/>
          <p:cNvSpPr/>
          <p:nvPr/>
        </p:nvSpPr>
        <p:spPr>
          <a:xfrm>
            <a:off x="2712110" y="2011680"/>
            <a:ext cx="2017166" cy="347472"/>
          </a:xfrm>
          <a:prstGeom prst="round2SameRect">
            <a:avLst>
              <a:gd name="adj1" fmla="val 31578"/>
              <a:gd name="adj2" fmla="val 0"/>
            </a:avLst>
          </a:prstGeom>
          <a:solidFill>
            <a:srgbClr val="C55A11"/>
          </a:solidFill>
          <a:ln>
            <a:noFill/>
          </a:ln>
        </p:spPr>
        <p:txBody>
          <a:bodyPr rtlCol="0" anchor="ctr" wrap="square" lIns="54864" tIns="0" rIns="54864" bIns="0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500" dirty="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 · Digital twin</a:t>
            </a:r>
            <a:endParaRPr lang="en-IN" sz="1500" dirty="0"/>
          </a:p>
        </p:txBody>
      </p:sp>
      <p:sp>
        <p:nvSpPr>
          <p:cNvPr id="17415" name="TM_S3"/>
          <p:cNvSpPr/>
          <p:nvPr/>
        </p:nvSpPr>
        <p:spPr>
          <a:xfrm>
            <a:off x="5131613" y="2011680"/>
            <a:ext cx="2017166" cy="2720340"/>
          </a:xfrm>
          <a:prstGeom prst="roundRect">
            <a:avLst>
              <a:gd name="adj" fmla="val 5439"/>
            </a:avLst>
          </a:prstGeom>
          <a:solidFill>
            <a:srgbClr val="F6FBF6"/>
          </a:solidFill>
          <a:ln w="19050">
            <a:solidFill>
              <a:srgbClr val="2E7D32"/>
            </a:solidFill>
            <a:round/>
          </a:ln>
        </p:spPr>
        <p:txBody>
          <a:bodyPr rtlCol="0" anchor="t" wrap="square" lIns="45720" tIns="18288" rIns="36576" bIns="9144">
            <a:noAutofit/>
          </a:bodyPr>
          <a:lstStyle/>
          <a:p/>
        </p:txBody>
      </p:sp>
      <p:sp>
        <p:nvSpPr>
          <p:cNvPr id="17416" name="TM_S3_hdr"/>
          <p:cNvSpPr/>
          <p:nvPr/>
        </p:nvSpPr>
        <p:spPr>
          <a:xfrm>
            <a:off x="5131613" y="2011680"/>
            <a:ext cx="2017166" cy="347472"/>
          </a:xfrm>
          <a:prstGeom prst="round2SameRect">
            <a:avLst>
              <a:gd name="adj1" fmla="val 31578"/>
              <a:gd name="adj2" fmla="val 0"/>
            </a:avLst>
          </a:prstGeom>
          <a:solidFill>
            <a:srgbClr val="2E7D32"/>
          </a:solidFill>
          <a:ln>
            <a:noFill/>
          </a:ln>
        </p:spPr>
        <p:txBody>
          <a:bodyPr rtlCol="0" anchor="ctr" wrap="square" lIns="54864" tIns="0" rIns="54864" bIns="0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500" dirty="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 · Smart search</a:t>
            </a:r>
            <a:endParaRPr lang="en-IN" sz="1500" dirty="0"/>
          </a:p>
        </p:txBody>
      </p:sp>
      <p:sp>
        <p:nvSpPr>
          <p:cNvPr id="17417" name="TM_S4"/>
          <p:cNvSpPr/>
          <p:nvPr/>
        </p:nvSpPr>
        <p:spPr>
          <a:xfrm>
            <a:off x="7551115" y="2011680"/>
            <a:ext cx="2017166" cy="2720340"/>
          </a:xfrm>
          <a:prstGeom prst="roundRect">
            <a:avLst>
              <a:gd name="adj" fmla="val 5439"/>
            </a:avLst>
          </a:prstGeom>
          <a:solidFill>
            <a:srgbClr val="F9F7FD"/>
          </a:solidFill>
          <a:ln w="19050">
            <a:solidFill>
              <a:srgbClr val="5B3FA0"/>
            </a:solidFill>
            <a:round/>
          </a:ln>
        </p:spPr>
        <p:txBody>
          <a:bodyPr rtlCol="0" anchor="t" wrap="square" lIns="45720" tIns="18288" rIns="36576" bIns="9144">
            <a:noAutofit/>
          </a:bodyPr>
          <a:lstStyle/>
          <a:p/>
        </p:txBody>
      </p:sp>
      <p:sp>
        <p:nvSpPr>
          <p:cNvPr id="17418" name="TM_S4_hdr"/>
          <p:cNvSpPr/>
          <p:nvPr/>
        </p:nvSpPr>
        <p:spPr>
          <a:xfrm>
            <a:off x="7551115" y="2011680"/>
            <a:ext cx="2017166" cy="347472"/>
          </a:xfrm>
          <a:prstGeom prst="round2SameRect">
            <a:avLst>
              <a:gd name="adj1" fmla="val 31578"/>
              <a:gd name="adj2" fmla="val 0"/>
            </a:avLst>
          </a:prstGeom>
          <a:solidFill>
            <a:srgbClr val="5B3FA0"/>
          </a:solidFill>
          <a:ln>
            <a:noFill/>
          </a:ln>
        </p:spPr>
        <p:txBody>
          <a:bodyPr rtlCol="0" anchor="ctr" wrap="square" lIns="54864" tIns="0" rIns="54864" bIns="0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500" dirty="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 · Dashboard</a:t>
            </a:r>
            <a:endParaRPr lang="en-IN" sz="1500" dirty="0"/>
          </a:p>
        </p:txBody>
      </p:sp>
      <p:sp>
        <p:nvSpPr>
          <p:cNvPr id="17419" name="TM_S5"/>
          <p:cNvSpPr/>
          <p:nvPr/>
        </p:nvSpPr>
        <p:spPr>
          <a:xfrm>
            <a:off x="9970618" y="2011680"/>
            <a:ext cx="2017166" cy="2720340"/>
          </a:xfrm>
          <a:prstGeom prst="roundRect">
            <a:avLst>
              <a:gd name="adj" fmla="val 5439"/>
            </a:avLst>
          </a:prstGeom>
          <a:solidFill>
            <a:srgbClr val="F6F8FC"/>
          </a:solidFill>
          <a:ln w="19050">
            <a:solidFill>
              <a:srgbClr val="1F497D"/>
            </a:solidFill>
            <a:round/>
          </a:ln>
        </p:spPr>
        <p:txBody>
          <a:bodyPr rtlCol="0" anchor="t" wrap="square" lIns="45720" tIns="18288" rIns="36576" bIns="9144">
            <a:noAutofit/>
          </a:bodyPr>
          <a:lstStyle/>
          <a:p/>
        </p:txBody>
      </p:sp>
      <p:sp>
        <p:nvSpPr>
          <p:cNvPr id="17420" name="TM_S5_hdr"/>
          <p:cNvSpPr/>
          <p:nvPr/>
        </p:nvSpPr>
        <p:spPr>
          <a:xfrm>
            <a:off x="9970618" y="2011680"/>
            <a:ext cx="2017166" cy="347472"/>
          </a:xfrm>
          <a:prstGeom prst="round2SameRect">
            <a:avLst>
              <a:gd name="adj1" fmla="val 31578"/>
              <a:gd name="adj2" fmla="val 0"/>
            </a:avLst>
          </a:prstGeom>
          <a:solidFill>
            <a:srgbClr val="1F497D"/>
          </a:solidFill>
          <a:ln>
            <a:noFill/>
          </a:ln>
        </p:spPr>
        <p:txBody>
          <a:bodyPr rtlCol="0" anchor="ctr" wrap="square" lIns="54864" tIns="0" rIns="54864" bIns="0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500" dirty="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 · Operator</a:t>
            </a:r>
            <a:endParaRPr lang="en-IN" sz="1500" dirty="0"/>
          </a:p>
        </p:txBody>
      </p:sp>
      <p:sp>
        <p:nvSpPr>
          <p:cNvPr id="17421" name="TM_G"/>
          <p:cNvSpPr/>
          <p:nvPr/>
        </p:nvSpPr>
        <p:spPr>
          <a:xfrm>
            <a:off x="292608" y="5216652"/>
            <a:ext cx="6620256" cy="804672"/>
          </a:xfrm>
          <a:prstGeom prst="roundRect">
            <a:avLst>
              <a:gd name="adj" fmla="val 11363"/>
            </a:avLst>
          </a:prstGeom>
          <a:solidFill>
            <a:srgbClr val="F6F8FC"/>
          </a:solidFill>
          <a:ln w="15875">
            <a:solidFill>
              <a:srgbClr val="1F497D"/>
            </a:solidFill>
            <a:round/>
          </a:ln>
        </p:spPr>
        <p:txBody>
          <a:bodyPr rtlCol="0" anchor="t" wrap="square" lIns="45720" tIns="18288" rIns="36576" bIns="9144">
            <a:noAutofit/>
          </a:bodyPr>
          <a:lstStyle/>
          <a:p/>
        </p:txBody>
      </p:sp>
      <p:sp>
        <p:nvSpPr>
          <p:cNvPr id="17422" name="TM_G_hdr"/>
          <p:cNvSpPr/>
          <p:nvPr/>
        </p:nvSpPr>
        <p:spPr>
          <a:xfrm>
            <a:off x="292608" y="5216652"/>
            <a:ext cx="6620256" cy="246888"/>
          </a:xfrm>
          <a:prstGeom prst="round2SameRect">
            <a:avLst>
              <a:gd name="adj1" fmla="val 37037"/>
              <a:gd name="adj2" fmla="val 0"/>
            </a:avLst>
          </a:prstGeom>
          <a:solidFill>
            <a:srgbClr val="1F497D"/>
          </a:solidFill>
          <a:ln>
            <a:noFill/>
          </a:ln>
        </p:spPr>
        <p:txBody>
          <a:bodyPr rtlCol="0" anchor="ctr" wrap="square" lIns="109728" tIns="0" rIns="54864" bIns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 dirty="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What the operator gets</a:t>
            </a:r>
            <a:endParaRPr lang="en-IN" sz="1200" dirty="0"/>
          </a:p>
        </p:txBody>
      </p:sp>
      <p:sp>
        <p:nvSpPr>
          <p:cNvPr id="17423" name="TM_L"/>
          <p:cNvSpPr/>
          <p:nvPr/>
        </p:nvSpPr>
        <p:spPr>
          <a:xfrm>
            <a:off x="7278624" y="5216652"/>
            <a:ext cx="4709160" cy="804672"/>
          </a:xfrm>
          <a:prstGeom prst="roundRect">
            <a:avLst>
              <a:gd name="adj" fmla="val 11363"/>
            </a:avLst>
          </a:prstGeom>
          <a:solidFill>
            <a:srgbClr val="F6FBF6"/>
          </a:solidFill>
          <a:ln w="15875">
            <a:solidFill>
              <a:srgbClr val="2E7D32"/>
            </a:solidFill>
            <a:round/>
          </a:ln>
        </p:spPr>
        <p:txBody>
          <a:bodyPr rtlCol="0" anchor="t" wrap="square" lIns="45720" tIns="18288" rIns="36576" bIns="9144">
            <a:noAutofit/>
          </a:bodyPr>
          <a:lstStyle/>
          <a:p/>
        </p:txBody>
      </p:sp>
      <p:sp>
        <p:nvSpPr>
          <p:cNvPr id="17424" name="TM_L_hdr"/>
          <p:cNvSpPr/>
          <p:nvPr/>
        </p:nvSpPr>
        <p:spPr>
          <a:xfrm>
            <a:off x="7278624" y="5216652"/>
            <a:ext cx="4709160" cy="246888"/>
          </a:xfrm>
          <a:prstGeom prst="round2SameRect">
            <a:avLst>
              <a:gd name="adj1" fmla="val 37037"/>
              <a:gd name="adj2" fmla="val 0"/>
            </a:avLst>
          </a:prstGeom>
          <a:solidFill>
            <a:srgbClr val="2E7D32"/>
          </a:solidFill>
          <a:ln>
            <a:noFill/>
          </a:ln>
        </p:spPr>
        <p:txBody>
          <a:bodyPr rtlCol="0" anchor="ctr" wrap="square" lIns="109728" tIns="0" rIns="54864" bIns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 dirty="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What it leads to</a:t>
            </a:r>
            <a:endParaRPr lang="en-IN" sz="1200" dirty="0"/>
          </a:p>
        </p:txBody>
      </p:sp>
      <p:sp>
        <p:nvSpPr>
          <p:cNvPr id="17425" name="TM_S1_disc"/>
          <p:cNvSpPr/>
          <p:nvPr/>
        </p:nvSpPr>
        <p:spPr>
          <a:xfrm>
            <a:off x="871423" y="2414016"/>
            <a:ext cx="859536" cy="8595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F497D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426" name="TM_S2_disc"/>
          <p:cNvSpPr/>
          <p:nvPr/>
        </p:nvSpPr>
        <p:spPr>
          <a:xfrm>
            <a:off x="3290926" y="2414016"/>
            <a:ext cx="859536" cy="8595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55A11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427" name="TM_S3_disc"/>
          <p:cNvSpPr/>
          <p:nvPr/>
        </p:nvSpPr>
        <p:spPr>
          <a:xfrm>
            <a:off x="5710428" y="2414016"/>
            <a:ext cx="859536" cy="8595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E7D32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428" name="TM_S4_disc"/>
          <p:cNvSpPr/>
          <p:nvPr/>
        </p:nvSpPr>
        <p:spPr>
          <a:xfrm>
            <a:off x="8129930" y="2414016"/>
            <a:ext cx="859536" cy="8595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5B3FA0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429" name="TM_S5_disc"/>
          <p:cNvSpPr/>
          <p:nvPr/>
        </p:nvSpPr>
        <p:spPr>
          <a:xfrm>
            <a:off x="10549433" y="2414016"/>
            <a:ext cx="859536" cy="8595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F497D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7430" name="TM_arrow00_S1_S2"/>
          <p:cNvCxnSpPr/>
          <p:nvPr/>
        </p:nvCxnSpPr>
        <p:spPr>
          <a:xfrm>
            <a:off x="2355494" y="2843784"/>
            <a:ext cx="310896" cy="0"/>
          </a:xfrm>
          <a:prstGeom prst="line">
            <a:avLst/>
          </a:prstGeom>
          <a:ln w="50800">
            <a:solidFill>
              <a:srgbClr val="595959"/>
            </a:solidFill>
            <a:round/>
            <a:tailEnd type="triangle" w="med" len="med"/>
          </a:ln>
        </p:spPr>
      </p:cxnSp>
      <p:cxnSp>
        <p:nvCxnSpPr>
          <p:cNvPr id="17431" name="TM_arrow01_S2_S3"/>
          <p:cNvCxnSpPr/>
          <p:nvPr/>
        </p:nvCxnSpPr>
        <p:spPr>
          <a:xfrm>
            <a:off x="4774997" y="2843784"/>
            <a:ext cx="310896" cy="0"/>
          </a:xfrm>
          <a:prstGeom prst="line">
            <a:avLst/>
          </a:prstGeom>
          <a:ln w="50800">
            <a:solidFill>
              <a:srgbClr val="595959"/>
            </a:solidFill>
            <a:round/>
            <a:tailEnd type="triangle" w="med" len="med"/>
          </a:ln>
        </p:spPr>
      </p:cxnSp>
      <p:cxnSp>
        <p:nvCxnSpPr>
          <p:cNvPr id="17432" name="TM_arrow02_S3_S4"/>
          <p:cNvCxnSpPr/>
          <p:nvPr/>
        </p:nvCxnSpPr>
        <p:spPr>
          <a:xfrm>
            <a:off x="7194499" y="2843784"/>
            <a:ext cx="310896" cy="0"/>
          </a:xfrm>
          <a:prstGeom prst="line">
            <a:avLst/>
          </a:prstGeom>
          <a:ln w="50800">
            <a:solidFill>
              <a:srgbClr val="595959"/>
            </a:solidFill>
            <a:round/>
            <a:tailEnd type="triangle" w="med" len="med"/>
          </a:ln>
        </p:spPr>
      </p:cxnSp>
      <p:cxnSp>
        <p:nvCxnSpPr>
          <p:cNvPr id="17433" name="TM_arrow03_S4_S5"/>
          <p:cNvCxnSpPr/>
          <p:nvPr/>
        </p:nvCxnSpPr>
        <p:spPr>
          <a:xfrm>
            <a:off x="9614002" y="2843784"/>
            <a:ext cx="310896" cy="0"/>
          </a:xfrm>
          <a:prstGeom prst="line">
            <a:avLst/>
          </a:prstGeom>
          <a:ln w="50800">
            <a:solidFill>
              <a:srgbClr val="595959"/>
            </a:solidFill>
            <a:round/>
            <a:tailEnd type="triangle" w="med" len="med"/>
          </a:ln>
        </p:spPr>
      </p:cxnSp>
      <p:sp>
        <p:nvSpPr>
          <p:cNvPr id="2" name="TM_loop04_S5_S2"/>
          <p:cNvSpPr/>
          <p:nvPr/>
        </p:nvSpPr>
        <p:spPr>
          <a:xfrm>
            <a:off x="3720694" y="4732020"/>
            <a:ext cx="7258507" cy="182880"/>
          </a:xfrm>
          <a:custGeom>
            <a:avLst/>
            <a:gdLst/>
            <a:ahLst/>
            <a:cxnLst/>
            <a:rect l="l" t="t" r="r" b="b"/>
            <a:pathLst>
              <a:path w="7258507" h="182880">
                <a:moveTo>
                  <a:pt x="7258507" y="0"/>
                </a:moveTo>
                <a:lnTo>
                  <a:pt x="7258507" y="182880"/>
                </a:lnTo>
                <a:lnTo>
                  <a:pt x="0" y="182880"/>
                </a:lnTo>
                <a:lnTo>
                  <a:pt x="0" y="0"/>
                </a:lnTo>
              </a:path>
            </a:pathLst>
          </a:custGeom>
          <a:noFill/>
          <a:ln w="28575">
            <a:solidFill>
              <a:srgbClr val="404040"/>
            </a:solidFill>
            <a:prstDash val="dash"/>
            <a:round/>
            <a:tailEnd type="triangle" w="med" len="med"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7434" name="TM_arrow05_G_L"/>
          <p:cNvCxnSpPr/>
          <p:nvPr/>
        </p:nvCxnSpPr>
        <p:spPr>
          <a:xfrm>
            <a:off x="6958584" y="5737860"/>
            <a:ext cx="274320" cy="0"/>
          </a:xfrm>
          <a:prstGeom prst="line">
            <a:avLst/>
          </a:prstGeom>
          <a:ln w="50800">
            <a:solidFill>
              <a:srgbClr val="595959"/>
            </a:solidFill>
            <a:round/>
            <a:tailEnd type="triangle" w="med" len="med"/>
          </a:ln>
        </p:spPr>
      </p:cxnSp>
      <p:sp>
        <p:nvSpPr>
          <p:cNvPr id="17435" name="TM_S1_txt"/>
          <p:cNvSpPr txBox="1"/>
          <p:nvPr/>
        </p:nvSpPr>
        <p:spPr>
          <a:xfrm>
            <a:off x="365760" y="3319272"/>
            <a:ext cx="1870862" cy="566928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Oil India's heavy-oil well:</a:t>
            </a:r>
            <a:endParaRPr lang="en-IN" sz="1200" dirty="0"/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steam goes in,</a:t>
            </a:r>
            <a:endParaRPr lang="en-IN" sz="1200" dirty="0"/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oil comes out.</a:t>
            </a:r>
            <a:endParaRPr lang="en-IN" sz="1200" dirty="0"/>
          </a:p>
        </p:txBody>
      </p:sp>
      <p:sp>
        <p:nvSpPr>
          <p:cNvPr id="17436" name="TM_S1_d1"/>
          <p:cNvSpPr/>
          <p:nvPr/>
        </p:nvSpPr>
        <p:spPr>
          <a:xfrm>
            <a:off x="356616" y="3931920"/>
            <a:ext cx="1889150" cy="214884"/>
          </a:xfrm>
          <a:prstGeom prst="roundRect">
            <a:avLst>
              <a:gd name="adj" fmla="val 21276"/>
            </a:avLst>
          </a:prstGeom>
          <a:solidFill>
            <a:srgbClr val="EAF0F8"/>
          </a:solidFill>
          <a:ln>
            <a:noFill/>
          </a:ln>
        </p:spPr>
        <p:txBody>
          <a:bodyPr rtlCol="0" anchor="ctr" wrap="square" lIns="54864" tIns="0" rIns="36576" bIns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95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Baghewala: 1,150 m, 11,500 cP</a:t>
            </a:r>
            <a:endParaRPr lang="en-IN" sz="950" dirty="0"/>
          </a:p>
        </p:txBody>
      </p:sp>
      <p:sp>
        <p:nvSpPr>
          <p:cNvPr id="17437" name="TM_S1_d2"/>
          <p:cNvSpPr/>
          <p:nvPr/>
        </p:nvSpPr>
        <p:spPr>
          <a:xfrm>
            <a:off x="356616" y="4192524"/>
            <a:ext cx="1889150" cy="214884"/>
          </a:xfrm>
          <a:prstGeom prst="roundRect">
            <a:avLst>
              <a:gd name="adj" fmla="val 21276"/>
            </a:avLst>
          </a:prstGeom>
          <a:solidFill>
            <a:srgbClr val="EAF0F8"/>
          </a:solidFill>
          <a:ln>
            <a:noFill/>
          </a:ln>
        </p:spPr>
        <p:txBody>
          <a:bodyPr rtlCol="0" anchor="ctr" wrap="square" lIns="54864" tIns="0" rIns="36576" bIns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95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Oil India cycle records (CSV)</a:t>
            </a:r>
            <a:endParaRPr lang="en-IN" sz="950" dirty="0"/>
          </a:p>
        </p:txBody>
      </p:sp>
      <p:sp>
        <p:nvSpPr>
          <p:cNvPr id="17438" name="TM_S1_d3"/>
          <p:cNvSpPr/>
          <p:nvPr/>
        </p:nvSpPr>
        <p:spPr>
          <a:xfrm>
            <a:off x="356616" y="4453128"/>
            <a:ext cx="1889150" cy="214884"/>
          </a:xfrm>
          <a:prstGeom prst="roundRect">
            <a:avLst>
              <a:gd name="adj" fmla="val 21276"/>
            </a:avLst>
          </a:prstGeom>
          <a:solidFill>
            <a:srgbClr val="EAF0F8"/>
          </a:solidFill>
          <a:ln>
            <a:noFill/>
          </a:ln>
        </p:spPr>
        <p:txBody>
          <a:bodyPr rtlCol="0" anchor="ctr" wrap="square" lIns="54864" tIns="0" rIns="36576" bIns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95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Checked vs 9,692 real cycles</a:t>
            </a:r>
            <a:endParaRPr lang="en-IN" sz="950" dirty="0"/>
          </a:p>
        </p:txBody>
      </p:sp>
      <p:sp>
        <p:nvSpPr>
          <p:cNvPr id="17439" name="TM_S2_txt"/>
          <p:cNvSpPr txBox="1"/>
          <p:nvPr/>
        </p:nvSpPr>
        <p:spPr>
          <a:xfrm>
            <a:off x="2785262" y="3319272"/>
            <a:ext cx="1870862" cy="566928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A computer copy</a:t>
            </a:r>
            <a:endParaRPr lang="en-IN" sz="1200" dirty="0"/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of the well —</a:t>
            </a:r>
            <a:endParaRPr lang="en-IN" sz="1200" dirty="0"/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heat, thick oil, the pump.</a:t>
            </a:r>
            <a:endParaRPr lang="en-IN" sz="1200" dirty="0"/>
          </a:p>
        </p:txBody>
      </p:sp>
      <p:sp>
        <p:nvSpPr>
          <p:cNvPr id="17440" name="TM_S2_d1"/>
          <p:cNvSpPr/>
          <p:nvPr/>
        </p:nvSpPr>
        <p:spPr>
          <a:xfrm>
            <a:off x="2776118" y="3931920"/>
            <a:ext cx="1889150" cy="214884"/>
          </a:xfrm>
          <a:prstGeom prst="roundRect">
            <a:avLst>
              <a:gd name="adj" fmla="val 21276"/>
            </a:avLst>
          </a:prstGeom>
          <a:solidFill>
            <a:srgbClr val="FCEEE4"/>
          </a:solidFill>
          <a:ln>
            <a:noFill/>
          </a:ln>
        </p:spPr>
        <p:txBody>
          <a:bodyPr rtlCol="0" anchor="ctr" wrap="square" lIns="54864" tIns="0" rIns="36576" bIns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95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Heat flow (Marx–Langenheim)</a:t>
            </a:r>
            <a:endParaRPr lang="en-IN" sz="950" dirty="0"/>
          </a:p>
        </p:txBody>
      </p:sp>
      <p:sp>
        <p:nvSpPr>
          <p:cNvPr id="17441" name="TM_S2_d2"/>
          <p:cNvSpPr/>
          <p:nvPr/>
        </p:nvSpPr>
        <p:spPr>
          <a:xfrm>
            <a:off x="2776118" y="4192524"/>
            <a:ext cx="1889150" cy="214884"/>
          </a:xfrm>
          <a:prstGeom prst="roundRect">
            <a:avLst>
              <a:gd name="adj" fmla="val 21276"/>
            </a:avLst>
          </a:prstGeom>
          <a:solidFill>
            <a:srgbClr val="FCEEE4"/>
          </a:solidFill>
          <a:ln>
            <a:noFill/>
          </a:ln>
        </p:spPr>
        <p:txBody>
          <a:bodyPr rtlCol="0" anchor="ctr" wrap="square" lIns="54864" tIns="0" rIns="36576" bIns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95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Thick oil vs heat (Walther)</a:t>
            </a:r>
            <a:endParaRPr lang="en-IN" sz="950" dirty="0"/>
          </a:p>
        </p:txBody>
      </p:sp>
      <p:sp>
        <p:nvSpPr>
          <p:cNvPr id="17442" name="TM_S2_d3"/>
          <p:cNvSpPr/>
          <p:nvPr/>
        </p:nvSpPr>
        <p:spPr>
          <a:xfrm>
            <a:off x="2776118" y="4453128"/>
            <a:ext cx="1889150" cy="214884"/>
          </a:xfrm>
          <a:prstGeom prst="roundRect">
            <a:avLst>
              <a:gd name="adj" fmla="val 21276"/>
            </a:avLst>
          </a:prstGeom>
          <a:solidFill>
            <a:srgbClr val="FCEEE4"/>
          </a:solidFill>
          <a:ln>
            <a:noFill/>
          </a:ln>
        </p:spPr>
        <p:txBody>
          <a:bodyPr rtlCol="0" anchor="ctr" wrap="square" lIns="54864" tIns="0" rIns="36576" bIns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95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Rod loads + rod-float index</a:t>
            </a:r>
            <a:endParaRPr lang="en-IN" sz="950" dirty="0"/>
          </a:p>
        </p:txBody>
      </p:sp>
      <p:sp>
        <p:nvSpPr>
          <p:cNvPr id="17443" name="TM_S3_txt"/>
          <p:cNvSpPr txBox="1"/>
          <p:nvPr/>
        </p:nvSpPr>
        <p:spPr>
          <a:xfrm>
            <a:off x="5204765" y="3319272"/>
            <a:ext cx="1870862" cy="566928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Tries 53,000 settings</a:t>
            </a:r>
            <a:endParaRPr lang="en-IN" sz="1200" dirty="0"/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in 36 seconds,</a:t>
            </a:r>
            <a:endParaRPr lang="en-IN" sz="1200" dirty="0"/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keeps the safe ones.</a:t>
            </a:r>
            <a:endParaRPr lang="en-IN" sz="1200" dirty="0"/>
          </a:p>
        </p:txBody>
      </p:sp>
      <p:sp>
        <p:nvSpPr>
          <p:cNvPr id="17444" name="TM_S3_d1"/>
          <p:cNvSpPr/>
          <p:nvPr/>
        </p:nvSpPr>
        <p:spPr>
          <a:xfrm>
            <a:off x="5195621" y="3931920"/>
            <a:ext cx="1889150" cy="214884"/>
          </a:xfrm>
          <a:prstGeom prst="roundRect">
            <a:avLst>
              <a:gd name="adj" fmla="val 21276"/>
            </a:avLst>
          </a:prstGeom>
          <a:solidFill>
            <a:srgbClr val="E8F3E9"/>
          </a:solidFill>
          <a:ln>
            <a:noFill/>
          </a:ln>
        </p:spPr>
        <p:txBody>
          <a:bodyPr rtlCol="0" anchor="ctr" wrap="square" lIns="54864" tIns="0" rIns="36576" bIns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95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True-physics grid, 5 controls</a:t>
            </a:r>
            <a:endParaRPr lang="en-IN" sz="950" dirty="0"/>
          </a:p>
        </p:txBody>
      </p:sp>
      <p:sp>
        <p:nvSpPr>
          <p:cNvPr id="17445" name="TM_S3_d2"/>
          <p:cNvSpPr/>
          <p:nvPr/>
        </p:nvSpPr>
        <p:spPr>
          <a:xfrm>
            <a:off x="5195621" y="4192524"/>
            <a:ext cx="1889150" cy="214884"/>
          </a:xfrm>
          <a:prstGeom prst="roundRect">
            <a:avLst>
              <a:gd name="adj" fmla="val 21276"/>
            </a:avLst>
          </a:prstGeom>
          <a:solidFill>
            <a:srgbClr val="E8F3E9"/>
          </a:solidFill>
          <a:ln>
            <a:noFill/>
          </a:ln>
        </p:spPr>
        <p:txBody>
          <a:bodyPr rtlCol="0" anchor="ctr" wrap="square" lIns="54864" tIns="0" rIns="36576" bIns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95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Fast what-if model (XGBoost)</a:t>
            </a:r>
            <a:endParaRPr lang="en-IN" sz="950" dirty="0"/>
          </a:p>
        </p:txBody>
      </p:sp>
      <p:sp>
        <p:nvSpPr>
          <p:cNvPr id="17446" name="TM_S3_d3"/>
          <p:cNvSpPr/>
          <p:nvPr/>
        </p:nvSpPr>
        <p:spPr>
          <a:xfrm>
            <a:off x="5195621" y="4453128"/>
            <a:ext cx="1889150" cy="214884"/>
          </a:xfrm>
          <a:prstGeom prst="roundRect">
            <a:avLst>
              <a:gd name="adj" fmla="val 21276"/>
            </a:avLst>
          </a:prstGeom>
          <a:solidFill>
            <a:srgbClr val="E8F3E9"/>
          </a:solidFill>
          <a:ln>
            <a:noFill/>
          </a:ln>
        </p:spPr>
        <p:txBody>
          <a:bodyPr rtlCol="0" anchor="ctr" wrap="square" lIns="54864" tIns="0" rIns="36576" bIns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95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Best/worst case (Monte-Carlo)</a:t>
            </a:r>
            <a:endParaRPr lang="en-IN" sz="950" dirty="0"/>
          </a:p>
        </p:txBody>
      </p:sp>
      <p:sp>
        <p:nvSpPr>
          <p:cNvPr id="17447" name="TM_S4_txt"/>
          <p:cNvSpPr txBox="1"/>
          <p:nvPr/>
        </p:nvSpPr>
        <p:spPr>
          <a:xfrm>
            <a:off x="7624267" y="3319272"/>
            <a:ext cx="1870862" cy="566928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Shows the best plan</a:t>
            </a:r>
            <a:endParaRPr lang="en-IN" sz="1200" dirty="0"/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in plain words,</a:t>
            </a:r>
            <a:endParaRPr lang="en-IN" sz="1200" dirty="0"/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English and Hindi.</a:t>
            </a:r>
            <a:endParaRPr lang="en-IN" sz="1200" dirty="0"/>
          </a:p>
        </p:txBody>
      </p:sp>
      <p:sp>
        <p:nvSpPr>
          <p:cNvPr id="17448" name="TM_S4_d1"/>
          <p:cNvSpPr/>
          <p:nvPr/>
        </p:nvSpPr>
        <p:spPr>
          <a:xfrm>
            <a:off x="7615123" y="3931920"/>
            <a:ext cx="1889150" cy="214884"/>
          </a:xfrm>
          <a:prstGeom prst="roundRect">
            <a:avLst>
              <a:gd name="adj" fmla="val 21276"/>
            </a:avLst>
          </a:prstGeom>
          <a:solidFill>
            <a:srgbClr val="EEEAF7"/>
          </a:solidFill>
          <a:ln>
            <a:noFill/>
          </a:ln>
        </p:spPr>
        <p:txBody>
          <a:bodyPr rtlCol="0" anchor="ctr" wrap="square" lIns="54864" tIns="0" rIns="36576" bIns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95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4 pages, works offline</a:t>
            </a:r>
            <a:endParaRPr lang="en-IN" sz="950" dirty="0"/>
          </a:p>
        </p:txBody>
      </p:sp>
      <p:sp>
        <p:nvSpPr>
          <p:cNvPr id="17449" name="TM_S4_d2"/>
          <p:cNvSpPr/>
          <p:nvPr/>
        </p:nvSpPr>
        <p:spPr>
          <a:xfrm>
            <a:off x="7615123" y="4192524"/>
            <a:ext cx="1889150" cy="214884"/>
          </a:xfrm>
          <a:prstGeom prst="roundRect">
            <a:avLst>
              <a:gd name="adj" fmla="val 21276"/>
            </a:avLst>
          </a:prstGeom>
          <a:solidFill>
            <a:srgbClr val="EEEAF7"/>
          </a:solidFill>
          <a:ln>
            <a:noFill/>
          </a:ln>
        </p:spPr>
        <p:txBody>
          <a:bodyPr rtlCol="0" anchor="ctr" wrap="square" lIns="54864" tIns="0" rIns="36576" bIns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95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Computed pump card (dyno)</a:t>
            </a:r>
            <a:endParaRPr lang="en-IN" sz="950" dirty="0"/>
          </a:p>
        </p:txBody>
      </p:sp>
      <p:sp>
        <p:nvSpPr>
          <p:cNvPr id="17450" name="TM_S4_d3"/>
          <p:cNvSpPr/>
          <p:nvPr/>
        </p:nvSpPr>
        <p:spPr>
          <a:xfrm>
            <a:off x="7615123" y="4453128"/>
            <a:ext cx="1889150" cy="214884"/>
          </a:xfrm>
          <a:prstGeom prst="roundRect">
            <a:avLst>
              <a:gd name="adj" fmla="val 21276"/>
            </a:avLst>
          </a:prstGeom>
          <a:solidFill>
            <a:srgbClr val="EEEAF7"/>
          </a:solidFill>
          <a:ln>
            <a:noFill/>
          </a:ln>
        </p:spPr>
        <p:txBody>
          <a:bodyPr rtlCol="0" anchor="ctr" wrap="square" lIns="54864" tIns="0" rIns="36576" bIns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95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Upload records → twin learns</a:t>
            </a:r>
            <a:endParaRPr lang="en-IN" sz="950" dirty="0"/>
          </a:p>
        </p:txBody>
      </p:sp>
      <p:sp>
        <p:nvSpPr>
          <p:cNvPr id="17451" name="TM_S5_txt"/>
          <p:cNvSpPr txBox="1"/>
          <p:nvPr/>
        </p:nvSpPr>
        <p:spPr>
          <a:xfrm>
            <a:off x="10043770" y="3319272"/>
            <a:ext cx="1870862" cy="566928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Decides.</a:t>
            </a:r>
            <a:endParaRPr lang="en-IN" sz="1200" dirty="0"/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Nothing is sent</a:t>
            </a:r>
            <a:endParaRPr lang="en-IN" sz="1200" dirty="0"/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to the well automatically.</a:t>
            </a:r>
            <a:endParaRPr lang="en-IN" sz="1200" dirty="0"/>
          </a:p>
        </p:txBody>
      </p:sp>
      <p:sp>
        <p:nvSpPr>
          <p:cNvPr id="17452" name="TM_S5_d1"/>
          <p:cNvSpPr/>
          <p:nvPr/>
        </p:nvSpPr>
        <p:spPr>
          <a:xfrm>
            <a:off x="10034626" y="3931920"/>
            <a:ext cx="1889150" cy="214884"/>
          </a:xfrm>
          <a:prstGeom prst="roundRect">
            <a:avLst>
              <a:gd name="adj" fmla="val 21276"/>
            </a:avLst>
          </a:prstGeom>
          <a:solidFill>
            <a:srgbClr val="EAF0F8"/>
          </a:solidFill>
          <a:ln>
            <a:noFill/>
          </a:ln>
        </p:spPr>
        <p:txBody>
          <a:bodyPr rtlCol="0" anchor="ctr" wrap="square" lIns="54864" tIns="0" rIns="36576" bIns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95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5 settings, incl. stop rule</a:t>
            </a:r>
            <a:endParaRPr lang="en-IN" sz="950" dirty="0"/>
          </a:p>
        </p:txBody>
      </p:sp>
      <p:sp>
        <p:nvSpPr>
          <p:cNvPr id="17453" name="TM_S5_d2"/>
          <p:cNvSpPr/>
          <p:nvPr/>
        </p:nvSpPr>
        <p:spPr>
          <a:xfrm>
            <a:off x="10034626" y="4192524"/>
            <a:ext cx="1889150" cy="214884"/>
          </a:xfrm>
          <a:prstGeom prst="roundRect">
            <a:avLst>
              <a:gd name="adj" fmla="val 21276"/>
            </a:avLst>
          </a:prstGeom>
          <a:solidFill>
            <a:srgbClr val="EAF0F8"/>
          </a:solidFill>
          <a:ln>
            <a:noFill/>
          </a:ln>
        </p:spPr>
        <p:txBody>
          <a:bodyPr rtlCol="0" anchor="ctr" wrap="square" lIns="54864" tIns="0" rIns="36576" bIns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95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Review, confirm, then load</a:t>
            </a:r>
            <a:endParaRPr lang="en-IN" sz="950" dirty="0"/>
          </a:p>
        </p:txBody>
      </p:sp>
      <p:sp>
        <p:nvSpPr>
          <p:cNvPr id="17454" name="TM_S5_d3"/>
          <p:cNvSpPr/>
          <p:nvPr/>
        </p:nvSpPr>
        <p:spPr>
          <a:xfrm>
            <a:off x="10034626" y="4453128"/>
            <a:ext cx="1889150" cy="214884"/>
          </a:xfrm>
          <a:prstGeom prst="roundRect">
            <a:avLst>
              <a:gd name="adj" fmla="val 21276"/>
            </a:avLst>
          </a:prstGeom>
          <a:solidFill>
            <a:srgbClr val="EAF0F8"/>
          </a:solidFill>
          <a:ln>
            <a:noFill/>
          </a:ln>
        </p:spPr>
        <p:txBody>
          <a:bodyPr rtlCol="0" anchor="ctr" wrap="square" lIns="54864" tIns="0" rIns="36576" bIns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95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Field view: which well next</a:t>
            </a:r>
            <a:endParaRPr lang="en-IN" sz="950" dirty="0"/>
          </a:p>
        </p:txBody>
      </p:sp>
      <p:sp>
        <p:nvSpPr>
          <p:cNvPr id="17455" name="TM_loop_txt"/>
          <p:cNvSpPr txBox="1"/>
          <p:nvPr/>
        </p:nvSpPr>
        <p:spPr>
          <a:xfrm>
            <a:off x="5726887" y="4960620"/>
            <a:ext cx="3611880" cy="201168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100" dirty="0" b="1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Real cycle records come back → the twin learns</a:t>
            </a:r>
            <a:endParaRPr lang="en-IN" sz="1100" dirty="0"/>
          </a:p>
        </p:txBody>
      </p:sp>
      <p:sp>
        <p:nvSpPr>
          <p:cNvPr id="17456" name="TM_G1"/>
          <p:cNvSpPr/>
          <p:nvPr/>
        </p:nvSpPr>
        <p:spPr>
          <a:xfrm>
            <a:off x="384048" y="5509260"/>
            <a:ext cx="2084832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1F497D"/>
            </a:solidFill>
            <a:round/>
          </a:ln>
        </p:spPr>
        <p:txBody>
          <a:bodyPr rtlCol="0" anchor="ctr" wrap="square" lIns="457200" tIns="9144" rIns="45720" bIns="9144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100" dirty="0" b="1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How much steam</a:t>
            </a:r>
            <a:endParaRPr lang="en-IN" sz="110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100" dirty="0" b="1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&amp; pressure</a:t>
            </a:r>
            <a:endParaRPr lang="en-IN" sz="1100" dirty="0"/>
          </a:p>
        </p:txBody>
      </p:sp>
      <p:sp>
        <p:nvSpPr>
          <p:cNvPr id="17457" name="TM_G2"/>
          <p:cNvSpPr/>
          <p:nvPr/>
        </p:nvSpPr>
        <p:spPr>
          <a:xfrm>
            <a:off x="2560320" y="5509260"/>
            <a:ext cx="2084832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1F497D"/>
            </a:solidFill>
            <a:round/>
          </a:ln>
        </p:spPr>
        <p:txBody>
          <a:bodyPr rtlCol="0" anchor="ctr" wrap="square" lIns="457200" tIns="9144" rIns="45720" bIns="9144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100" dirty="0" b="1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Pump speed</a:t>
            </a:r>
            <a:endParaRPr lang="en-IN" sz="110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100" dirty="0" b="1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&amp; stroke</a:t>
            </a:r>
            <a:endParaRPr lang="en-IN" sz="1100" dirty="0"/>
          </a:p>
        </p:txBody>
      </p:sp>
      <p:sp>
        <p:nvSpPr>
          <p:cNvPr id="17458" name="TM_G3"/>
          <p:cNvSpPr/>
          <p:nvPr/>
        </p:nvSpPr>
        <p:spPr>
          <a:xfrm>
            <a:off x="4736592" y="5509260"/>
            <a:ext cx="2084832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1F497D"/>
            </a:solidFill>
            <a:round/>
          </a:ln>
        </p:spPr>
        <p:txBody>
          <a:bodyPr rtlCol="0" anchor="ctr" wrap="square" lIns="457200" tIns="9144" rIns="45720" bIns="9144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100" dirty="0" b="1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When to stop before</a:t>
            </a:r>
            <a:endParaRPr lang="en-IN" sz="110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100" dirty="0" b="1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the rods jam</a:t>
            </a:r>
            <a:endParaRPr lang="en-IN" sz="1100" dirty="0"/>
          </a:p>
        </p:txBody>
      </p:sp>
      <p:sp>
        <p:nvSpPr>
          <p:cNvPr id="17459" name="TM_L1"/>
          <p:cNvSpPr/>
          <p:nvPr/>
        </p:nvSpPr>
        <p:spPr>
          <a:xfrm>
            <a:off x="7370064" y="5509260"/>
            <a:ext cx="144780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2E7D32"/>
            </a:solidFill>
            <a:round/>
          </a:ln>
        </p:spPr>
        <p:txBody>
          <a:bodyPr rtlCol="0" anchor="ctr" wrap="square" lIns="457200" tIns="9144" rIns="45720" bIns="9144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100" dirty="0" b="1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Less diesel</a:t>
            </a:r>
            <a:endParaRPr lang="en-IN" sz="110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100" dirty="0" b="1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per barrel</a:t>
            </a:r>
            <a:endParaRPr lang="en-IN" sz="1100" dirty="0"/>
          </a:p>
        </p:txBody>
      </p:sp>
      <p:sp>
        <p:nvSpPr>
          <p:cNvPr id="17460" name="TM_L2"/>
          <p:cNvSpPr/>
          <p:nvPr/>
        </p:nvSpPr>
        <p:spPr>
          <a:xfrm>
            <a:off x="8909304" y="5509260"/>
            <a:ext cx="144780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2E7D32"/>
            </a:solidFill>
            <a:round/>
          </a:ln>
        </p:spPr>
        <p:txBody>
          <a:bodyPr rtlCol="0" anchor="ctr" wrap="square" lIns="457200" tIns="9144" rIns="45720" bIns="9144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100" dirty="0" b="1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Safer pump</a:t>
            </a:r>
            <a:endParaRPr lang="en-IN" sz="1100" dirty="0"/>
          </a:p>
        </p:txBody>
      </p:sp>
      <p:sp>
        <p:nvSpPr>
          <p:cNvPr id="17461" name="TM_L3"/>
          <p:cNvSpPr/>
          <p:nvPr/>
        </p:nvSpPr>
        <p:spPr>
          <a:xfrm>
            <a:off x="10448544" y="5509260"/>
            <a:ext cx="144780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2E7D32"/>
            </a:solidFill>
            <a:round/>
          </a:ln>
        </p:spPr>
        <p:txBody>
          <a:bodyPr rtlCol="0" anchor="ctr" wrap="square" lIns="457200" tIns="9144" rIns="45720" bIns="9144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100" dirty="0" b="1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More oil</a:t>
            </a:r>
            <a:endParaRPr lang="en-IN" sz="110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100" dirty="0" b="1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per cycle</a:t>
            </a:r>
            <a:endParaRPr lang="en-IN" sz="1100" dirty="0"/>
          </a:p>
        </p:txBody>
      </p:sp>
      <p:sp>
        <p:nvSpPr>
          <p:cNvPr id="17462" name="TM_trust"/>
          <p:cNvSpPr txBox="1"/>
          <p:nvPr/>
        </p:nvSpPr>
        <p:spPr>
          <a:xfrm>
            <a:off x="5404104" y="6076188"/>
            <a:ext cx="6583680" cy="201168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100" dirty="0" i="1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Built on published physics · checked against real field data · 236 automated tests</a:t>
            </a:r>
            <a:endParaRPr lang="en-IN" sz="1100" dirty="0"/>
          </a:p>
        </p:txBody>
      </p:sp>
      <p:pic>
        <p:nvPicPr>
          <p:cNvPr id="17463" name="TM_S1_icon" descr="icon: ic_pumpjack.sv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4575" y="2487168"/>
            <a:ext cx="713232" cy="713232"/>
          </a:xfrm>
          <a:prstGeom prst="rect">
            <a:avLst/>
          </a:prstGeom>
        </p:spPr>
      </p:pic>
      <p:pic>
        <p:nvPicPr>
          <p:cNvPr id="17464" name="TM_S2_icon" descr="icon: ic_dashboard.svg frame + ic_pumpjack.svg (compose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64078" y="2487168"/>
            <a:ext cx="713232" cy="713232"/>
          </a:xfrm>
          <a:prstGeom prst="rect">
            <a:avLst/>
          </a:prstGeom>
        </p:spPr>
      </p:pic>
      <p:pic>
        <p:nvPicPr>
          <p:cNvPr id="17465" name="TM_S3_icon" descr="icon: magnifier + ic_neural-net.svg (composed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83580" y="2487168"/>
            <a:ext cx="713232" cy="713232"/>
          </a:xfrm>
          <a:prstGeom prst="rect">
            <a:avLst/>
          </a:prstGeom>
        </p:spPr>
      </p:pic>
      <p:pic>
        <p:nvPicPr>
          <p:cNvPr id="17466" name="TM_S4_icon" descr="icon: ic_dashboard.sv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03082" y="2487168"/>
            <a:ext cx="713232" cy="713232"/>
          </a:xfrm>
          <a:prstGeom prst="rect">
            <a:avLst/>
          </a:prstGeom>
        </p:spPr>
      </p:pic>
      <p:pic>
        <p:nvPicPr>
          <p:cNvPr id="17467" name="TM_S5_icon" descr="icon: ic_team.svg centre figure + hard hat (composed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622585" y="2487168"/>
            <a:ext cx="713232" cy="713232"/>
          </a:xfrm>
          <a:prstGeom prst="rect">
            <a:avLst/>
          </a:prstGeom>
        </p:spPr>
      </p:pic>
      <p:pic>
        <p:nvPicPr>
          <p:cNvPr id="17468" name="TM_loop_icon" descr="icon: ic_calendar-cycle.sv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15991" y="4942332"/>
            <a:ext cx="256032" cy="256032"/>
          </a:xfrm>
          <a:prstGeom prst="rect">
            <a:avLst/>
          </a:prstGeom>
        </p:spPr>
      </p:pic>
      <p:pic>
        <p:nvPicPr>
          <p:cNvPr id="17469" name="TM_G1_icon" descr="icon: ic_steam.sv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7200" y="5573268"/>
            <a:ext cx="329184" cy="329184"/>
          </a:xfrm>
          <a:prstGeom prst="rect">
            <a:avLst/>
          </a:prstGeom>
        </p:spPr>
      </p:pic>
      <p:pic>
        <p:nvPicPr>
          <p:cNvPr id="17470" name="TM_G2_icon" descr="icon: ic_pumpjack.sv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633472" y="5573268"/>
            <a:ext cx="329184" cy="329184"/>
          </a:xfrm>
          <a:prstGeom prst="rect">
            <a:avLst/>
          </a:prstGeom>
        </p:spPr>
      </p:pic>
      <p:pic>
        <p:nvPicPr>
          <p:cNvPr id="17471" name="TM_G3_icon" descr="icon: ic_alert-triangle.sv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809744" y="5573268"/>
            <a:ext cx="329184" cy="329184"/>
          </a:xfrm>
          <a:prstGeom prst="rect">
            <a:avLst/>
          </a:prstGeom>
        </p:spPr>
      </p:pic>
      <p:pic>
        <p:nvPicPr>
          <p:cNvPr id="17472" name="TM_L1_icon" descr="icon: ic_flame.sv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443216" y="5573268"/>
            <a:ext cx="329184" cy="329184"/>
          </a:xfrm>
          <a:prstGeom prst="rect">
            <a:avLst/>
          </a:prstGeom>
        </p:spPr>
      </p:pic>
      <p:pic>
        <p:nvPicPr>
          <p:cNvPr id="17473" name="TM_L2_icon" descr="icon: ic_shield-check.sv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982456" y="5573268"/>
            <a:ext cx="329184" cy="329184"/>
          </a:xfrm>
          <a:prstGeom prst="rect">
            <a:avLst/>
          </a:prstGeom>
        </p:spPr>
      </p:pic>
      <p:pic>
        <p:nvPicPr>
          <p:cNvPr id="17474" name="TM_L3_icon" descr="icon: ic_oil-drop.sv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521696" y="5573268"/>
            <a:ext cx="329184" cy="32918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148</cp:revision>
  <dcterms:created xsi:type="dcterms:W3CDTF">2013-12-12T18:46:50Z</dcterms:created>
  <dcterms:modified xsi:type="dcterms:W3CDTF">2026-06-02T09:29:39Z</dcterms:modified>
  <cp:category/>
</cp:coreProperties>
</file>