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div-kick"/>
          <p:cNvSpPr txBox="1"/>
          <p:nvPr/>
        </p:nvSpPr>
        <p:spPr>
          <a:xfrm>
            <a:off x="1028700" y="600075"/>
            <a:ext cx="11087100" cy="257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 spc="255">
                <a:solidFill>
                  <a:srgbClr val="EA580C"/>
                </a:solidFill>
                <a:latin typeface="Segoe UI"/>
              </a:rPr>
              <a:t>SMART INDIA HACKATHON 2026 · INTERNAL ROUND · SOFTWARE</a:t>
            </a:r>
          </a:p>
        </p:txBody>
      </p:sp>
      <p:sp>
        <p:nvSpPr>
          <p:cNvPr id="4" name="txt-h1-x"/>
          <p:cNvSpPr txBox="1"/>
          <p:nvPr/>
        </p:nvSpPr>
        <p:spPr>
          <a:xfrm>
            <a:off x="1028700" y="933450"/>
            <a:ext cx="10101262" cy="10608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878"/>
              </a:lnSpc>
            </a:pPr>
            <a:r>
              <a:rPr sz="3520" b="1" i="0" spc="-82">
                <a:solidFill>
                  <a:srgbClr val="0F2540"/>
                </a:solidFill>
                <a:latin typeface="Segoe UI"/>
              </a:rPr>
              <a:t>Digital Twin for Well-to-Surface Optimization of </a:t>
            </a:r>
            <a:r>
              <a:rPr sz="3520" b="1" i="0" spc="-82">
                <a:solidFill>
                  <a:srgbClr val="C2410C"/>
                </a:solidFill>
                <a:latin typeface="Segoe UI"/>
              </a:rPr>
              <a:t>CSS</a:t>
            </a:r>
            <a:r>
              <a:rPr sz="3520" b="1" i="0" spc="-82">
                <a:solidFill>
                  <a:srgbClr val="0F2540"/>
                </a:solidFill>
                <a:latin typeface="Segoe UI"/>
              </a:rPr>
              <a:t> and </a:t>
            </a:r>
            <a:r>
              <a:rPr sz="3520" b="1" i="0" spc="-82">
                <a:solidFill>
                  <a:srgbClr val="C2410C"/>
                </a:solidFill>
                <a:latin typeface="Segoe UI"/>
              </a:rPr>
              <a:t>Sucker Rod Pump</a:t>
            </a:r>
            <a:r>
              <a:rPr sz="3520" b="1" i="0" spc="-82">
                <a:solidFill>
                  <a:srgbClr val="0F2540"/>
                </a:solidFill>
                <a:latin typeface="Segoe UI"/>
              </a:rPr>
              <a:t> Operations</a:t>
            </a:r>
          </a:p>
        </p:txBody>
      </p:sp>
      <p:sp>
        <p:nvSpPr>
          <p:cNvPr id="5" name="txt-div-sub"/>
          <p:cNvSpPr txBox="1"/>
          <p:nvPr/>
        </p:nvSpPr>
        <p:spPr>
          <a:xfrm>
            <a:off x="1028700" y="2051446"/>
            <a:ext cx="9001125" cy="642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29"/>
              </a:lnSpc>
            </a:pPr>
            <a:r>
              <a:rPr sz="1540" b="0" i="0">
                <a:solidFill>
                  <a:srgbClr val="425A76"/>
                </a:solidFill>
                <a:latin typeface="Segoe UI"/>
              </a:rPr>
              <a:t>A physics-integrated AI twin for Oil India's Baghewala heavy-oil field, Rajasthan — 8,000–15,000 cP crude, steam cycle and rod pump optimised together in one loop.</a:t>
            </a:r>
          </a:p>
        </p:txBody>
      </p:sp>
      <p:sp>
        <p:nvSpPr>
          <p:cNvPr id="6" name="txt-span-x"/>
          <p:cNvSpPr txBox="1"/>
          <p:nvPr/>
        </p:nvSpPr>
        <p:spPr>
          <a:xfrm>
            <a:off x="1209675" y="3248025"/>
            <a:ext cx="1143000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1" i="0" spc="150">
                <a:solidFill>
                  <a:srgbClr val="8493A6"/>
                </a:solidFill>
                <a:latin typeface="Segoe UI"/>
              </a:rPr>
              <a:t>PROBLEM ID</a:t>
            </a:r>
          </a:p>
        </p:txBody>
      </p:sp>
      <p:sp>
        <p:nvSpPr>
          <p:cNvPr id="7" name="txt-b-x"/>
          <p:cNvSpPr txBox="1"/>
          <p:nvPr/>
        </p:nvSpPr>
        <p:spPr>
          <a:xfrm>
            <a:off x="1209675" y="3438525"/>
            <a:ext cx="1143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0F2540"/>
                </a:solidFill>
                <a:latin typeface="Segoe UI"/>
              </a:rPr>
              <a:t>SIH26120</a:t>
            </a:r>
          </a:p>
        </p:txBody>
      </p:sp>
      <p:sp>
        <p:nvSpPr>
          <p:cNvPr id="8" name="txt-span-x"/>
          <p:cNvSpPr txBox="1"/>
          <p:nvPr/>
        </p:nvSpPr>
        <p:spPr>
          <a:xfrm>
            <a:off x="2771775" y="3248025"/>
            <a:ext cx="1143000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1" i="0" spc="150">
                <a:solidFill>
                  <a:srgbClr val="8493A6"/>
                </a:solidFill>
                <a:latin typeface="Segoe UI"/>
              </a:rPr>
              <a:t>ORGANISATION</a:t>
            </a:r>
          </a:p>
        </p:txBody>
      </p:sp>
      <p:sp>
        <p:nvSpPr>
          <p:cNvPr id="9" name="txt-b-x"/>
          <p:cNvSpPr txBox="1"/>
          <p:nvPr/>
        </p:nvSpPr>
        <p:spPr>
          <a:xfrm>
            <a:off x="2771775" y="3438525"/>
            <a:ext cx="1143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425A76"/>
                </a:solidFill>
                <a:latin typeface="Segoe UI"/>
              </a:rPr>
              <a:t>Oil India Limited</a:t>
            </a:r>
          </a:p>
        </p:txBody>
      </p:sp>
      <p:sp>
        <p:nvSpPr>
          <p:cNvPr id="10" name="txt-span-x"/>
          <p:cNvSpPr txBox="1"/>
          <p:nvPr/>
        </p:nvSpPr>
        <p:spPr>
          <a:xfrm>
            <a:off x="4333875" y="3248025"/>
            <a:ext cx="1143000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1" i="0" spc="150">
                <a:solidFill>
                  <a:srgbClr val="8493A6"/>
                </a:solidFill>
                <a:latin typeface="Segoe UI"/>
              </a:rPr>
              <a:t>CATEGORY</a:t>
            </a:r>
          </a:p>
        </p:txBody>
      </p:sp>
      <p:sp>
        <p:nvSpPr>
          <p:cNvPr id="11" name="txt-b-x"/>
          <p:cNvSpPr txBox="1"/>
          <p:nvPr/>
        </p:nvSpPr>
        <p:spPr>
          <a:xfrm>
            <a:off x="4333875" y="3438525"/>
            <a:ext cx="11430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425A76"/>
                </a:solidFill>
                <a:latin typeface="Segoe UI"/>
              </a:rPr>
              <a:t>Software</a:t>
            </a:r>
          </a:p>
        </p:txBody>
      </p:sp>
      <p:sp>
        <p:nvSpPr>
          <p:cNvPr id="12" name="txt-span-x"/>
          <p:cNvSpPr txBox="1"/>
          <p:nvPr/>
        </p:nvSpPr>
        <p:spPr>
          <a:xfrm>
            <a:off x="5895975" y="3248025"/>
            <a:ext cx="1197173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1" i="0" spc="150">
                <a:solidFill>
                  <a:srgbClr val="8493A6"/>
                </a:solidFill>
                <a:latin typeface="Segoe UI"/>
              </a:rPr>
              <a:t>THEME</a:t>
            </a:r>
          </a:p>
        </p:txBody>
      </p:sp>
      <p:sp>
        <p:nvSpPr>
          <p:cNvPr id="13" name="txt-b-x"/>
          <p:cNvSpPr txBox="1"/>
          <p:nvPr/>
        </p:nvSpPr>
        <p:spPr>
          <a:xfrm>
            <a:off x="5895975" y="3438525"/>
            <a:ext cx="1197173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425A76"/>
                </a:solidFill>
                <a:latin typeface="Segoe UI"/>
              </a:rPr>
              <a:t>Smart Automation</a:t>
            </a:r>
          </a:p>
        </p:txBody>
      </p:sp>
      <p:sp>
        <p:nvSpPr>
          <p:cNvPr id="14" name="txt-div-chip"/>
          <p:cNvSpPr txBox="1"/>
          <p:nvPr/>
        </p:nvSpPr>
        <p:spPr>
          <a:xfrm>
            <a:off x="1028700" y="4238625"/>
            <a:ext cx="3357138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20" b="1" i="0">
                <a:solidFill>
                  <a:srgbClr val="7C3D09"/>
                </a:solidFill>
                <a:latin typeface="Segoe UI"/>
              </a:rPr>
              <a:t>17–19° API per PS · 14–17° in field literature</a:t>
            </a:r>
          </a:p>
        </p:txBody>
      </p:sp>
      <p:sp>
        <p:nvSpPr>
          <p:cNvPr id="15" name="txt-div-chip"/>
          <p:cNvSpPr txBox="1"/>
          <p:nvPr/>
        </p:nvSpPr>
        <p:spPr>
          <a:xfrm>
            <a:off x="4330749" y="4238625"/>
            <a:ext cx="2924896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20" b="1" i="0">
                <a:solidFill>
                  <a:srgbClr val="7C3D09"/>
                </a:solidFill>
                <a:latin typeface="Segoe UI"/>
              </a:rPr>
              <a:t>India's first CSS — BGW-8, Dec 2018</a:t>
            </a:r>
          </a:p>
        </p:txBody>
      </p:sp>
      <p:sp>
        <p:nvSpPr>
          <p:cNvPr id="16" name="txt-div-chip"/>
          <p:cNvSpPr txBox="1"/>
          <p:nvPr/>
        </p:nvSpPr>
        <p:spPr>
          <a:xfrm>
            <a:off x="7221140" y="4238625"/>
            <a:ext cx="2544380" cy="4381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20" b="1" i="0">
                <a:solidFill>
                  <a:srgbClr val="1E3A5F"/>
                </a:solidFill>
                <a:latin typeface="Segoe UI"/>
              </a:rPr>
              <a:t>218 t → 43,773 t (FY17 → FY26)</a:t>
            </a:r>
          </a:p>
        </p:txBody>
      </p:sp>
      <p:sp>
        <p:nvSpPr>
          <p:cNvPr id="17" name="txt-div-team"/>
          <p:cNvSpPr txBox="1"/>
          <p:nvPr/>
        </p:nvSpPr>
        <p:spPr>
          <a:xfrm>
            <a:off x="1028700" y="4733925"/>
            <a:ext cx="8117108" cy="2762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i="0" spc="15">
                <a:solidFill>
                  <a:srgbClr val="5A6B80"/>
                </a:solidFill>
                <a:latin typeface="Segoe UI"/>
              </a:rPr>
              <a:t>Team </a:t>
            </a:r>
            <a:r>
              <a:rPr sz="1200" b="1" i="0" spc="15">
                <a:solidFill>
                  <a:srgbClr val="0F2540"/>
                </a:solidFill>
                <a:latin typeface="Segoe UI"/>
              </a:rPr>
              <a:t>MNIT Jaipur</a:t>
            </a:r>
            <a:r>
              <a:rPr sz="1200" b="0" i="0" spc="15">
                <a:solidFill>
                  <a:srgbClr val="5A6B80"/>
                </a:solidFill>
                <a:latin typeface="Segoe UI"/>
              </a:rPr>
              <a:t> · Chemical Engineering (lead) + Software · Bikaner–Nagaur basin · </a:t>
            </a:r>
            <a:r>
              <a:rPr sz="1200" b="1" i="0" spc="15">
                <a:solidFill>
                  <a:srgbClr val="0F2540"/>
                </a:solidFill>
                <a:latin typeface="Segoe UI"/>
              </a:rPr>
              <a:t>~550–600 km</a:t>
            </a:r>
            <a:r>
              <a:rPr sz="1200" b="0" i="0" spc="15">
                <a:solidFill>
                  <a:srgbClr val="5A6B80"/>
                </a:solidFill>
                <a:latin typeface="Segoe UI"/>
              </a:rPr>
              <a:t> from Jaipur</a:t>
            </a:r>
          </a:p>
        </p:txBody>
      </p:sp>
      <p:sp>
        <p:nvSpPr>
          <p:cNvPr id="18" name="txt-span-x"/>
          <p:cNvSpPr txBox="1"/>
          <p:nvPr/>
        </p:nvSpPr>
        <p:spPr>
          <a:xfrm>
            <a:off x="1028700" y="6538912"/>
            <a:ext cx="349293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30">
                <a:solidFill>
                  <a:srgbClr val="FFFFFF"/>
                </a:solidFill>
                <a:latin typeface="Segoe UI"/>
              </a:rPr>
              <a:t>PS SIH26120</a:t>
            </a:r>
            <a:r>
              <a:rPr sz="940" b="0" i="0" spc="30">
                <a:solidFill>
                  <a:srgbClr val="93A9C2"/>
                </a:solidFill>
                <a:latin typeface="Segoe UI"/>
              </a:rPr>
              <a:t> · TEAM ________ · Smart India Hackathon 2026</a:t>
            </a:r>
          </a:p>
        </p:txBody>
      </p:sp>
      <p:sp>
        <p:nvSpPr>
          <p:cNvPr id="19" name="txt-span-sih"/>
          <p:cNvSpPr txBox="1"/>
          <p:nvPr/>
        </p:nvSpPr>
        <p:spPr>
          <a:xfrm>
            <a:off x="9745265" y="6538912"/>
            <a:ext cx="196899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105">
                <a:solidFill>
                  <a:srgbClr val="F59E0B"/>
                </a:solidFill>
                <a:latin typeface="Segoe UI"/>
              </a:rPr>
              <a:t>TITLE &amp; PS DETAILS · 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div-kick"/>
          <p:cNvSpPr txBox="1"/>
          <p:nvPr/>
        </p:nvSpPr>
        <p:spPr>
          <a:xfrm>
            <a:off x="1028700" y="266700"/>
            <a:ext cx="1958994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 spc="240">
                <a:solidFill>
                  <a:srgbClr val="EA580C"/>
                </a:solidFill>
                <a:latin typeface="Segoe UI"/>
              </a:rPr>
              <a:t>PROPOSED SOLUTION</a:t>
            </a:r>
          </a:p>
        </p:txBody>
      </p:sp>
      <p:sp>
        <p:nvSpPr>
          <p:cNvPr id="4" name="txt-h1-x"/>
          <p:cNvSpPr txBox="1"/>
          <p:nvPr/>
        </p:nvSpPr>
        <p:spPr>
          <a:xfrm>
            <a:off x="1028700" y="466725"/>
            <a:ext cx="9301162" cy="47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8"/>
              </a:lnSpc>
            </a:pPr>
            <a:r>
              <a:rPr sz="2780" b="1" i="0" spc="-64">
                <a:solidFill>
                  <a:srgbClr val="0F2540"/>
                </a:solidFill>
                <a:latin typeface="Segoe UI"/>
              </a:rPr>
              <a:t>Steam and pump, optimised as </a:t>
            </a:r>
            <a:r>
              <a:rPr sz="2780" b="1" i="0" spc="-64">
                <a:solidFill>
                  <a:srgbClr val="C2410C"/>
                </a:solidFill>
                <a:latin typeface="Segoe UI"/>
              </a:rPr>
              <a:t>one</a:t>
            </a:r>
            <a:r>
              <a:rPr sz="2780" b="1" i="0" spc="-64">
                <a:solidFill>
                  <a:srgbClr val="0F2540"/>
                </a:solidFill>
                <a:latin typeface="Segoe UI"/>
              </a:rPr>
              <a:t> system — not two</a:t>
            </a:r>
          </a:p>
        </p:txBody>
      </p:sp>
      <p:sp>
        <p:nvSpPr>
          <p:cNvPr id="5" name="txt-h3-x"/>
          <p:cNvSpPr txBox="1"/>
          <p:nvPr/>
        </p:nvSpPr>
        <p:spPr>
          <a:xfrm>
            <a:off x="6962775" y="1371600"/>
            <a:ext cx="4910613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 spc="-19">
                <a:solidFill>
                  <a:srgbClr val="0F2540"/>
                </a:solidFill>
                <a:latin typeface="Segoe UI"/>
              </a:rPr>
              <a:t>Today: two knobs, two teams</a:t>
            </a:r>
          </a:p>
        </p:txBody>
      </p:sp>
      <p:sp>
        <p:nvSpPr>
          <p:cNvPr id="6" name="txt-p-x"/>
          <p:cNvSpPr txBox="1"/>
          <p:nvPr/>
        </p:nvSpPr>
        <p:spPr>
          <a:xfrm>
            <a:off x="6962775" y="1666875"/>
            <a:ext cx="4910613" cy="594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 i="0">
                <a:solidFill>
                  <a:srgbClr val="4C6076"/>
                </a:solidFill>
                <a:latin typeface="Segoe UI"/>
              </a:rPr>
              <a:t>Steam dose and pump speed are set by hand, on separate schedules.</a:t>
            </a:r>
          </a:p>
        </p:txBody>
      </p:sp>
      <p:sp>
        <p:nvSpPr>
          <p:cNvPr id="7" name="txt-h3-x"/>
          <p:cNvSpPr txBox="1"/>
          <p:nvPr/>
        </p:nvSpPr>
        <p:spPr>
          <a:xfrm>
            <a:off x="6962775" y="2318146"/>
            <a:ext cx="4910613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 spc="-19">
                <a:solidFill>
                  <a:srgbClr val="0F2540"/>
                </a:solidFill>
                <a:latin typeface="Segoe UI"/>
              </a:rPr>
              <a:t>The twin</a:t>
            </a:r>
          </a:p>
        </p:txBody>
      </p:sp>
      <p:sp>
        <p:nvSpPr>
          <p:cNvPr id="8" name="txt-p-x"/>
          <p:cNvSpPr txBox="1"/>
          <p:nvPr/>
        </p:nvSpPr>
        <p:spPr>
          <a:xfrm>
            <a:off x="6962775" y="2613421"/>
            <a:ext cx="4910613" cy="594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 i="0">
                <a:solidFill>
                  <a:srgbClr val="4C6076"/>
                </a:solidFill>
                <a:latin typeface="Segoe UI"/>
              </a:rPr>
              <a:t>Heating → viscosity → inflow → rod load, chained in one </a:t>
            </a:r>
            <a:r>
              <a:rPr sz="1500" b="1" i="0">
                <a:solidFill>
                  <a:srgbClr val="0F2540"/>
                </a:solidFill>
                <a:latin typeface="Segoe UI"/>
              </a:rPr>
              <a:t>sub-second</a:t>
            </a:r>
            <a:r>
              <a:rPr sz="1500" b="0" i="0">
                <a:solidFill>
                  <a:srgbClr val="4C6076"/>
                </a:solidFill>
                <a:latin typeface="Segoe UI"/>
              </a:rPr>
              <a:t> pass.</a:t>
            </a:r>
          </a:p>
        </p:txBody>
      </p:sp>
      <p:sp>
        <p:nvSpPr>
          <p:cNvPr id="9" name="txt-h3-x"/>
          <p:cNvSpPr txBox="1"/>
          <p:nvPr/>
        </p:nvSpPr>
        <p:spPr>
          <a:xfrm>
            <a:off x="6962775" y="3264693"/>
            <a:ext cx="4910613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 spc="-19">
                <a:solidFill>
                  <a:srgbClr val="0F2540"/>
                </a:solidFill>
                <a:latin typeface="Segoe UI"/>
              </a:rPr>
              <a:t>The output</a:t>
            </a:r>
          </a:p>
        </p:txBody>
      </p:sp>
      <p:sp>
        <p:nvSpPr>
          <p:cNvPr id="10" name="txt-p-x"/>
          <p:cNvSpPr txBox="1"/>
          <p:nvPr/>
        </p:nvSpPr>
        <p:spPr>
          <a:xfrm>
            <a:off x="6962775" y="3559968"/>
            <a:ext cx="4910613" cy="594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 i="0">
                <a:solidFill>
                  <a:srgbClr val="4C6076"/>
                </a:solidFill>
                <a:latin typeface="Segoe UI"/>
              </a:rPr>
              <a:t>Four set-points per cycle: </a:t>
            </a:r>
            <a:r>
              <a:rPr sz="1500" b="1" i="0">
                <a:solidFill>
                  <a:srgbClr val="0F2540"/>
                </a:solidFill>
                <a:latin typeface="Segoe UI"/>
              </a:rPr>
              <a:t>steam volume, soak days, cut-off, pump speed</a:t>
            </a:r>
            <a:r>
              <a:rPr sz="1500" b="0" i="0">
                <a:solidFill>
                  <a:srgbClr val="4C6076"/>
                </a:solidFill>
                <a:latin typeface="Segoe UI"/>
              </a:rPr>
              <a:t>.</a:t>
            </a:r>
          </a:p>
        </p:txBody>
      </p:sp>
      <p:sp>
        <p:nvSpPr>
          <p:cNvPr id="11" name="txt-h3-x"/>
          <p:cNvSpPr txBox="1"/>
          <p:nvPr/>
        </p:nvSpPr>
        <p:spPr>
          <a:xfrm>
            <a:off x="6962775" y="4211240"/>
            <a:ext cx="4910613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 spc="-19">
                <a:solidFill>
                  <a:srgbClr val="0F2540"/>
                </a:solidFill>
                <a:latin typeface="Segoe UI"/>
              </a:rPr>
              <a:t>The guardrail</a:t>
            </a:r>
          </a:p>
        </p:txBody>
      </p:sp>
      <p:sp>
        <p:nvSpPr>
          <p:cNvPr id="12" name="txt-p-x"/>
          <p:cNvSpPr txBox="1"/>
          <p:nvPr/>
        </p:nvSpPr>
        <p:spPr>
          <a:xfrm>
            <a:off x="6962775" y="4506515"/>
            <a:ext cx="4910613" cy="59412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 i="0">
                <a:solidFill>
                  <a:srgbClr val="4C6076"/>
                </a:solidFill>
                <a:latin typeface="Segoe UI"/>
              </a:rPr>
              <a:t>Nothing is recommended unless rod-floating risk stays in the safe band.</a:t>
            </a:r>
          </a:p>
        </p:txBody>
      </p:sp>
      <p:sp>
        <p:nvSpPr>
          <p:cNvPr id="13" name="txt-span-x"/>
          <p:cNvSpPr txBox="1"/>
          <p:nvPr/>
        </p:nvSpPr>
        <p:spPr>
          <a:xfrm>
            <a:off x="6629400" y="5229225"/>
            <a:ext cx="5060632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60" b="1" i="0" spc="165">
                <a:solidFill>
                  <a:srgbClr val="F59E0B"/>
                </a:solidFill>
                <a:latin typeface="Segoe UI"/>
              </a:rPr>
              <a:t>WHY THIS IS NEW</a:t>
            </a:r>
          </a:p>
        </p:txBody>
      </p:sp>
      <p:sp>
        <p:nvSpPr>
          <p:cNvPr id="14" name="txt-p-x"/>
          <p:cNvSpPr txBox="1"/>
          <p:nvPr/>
        </p:nvSpPr>
        <p:spPr>
          <a:xfrm>
            <a:off x="6629400" y="5419725"/>
            <a:ext cx="5060632" cy="736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34"/>
              </a:lnSpc>
            </a:pPr>
            <a:r>
              <a:rPr sz="1280" b="1" i="0">
                <a:solidFill>
                  <a:srgbClr val="FFFFFF"/>
                </a:solidFill>
                <a:latin typeface="Segoe UI"/>
              </a:rPr>
              <a:t>No product co-optimises both halves.</a:t>
            </a:r>
            <a:r>
              <a:rPr sz="1280" b="0" i="0">
                <a:solidFill>
                  <a:srgbClr val="DBE5F0"/>
                </a:solidFill>
                <a:latin typeface="Segoe UI"/>
              </a:rPr>
              <a:t> Pump optimisers (XSPOC, Lufkin SAM) tune lift alone; thermal-EOR twins (SLB, AVEVA, Kongsberg) tune steam alone.</a:t>
            </a:r>
          </a:p>
        </p:txBody>
      </p:sp>
      <p:sp>
        <p:nvSpPr>
          <p:cNvPr id="15" name="txt-span-x"/>
          <p:cNvSpPr txBox="1"/>
          <p:nvPr/>
        </p:nvSpPr>
        <p:spPr>
          <a:xfrm>
            <a:off x="1028700" y="6538912"/>
            <a:ext cx="349293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30">
                <a:solidFill>
                  <a:srgbClr val="FFFFFF"/>
                </a:solidFill>
                <a:latin typeface="Segoe UI"/>
              </a:rPr>
              <a:t>PS SIH26120</a:t>
            </a:r>
            <a:r>
              <a:rPr sz="940" b="0" i="0" spc="30">
                <a:solidFill>
                  <a:srgbClr val="93A9C2"/>
                </a:solidFill>
                <a:latin typeface="Segoe UI"/>
              </a:rPr>
              <a:t> · TEAM ________ · Smart India Hackathon 2026</a:t>
            </a:r>
          </a:p>
        </p:txBody>
      </p:sp>
      <p:sp>
        <p:nvSpPr>
          <p:cNvPr id="16" name="txt-span-sih"/>
          <p:cNvSpPr txBox="1"/>
          <p:nvPr/>
        </p:nvSpPr>
        <p:spPr>
          <a:xfrm>
            <a:off x="9614743" y="6538912"/>
            <a:ext cx="210604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105">
                <a:solidFill>
                  <a:srgbClr val="F59E0B"/>
                </a:solidFill>
                <a:latin typeface="Segoe UI"/>
              </a:rPr>
              <a:t>PROPOSED SOLUTION · 02/07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div-kick"/>
          <p:cNvSpPr txBox="1"/>
          <p:nvPr/>
        </p:nvSpPr>
        <p:spPr>
          <a:xfrm>
            <a:off x="1028700" y="266700"/>
            <a:ext cx="2078228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 spc="240">
                <a:solidFill>
                  <a:srgbClr val="EA580C"/>
                </a:solidFill>
                <a:latin typeface="Segoe UI"/>
              </a:rPr>
              <a:t>TECHNICAL APPROACH</a:t>
            </a:r>
          </a:p>
        </p:txBody>
      </p:sp>
      <p:sp>
        <p:nvSpPr>
          <p:cNvPr id="4" name="txt-h1-x"/>
          <p:cNvSpPr txBox="1"/>
          <p:nvPr/>
        </p:nvSpPr>
        <p:spPr>
          <a:xfrm>
            <a:off x="1028700" y="466725"/>
            <a:ext cx="9301162" cy="47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8"/>
              </a:lnSpc>
            </a:pPr>
            <a:r>
              <a:rPr sz="2780" b="1" i="0" spc="-64">
                <a:solidFill>
                  <a:srgbClr val="0F2540"/>
                </a:solidFill>
                <a:latin typeface="Segoe UI"/>
              </a:rPr>
              <a:t>Four layers: physics in, </a:t>
            </a:r>
            <a:r>
              <a:rPr sz="2780" b="1" i="0" spc="-64">
                <a:solidFill>
                  <a:srgbClr val="C2410C"/>
                </a:solidFill>
                <a:latin typeface="Segoe UI"/>
              </a:rPr>
              <a:t>set-points</a:t>
            </a:r>
            <a:r>
              <a:rPr sz="2780" b="1" i="0" spc="-64">
                <a:solidFill>
                  <a:srgbClr val="0F2540"/>
                </a:solidFill>
                <a:latin typeface="Segoe UI"/>
              </a:rPr>
              <a:t> out</a:t>
            </a:r>
          </a:p>
        </p:txBody>
      </p:sp>
      <p:sp>
        <p:nvSpPr>
          <p:cNvPr id="5" name="txt-b-x"/>
          <p:cNvSpPr txBox="1"/>
          <p:nvPr/>
        </p:nvSpPr>
        <p:spPr>
          <a:xfrm>
            <a:off x="1200150" y="1485900"/>
            <a:ext cx="3048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xt-span-x"/>
          <p:cNvSpPr txBox="1"/>
          <p:nvPr/>
        </p:nvSpPr>
        <p:spPr>
          <a:xfrm>
            <a:off x="1514475" y="1524000"/>
            <a:ext cx="44678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50">
                <a:solidFill>
                  <a:srgbClr val="EA580C"/>
                </a:solidFill>
                <a:latin typeface="Segoe UI"/>
              </a:rPr>
              <a:t>DATA</a:t>
            </a:r>
          </a:p>
        </p:txBody>
      </p:sp>
      <p:sp>
        <p:nvSpPr>
          <p:cNvPr id="7" name="txt-h3-x"/>
          <p:cNvSpPr txBox="1"/>
          <p:nvPr/>
        </p:nvSpPr>
        <p:spPr>
          <a:xfrm>
            <a:off x="1200150" y="1800225"/>
            <a:ext cx="2180272" cy="300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0"/>
              </a:lnSpc>
            </a:pPr>
            <a:r>
              <a:rPr sz="1500" b="1" i="0" spc="-22">
                <a:solidFill>
                  <a:srgbClr val="0F2540"/>
                </a:solidFill>
                <a:latin typeface="Segoe UI"/>
              </a:rPr>
              <a:t>Field &amp; synthetic cycles</a:t>
            </a:r>
          </a:p>
        </p:txBody>
      </p:sp>
      <p:sp>
        <p:nvSpPr>
          <p:cNvPr id="8" name="txt-li-x"/>
          <p:cNvSpPr txBox="1"/>
          <p:nvPr/>
        </p:nvSpPr>
        <p:spPr>
          <a:xfrm>
            <a:off x="1200150" y="2110680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Oil India Baghewala CSS-cycle logs</a:t>
            </a:r>
          </a:p>
        </p:txBody>
      </p:sp>
      <p:sp>
        <p:nvSpPr>
          <p:cNvPr id="9" name="txt-li-x"/>
          <p:cNvSpPr txBox="1"/>
          <p:nvPr/>
        </p:nvSpPr>
        <p:spPr>
          <a:xfrm>
            <a:off x="1200150" y="2522636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≥ 3,000 physics-simulated cycles</a:t>
            </a:r>
          </a:p>
        </p:txBody>
      </p:sp>
      <p:sp>
        <p:nvSpPr>
          <p:cNvPr id="10" name="txt-li-x"/>
          <p:cNvSpPr txBox="1"/>
          <p:nvPr/>
        </p:nvSpPr>
        <p:spPr>
          <a:xfrm>
            <a:off x="1200150" y="2934592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Latin-hypercube sampling, fixed seed</a:t>
            </a:r>
          </a:p>
        </p:txBody>
      </p:sp>
      <p:sp>
        <p:nvSpPr>
          <p:cNvPr id="11" name="txt-div-file"/>
          <p:cNvSpPr txBox="1"/>
          <p:nvPr/>
        </p:nvSpPr>
        <p:spPr>
          <a:xfrm>
            <a:off x="1200150" y="3390900"/>
            <a:ext cx="1305966" cy="200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0" i="0" spc="8">
                <a:solidFill>
                  <a:srgbClr val="93A3B6"/>
                </a:solidFill>
                <a:latin typeface="Consolas"/>
              </a:rPr>
              <a:t>twin/generate_data.py</a:t>
            </a:r>
          </a:p>
        </p:txBody>
      </p:sp>
      <p:sp>
        <p:nvSpPr>
          <p:cNvPr id="12" name="txt-b-x"/>
          <p:cNvSpPr txBox="1"/>
          <p:nvPr/>
        </p:nvSpPr>
        <p:spPr>
          <a:xfrm>
            <a:off x="3924300" y="1485900"/>
            <a:ext cx="3048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xt-span-x"/>
          <p:cNvSpPr txBox="1"/>
          <p:nvPr/>
        </p:nvSpPr>
        <p:spPr>
          <a:xfrm>
            <a:off x="4238625" y="1524000"/>
            <a:ext cx="671363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50">
                <a:solidFill>
                  <a:srgbClr val="EA580C"/>
                </a:solidFill>
                <a:latin typeface="Segoe UI"/>
              </a:rPr>
              <a:t>PHYSICS</a:t>
            </a:r>
          </a:p>
        </p:txBody>
      </p:sp>
      <p:sp>
        <p:nvSpPr>
          <p:cNvPr id="14" name="txt-h3-x"/>
          <p:cNvSpPr txBox="1"/>
          <p:nvPr/>
        </p:nvSpPr>
        <p:spPr>
          <a:xfrm>
            <a:off x="3924300" y="1800225"/>
            <a:ext cx="2180272" cy="300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0"/>
              </a:lnSpc>
            </a:pPr>
            <a:r>
              <a:rPr sz="1500" b="1" i="0" spc="-22">
                <a:solidFill>
                  <a:srgbClr val="0F2540"/>
                </a:solidFill>
                <a:latin typeface="Segoe UI"/>
              </a:rPr>
              <a:t>Well-to-surface engine</a:t>
            </a:r>
          </a:p>
        </p:txBody>
      </p:sp>
      <p:sp>
        <p:nvSpPr>
          <p:cNvPr id="15" name="txt-li-x"/>
          <p:cNvSpPr txBox="1"/>
          <p:nvPr/>
        </p:nvSpPr>
        <p:spPr>
          <a:xfrm>
            <a:off x="3924300" y="2110680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Marx–Langenheim steam-zone growth</a:t>
            </a:r>
          </a:p>
        </p:txBody>
      </p:sp>
      <p:sp>
        <p:nvSpPr>
          <p:cNvPr id="16" name="txt-li-x"/>
          <p:cNvSpPr txBox="1"/>
          <p:nvPr/>
        </p:nvSpPr>
        <p:spPr>
          <a:xfrm>
            <a:off x="3924300" y="2522636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Andrade viscosity–temperature law</a:t>
            </a:r>
          </a:p>
        </p:txBody>
      </p:sp>
      <p:sp>
        <p:nvSpPr>
          <p:cNvPr id="17" name="txt-li-x"/>
          <p:cNvSpPr txBox="1"/>
          <p:nvPr/>
        </p:nvSpPr>
        <p:spPr>
          <a:xfrm>
            <a:off x="3924300" y="2934592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Vogel IPR + rod load &amp; pump efficiency</a:t>
            </a:r>
          </a:p>
        </p:txBody>
      </p:sp>
      <p:sp>
        <p:nvSpPr>
          <p:cNvPr id="18" name="txt-div-file"/>
          <p:cNvSpPr txBox="1"/>
          <p:nvPr/>
        </p:nvSpPr>
        <p:spPr>
          <a:xfrm>
            <a:off x="3924300" y="3390900"/>
            <a:ext cx="1481732" cy="200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0" i="0" spc="8">
                <a:solidFill>
                  <a:srgbClr val="93A3B6"/>
                </a:solidFill>
                <a:latin typeface="Consolas"/>
              </a:rPr>
              <a:t>twin/thermal.py · srp.py</a:t>
            </a:r>
          </a:p>
        </p:txBody>
      </p:sp>
      <p:sp>
        <p:nvSpPr>
          <p:cNvPr id="19" name="txt-b-x"/>
          <p:cNvSpPr txBox="1"/>
          <p:nvPr/>
        </p:nvSpPr>
        <p:spPr>
          <a:xfrm>
            <a:off x="6648450" y="1485900"/>
            <a:ext cx="3048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xt-span-x"/>
          <p:cNvSpPr txBox="1"/>
          <p:nvPr/>
        </p:nvSpPr>
        <p:spPr>
          <a:xfrm>
            <a:off x="6962775" y="1524000"/>
            <a:ext cx="80263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50">
                <a:solidFill>
                  <a:srgbClr val="EA580C"/>
                </a:solidFill>
                <a:latin typeface="Segoe UI"/>
              </a:rPr>
              <a:t>LEARNING</a:t>
            </a:r>
          </a:p>
        </p:txBody>
      </p:sp>
      <p:sp>
        <p:nvSpPr>
          <p:cNvPr id="21" name="txt-h3-x"/>
          <p:cNvSpPr txBox="1"/>
          <p:nvPr/>
        </p:nvSpPr>
        <p:spPr>
          <a:xfrm>
            <a:off x="6648450" y="1800225"/>
            <a:ext cx="2180272" cy="300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0"/>
              </a:lnSpc>
            </a:pPr>
            <a:r>
              <a:rPr sz="1500" b="1" i="0" spc="-22">
                <a:solidFill>
                  <a:srgbClr val="0F2540"/>
                </a:solidFill>
                <a:latin typeface="Segoe UI"/>
              </a:rPr>
              <a:t>Surrogate + optimiser</a:t>
            </a:r>
          </a:p>
        </p:txBody>
      </p:sp>
      <p:sp>
        <p:nvSpPr>
          <p:cNvPr id="22" name="txt-li-x"/>
          <p:cNvSpPr txBox="1"/>
          <p:nvPr/>
        </p:nvSpPr>
        <p:spPr>
          <a:xfrm>
            <a:off x="6648450" y="2110680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XGBoost SOR surrogate on physics runs</a:t>
            </a:r>
          </a:p>
        </p:txBody>
      </p:sp>
      <p:sp>
        <p:nvSpPr>
          <p:cNvPr id="23" name="txt-li-x"/>
          <p:cNvSpPr txBox="1"/>
          <p:nvPr/>
        </p:nvSpPr>
        <p:spPr>
          <a:xfrm>
            <a:off x="6648450" y="2522636"/>
            <a:ext cx="2180272" cy="2583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Rod-floating risk classifier</a:t>
            </a:r>
          </a:p>
        </p:txBody>
      </p:sp>
      <p:sp>
        <p:nvSpPr>
          <p:cNvPr id="24" name="txt-li-x"/>
          <p:cNvSpPr txBox="1"/>
          <p:nvPr/>
        </p:nvSpPr>
        <p:spPr>
          <a:xfrm>
            <a:off x="6648450" y="2752427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Bayesian search under safety constraints</a:t>
            </a:r>
          </a:p>
        </p:txBody>
      </p:sp>
      <p:sp>
        <p:nvSpPr>
          <p:cNvPr id="25" name="txt-div-file"/>
          <p:cNvSpPr txBox="1"/>
          <p:nvPr/>
        </p:nvSpPr>
        <p:spPr>
          <a:xfrm>
            <a:off x="6648450" y="3390900"/>
            <a:ext cx="1721621" cy="200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0" i="0" spc="8">
                <a:solidFill>
                  <a:srgbClr val="93A3B6"/>
                </a:solidFill>
                <a:latin typeface="Consolas"/>
              </a:rPr>
              <a:t>ml/train.py · ml/optimize.py</a:t>
            </a:r>
          </a:p>
        </p:txBody>
      </p:sp>
      <p:sp>
        <p:nvSpPr>
          <p:cNvPr id="26" name="txt-b-x"/>
          <p:cNvSpPr txBox="1"/>
          <p:nvPr/>
        </p:nvSpPr>
        <p:spPr>
          <a:xfrm>
            <a:off x="9372600" y="1485900"/>
            <a:ext cx="3048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xt-span-x"/>
          <p:cNvSpPr txBox="1"/>
          <p:nvPr/>
        </p:nvSpPr>
        <p:spPr>
          <a:xfrm>
            <a:off x="9686925" y="1524000"/>
            <a:ext cx="74830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50">
                <a:solidFill>
                  <a:srgbClr val="EA580C"/>
                </a:solidFill>
                <a:latin typeface="Segoe UI"/>
              </a:rPr>
              <a:t>DELIVERY</a:t>
            </a:r>
          </a:p>
        </p:txBody>
      </p:sp>
      <p:sp>
        <p:nvSpPr>
          <p:cNvPr id="28" name="txt-h3-x"/>
          <p:cNvSpPr txBox="1"/>
          <p:nvPr/>
        </p:nvSpPr>
        <p:spPr>
          <a:xfrm>
            <a:off x="9372600" y="1800225"/>
            <a:ext cx="2180272" cy="3009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70"/>
              </a:lnSpc>
            </a:pPr>
            <a:r>
              <a:rPr sz="1500" b="1" i="0" spc="-22">
                <a:solidFill>
                  <a:srgbClr val="0F2540"/>
                </a:solidFill>
                <a:latin typeface="Segoe UI"/>
              </a:rPr>
              <a:t>Twin dashboard &amp; API</a:t>
            </a:r>
          </a:p>
        </p:txBody>
      </p:sp>
      <p:sp>
        <p:nvSpPr>
          <p:cNvPr id="29" name="txt-li-x"/>
          <p:cNvSpPr txBox="1"/>
          <p:nvPr/>
        </p:nvSpPr>
        <p:spPr>
          <a:xfrm>
            <a:off x="9372600" y="2110680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FastAPI /simulate /optimize /params</a:t>
            </a:r>
          </a:p>
        </p:txBody>
      </p:sp>
      <p:sp>
        <p:nvSpPr>
          <p:cNvPr id="30" name="txt-li-x"/>
          <p:cNvSpPr txBox="1"/>
          <p:nvPr/>
        </p:nvSpPr>
        <p:spPr>
          <a:xfrm>
            <a:off x="9372600" y="2522636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SOR gauge, dynamometer card, alerts</a:t>
            </a:r>
          </a:p>
        </p:txBody>
      </p:sp>
      <p:sp>
        <p:nvSpPr>
          <p:cNvPr id="31" name="txt-li-x"/>
          <p:cNvSpPr txBox="1"/>
          <p:nvPr/>
        </p:nvSpPr>
        <p:spPr>
          <a:xfrm>
            <a:off x="9372600" y="2934592"/>
            <a:ext cx="2180272" cy="4405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36"/>
              </a:lnSpc>
            </a:pPr>
            <a:r>
              <a:rPr sz="1090" b="0" i="0">
                <a:solidFill>
                  <a:srgbClr val="4C6076"/>
                </a:solidFill>
                <a:latin typeface="Segoe UI"/>
              </a:rPr>
              <a:t>One recommendation card per cycle</a:t>
            </a:r>
          </a:p>
        </p:txBody>
      </p:sp>
      <p:sp>
        <p:nvSpPr>
          <p:cNvPr id="32" name="txt-div-file"/>
          <p:cNvSpPr txBox="1"/>
          <p:nvPr/>
        </p:nvSpPr>
        <p:spPr>
          <a:xfrm>
            <a:off x="9372600" y="3390900"/>
            <a:ext cx="1481732" cy="2000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0" i="0" spc="8">
                <a:solidFill>
                  <a:srgbClr val="93A3B6"/>
                </a:solidFill>
                <a:latin typeface="Consolas"/>
              </a:rPr>
              <a:t>api/main.py · dashboard/</a:t>
            </a:r>
          </a:p>
        </p:txBody>
      </p:sp>
      <p:sp>
        <p:nvSpPr>
          <p:cNvPr id="33" name="txt-div-loop"/>
          <p:cNvSpPr txBox="1"/>
          <p:nvPr/>
        </p:nvSpPr>
        <p:spPr>
          <a:xfrm>
            <a:off x="1028700" y="3762375"/>
            <a:ext cx="1108710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20" b="1" i="0">
                <a:solidFill>
                  <a:srgbClr val="A1560C"/>
                </a:solidFill>
                <a:latin typeface="Segoe UI"/>
              </a:rPr>
              <a:t> Closed loop — accepted set-points feed back as new training rows: VFD speed &amp; steam-control schedule → next cycle </a:t>
            </a:r>
          </a:p>
        </p:txBody>
      </p:sp>
      <p:sp>
        <p:nvSpPr>
          <p:cNvPr id="34" name="txt-span-x"/>
          <p:cNvSpPr txBox="1"/>
          <p:nvPr/>
        </p:nvSpPr>
        <p:spPr>
          <a:xfrm>
            <a:off x="1200150" y="4352925"/>
            <a:ext cx="3200400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1" i="0" spc="150">
                <a:solidFill>
                  <a:srgbClr val="F59E0B"/>
                </a:solidFill>
                <a:latin typeface="Segoe UI"/>
              </a:rPr>
              <a:t>THERMAL</a:t>
            </a:r>
          </a:p>
        </p:txBody>
      </p:sp>
      <p:sp>
        <p:nvSpPr>
          <p:cNvPr id="35" name="txt-b-x"/>
          <p:cNvSpPr txBox="1"/>
          <p:nvPr/>
        </p:nvSpPr>
        <p:spPr>
          <a:xfrm>
            <a:off x="1200150" y="4552950"/>
            <a:ext cx="32004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0" b="1" i="0" spc="-15">
                <a:solidFill>
                  <a:srgbClr val="FFFFFF"/>
                </a:solidFill>
                <a:latin typeface="Segoe UI"/>
              </a:rPr>
              <a:t>Marx–Langenheim (1959)</a:t>
            </a:r>
          </a:p>
        </p:txBody>
      </p:sp>
      <p:sp>
        <p:nvSpPr>
          <p:cNvPr id="36" name="txt-code-x"/>
          <p:cNvSpPr txBox="1"/>
          <p:nvPr/>
        </p:nvSpPr>
        <p:spPr>
          <a:xfrm>
            <a:off x="1200150" y="4838700"/>
            <a:ext cx="3200400" cy="540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77"/>
              </a:lnSpc>
            </a:pPr>
            <a:r>
              <a:rPr sz="1090" b="0" i="0">
                <a:solidFill>
                  <a:srgbClr val="FFD89B"/>
                </a:solidFill>
                <a:latin typeface="Consolas"/>
              </a:rPr>
              <a:t>A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s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(t) = (Q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i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 M h) / (4 k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ob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 ρc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ob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 ΔT) · F(t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D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)</a:t>
            </a:r>
          </a:p>
        </p:txBody>
      </p:sp>
      <p:sp>
        <p:nvSpPr>
          <p:cNvPr id="37" name="txt-i-x"/>
          <p:cNvSpPr txBox="1"/>
          <p:nvPr/>
        </p:nvSpPr>
        <p:spPr>
          <a:xfrm>
            <a:off x="1200150" y="5370016"/>
            <a:ext cx="3200400" cy="2370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980" b="0" i="0">
                <a:solidFill>
                  <a:srgbClr val="8FA5BD"/>
                </a:solidFill>
                <a:latin typeface="Segoe UI"/>
              </a:rPr>
              <a:t>How far the heated zone spreads per unit steam.</a:t>
            </a:r>
          </a:p>
        </p:txBody>
      </p:sp>
      <p:sp>
        <p:nvSpPr>
          <p:cNvPr id="38" name="txt-span-x"/>
          <p:cNvSpPr txBox="1"/>
          <p:nvPr/>
        </p:nvSpPr>
        <p:spPr>
          <a:xfrm>
            <a:off x="4800600" y="4352925"/>
            <a:ext cx="3200400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1" i="0" spc="150">
                <a:solidFill>
                  <a:srgbClr val="F59E0B"/>
                </a:solidFill>
                <a:latin typeface="Segoe UI"/>
              </a:rPr>
              <a:t>FLUID</a:t>
            </a:r>
          </a:p>
        </p:txBody>
      </p:sp>
      <p:sp>
        <p:nvSpPr>
          <p:cNvPr id="39" name="txt-b-x"/>
          <p:cNvSpPr txBox="1"/>
          <p:nvPr/>
        </p:nvSpPr>
        <p:spPr>
          <a:xfrm>
            <a:off x="4800600" y="4552950"/>
            <a:ext cx="32004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0" b="1" i="0" spc="-15">
                <a:solidFill>
                  <a:srgbClr val="FFFFFF"/>
                </a:solidFill>
                <a:latin typeface="Segoe UI"/>
              </a:rPr>
              <a:t>Andrade viscosity law</a:t>
            </a:r>
          </a:p>
        </p:txBody>
      </p:sp>
      <p:sp>
        <p:nvSpPr>
          <p:cNvPr id="40" name="txt-code-x"/>
          <p:cNvSpPr txBox="1"/>
          <p:nvPr/>
        </p:nvSpPr>
        <p:spPr>
          <a:xfrm>
            <a:off x="4800600" y="4838700"/>
            <a:ext cx="3200400" cy="2763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77"/>
              </a:lnSpc>
            </a:pPr>
            <a:r>
              <a:rPr sz="1090" b="0" i="0">
                <a:solidFill>
                  <a:srgbClr val="FFD89B"/>
                </a:solidFill>
                <a:latin typeface="Consolas"/>
              </a:rPr>
              <a:t>μ(T) = A · exp(B / T)</a:t>
            </a:r>
          </a:p>
        </p:txBody>
      </p:sp>
      <p:sp>
        <p:nvSpPr>
          <p:cNvPr id="41" name="txt-i-x"/>
          <p:cNvSpPr txBox="1"/>
          <p:nvPr/>
        </p:nvSpPr>
        <p:spPr>
          <a:xfrm>
            <a:off x="4800600" y="5105548"/>
            <a:ext cx="3200400" cy="2370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980" b="0" i="0">
                <a:solidFill>
                  <a:srgbClr val="8FA5BD"/>
                </a:solidFill>
                <a:latin typeface="Segoe UI"/>
              </a:rPr>
              <a:t>Fitted to Baghewala's own μ–T data.</a:t>
            </a:r>
          </a:p>
        </p:txBody>
      </p:sp>
      <p:sp>
        <p:nvSpPr>
          <p:cNvPr id="42" name="txt-span-x"/>
          <p:cNvSpPr txBox="1"/>
          <p:nvPr/>
        </p:nvSpPr>
        <p:spPr>
          <a:xfrm>
            <a:off x="8401050" y="4352925"/>
            <a:ext cx="3200400" cy="2190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19" b="1" i="0" spc="150">
                <a:solidFill>
                  <a:srgbClr val="F59E0B"/>
                </a:solidFill>
                <a:latin typeface="Segoe UI"/>
              </a:rPr>
              <a:t>INFLOW</a:t>
            </a:r>
          </a:p>
        </p:txBody>
      </p:sp>
      <p:sp>
        <p:nvSpPr>
          <p:cNvPr id="43" name="txt-b-x"/>
          <p:cNvSpPr txBox="1"/>
          <p:nvPr/>
        </p:nvSpPr>
        <p:spPr>
          <a:xfrm>
            <a:off x="8401050" y="4552950"/>
            <a:ext cx="3200400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40" b="1" i="0" spc="-15">
                <a:solidFill>
                  <a:srgbClr val="FFFFFF"/>
                </a:solidFill>
                <a:latin typeface="Segoe UI"/>
              </a:rPr>
              <a:t>Vogel IPR (1968)</a:t>
            </a:r>
          </a:p>
        </p:txBody>
      </p:sp>
      <p:sp>
        <p:nvSpPr>
          <p:cNvPr id="44" name="txt-code-x"/>
          <p:cNvSpPr txBox="1"/>
          <p:nvPr/>
        </p:nvSpPr>
        <p:spPr>
          <a:xfrm>
            <a:off x="8401050" y="4838700"/>
            <a:ext cx="3200400" cy="308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77"/>
              </a:lnSpc>
            </a:pPr>
            <a:r>
              <a:rPr sz="1090" b="0" i="0">
                <a:solidFill>
                  <a:srgbClr val="FFD89B"/>
                </a:solidFill>
                <a:latin typeface="Consolas"/>
              </a:rPr>
              <a:t>q/q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max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 = 1 − 0.2(p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wf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/p̄) − 0.8(p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wf</a:t>
            </a:r>
            <a:r>
              <a:rPr sz="1090" b="0" i="0">
                <a:solidFill>
                  <a:srgbClr val="FFD89B"/>
                </a:solidFill>
                <a:latin typeface="Consolas"/>
              </a:rPr>
              <a:t>/p̄)²</a:t>
            </a:r>
          </a:p>
        </p:txBody>
      </p:sp>
      <p:sp>
        <p:nvSpPr>
          <p:cNvPr id="45" name="txt-i-x"/>
          <p:cNvSpPr txBox="1"/>
          <p:nvPr/>
        </p:nvSpPr>
        <p:spPr>
          <a:xfrm>
            <a:off x="8401050" y="5137695"/>
            <a:ext cx="3200400" cy="2370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67"/>
              </a:lnSpc>
            </a:pPr>
            <a:r>
              <a:rPr sz="980" b="0" i="0">
                <a:solidFill>
                  <a:srgbClr val="8FA5BD"/>
                </a:solidFill>
                <a:latin typeface="Segoe UI"/>
              </a:rPr>
              <a:t>What the heated reservoir delivers to the pump.</a:t>
            </a:r>
          </a:p>
        </p:txBody>
      </p:sp>
      <p:sp>
        <p:nvSpPr>
          <p:cNvPr id="46" name="txt-span-lbl"/>
          <p:cNvSpPr txBox="1"/>
          <p:nvPr/>
        </p:nvSpPr>
        <p:spPr>
          <a:xfrm>
            <a:off x="1028700" y="5919787"/>
            <a:ext cx="51866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50">
                <a:solidFill>
                  <a:srgbClr val="8493A6"/>
                </a:solidFill>
                <a:latin typeface="Segoe UI"/>
              </a:rPr>
              <a:t>STACK</a:t>
            </a:r>
          </a:p>
        </p:txBody>
      </p:sp>
      <p:sp>
        <p:nvSpPr>
          <p:cNvPr id="47" name="txt-span-p"/>
          <p:cNvSpPr txBox="1"/>
          <p:nvPr/>
        </p:nvSpPr>
        <p:spPr>
          <a:xfrm>
            <a:off x="1604516" y="5838825"/>
            <a:ext cx="1023788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  <a:latin typeface="Segoe UI"/>
              </a:rPr>
              <a:t>Python 3.12</a:t>
            </a:r>
          </a:p>
        </p:txBody>
      </p:sp>
      <p:sp>
        <p:nvSpPr>
          <p:cNvPr id="48" name="txt-span-p"/>
          <p:cNvSpPr txBox="1"/>
          <p:nvPr/>
        </p:nvSpPr>
        <p:spPr>
          <a:xfrm>
            <a:off x="2647354" y="5838825"/>
            <a:ext cx="1189136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  <a:latin typeface="Segoe UI"/>
              </a:rPr>
              <a:t>NumPy · SciPy</a:t>
            </a:r>
          </a:p>
        </p:txBody>
      </p:sp>
      <p:sp>
        <p:nvSpPr>
          <p:cNvPr id="49" name="txt-span-p"/>
          <p:cNvSpPr txBox="1"/>
          <p:nvPr/>
        </p:nvSpPr>
        <p:spPr>
          <a:xfrm>
            <a:off x="3855541" y="5838825"/>
            <a:ext cx="843260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A1560C"/>
                </a:solidFill>
                <a:latin typeface="Segoe UI"/>
              </a:rPr>
              <a:t>XGBoost</a:t>
            </a:r>
          </a:p>
        </p:txBody>
      </p:sp>
      <p:sp>
        <p:nvSpPr>
          <p:cNvPr id="50" name="txt-span-p"/>
          <p:cNvSpPr txBox="1"/>
          <p:nvPr/>
        </p:nvSpPr>
        <p:spPr>
          <a:xfrm>
            <a:off x="4717851" y="5838825"/>
            <a:ext cx="1207442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A1560C"/>
                </a:solidFill>
                <a:latin typeface="Segoe UI"/>
              </a:rPr>
              <a:t>scikit-optimize</a:t>
            </a:r>
          </a:p>
        </p:txBody>
      </p:sp>
      <p:sp>
        <p:nvSpPr>
          <p:cNvPr id="51" name="txt-span-p"/>
          <p:cNvSpPr txBox="1"/>
          <p:nvPr/>
        </p:nvSpPr>
        <p:spPr>
          <a:xfrm>
            <a:off x="5944344" y="5838825"/>
            <a:ext cx="768101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  <a:latin typeface="Segoe UI"/>
              </a:rPr>
              <a:t>FastAPI</a:t>
            </a:r>
          </a:p>
        </p:txBody>
      </p:sp>
      <p:sp>
        <p:nvSpPr>
          <p:cNvPr id="52" name="txt-span-p"/>
          <p:cNvSpPr txBox="1"/>
          <p:nvPr/>
        </p:nvSpPr>
        <p:spPr>
          <a:xfrm>
            <a:off x="6731496" y="5838825"/>
            <a:ext cx="1345406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  <a:latin typeface="Segoe UI"/>
              </a:rPr>
              <a:t>Plotly dashboard</a:t>
            </a:r>
          </a:p>
        </p:txBody>
      </p:sp>
      <p:sp>
        <p:nvSpPr>
          <p:cNvPr id="53" name="txt-span-p"/>
          <p:cNvSpPr txBox="1"/>
          <p:nvPr/>
        </p:nvSpPr>
        <p:spPr>
          <a:xfrm>
            <a:off x="8095952" y="5838825"/>
            <a:ext cx="1951337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1E3A5F"/>
                </a:solidFill>
                <a:latin typeface="Segoe UI"/>
              </a:rPr>
              <a:t>pytest — physics unit tests</a:t>
            </a:r>
          </a:p>
        </p:txBody>
      </p:sp>
      <p:sp>
        <p:nvSpPr>
          <p:cNvPr id="54" name="txt-span-x"/>
          <p:cNvSpPr txBox="1"/>
          <p:nvPr/>
        </p:nvSpPr>
        <p:spPr>
          <a:xfrm>
            <a:off x="1028700" y="6538912"/>
            <a:ext cx="349293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30">
                <a:solidFill>
                  <a:srgbClr val="FFFFFF"/>
                </a:solidFill>
                <a:latin typeface="Segoe UI"/>
              </a:rPr>
              <a:t>PS SIH26120</a:t>
            </a:r>
            <a:r>
              <a:rPr sz="940" b="0" i="0" spc="30">
                <a:solidFill>
                  <a:srgbClr val="93A9C2"/>
                </a:solidFill>
                <a:latin typeface="Segoe UI"/>
              </a:rPr>
              <a:t> · TEAM ________ · Smart India Hackathon 2026</a:t>
            </a:r>
          </a:p>
        </p:txBody>
      </p:sp>
      <p:sp>
        <p:nvSpPr>
          <p:cNvPr id="55" name="txt-span-sih"/>
          <p:cNvSpPr txBox="1"/>
          <p:nvPr/>
        </p:nvSpPr>
        <p:spPr>
          <a:xfrm>
            <a:off x="9524404" y="6538912"/>
            <a:ext cx="2200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105">
                <a:solidFill>
                  <a:srgbClr val="F59E0B"/>
                </a:solidFill>
                <a:latin typeface="Segoe UI"/>
              </a:rPr>
              <a:t>TECHNICAL APPROACH · 03/07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div-kick"/>
          <p:cNvSpPr txBox="1"/>
          <p:nvPr/>
        </p:nvSpPr>
        <p:spPr>
          <a:xfrm>
            <a:off x="1028700" y="266700"/>
            <a:ext cx="366702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 spc="240">
                <a:solidFill>
                  <a:srgbClr val="EA580C"/>
                </a:solidFill>
                <a:latin typeface="Segoe UI"/>
              </a:rPr>
              <a:t>TECHNICAL APPROACH </a:t>
            </a:r>
            <a:r>
              <a:rPr sz="1010" b="1" i="0" spc="240">
                <a:solidFill>
                  <a:srgbClr val="A9B7C6"/>
                </a:solidFill>
                <a:latin typeface="Segoe UI"/>
              </a:rPr>
              <a:t>— METHODOLOGY</a:t>
            </a:r>
          </a:p>
        </p:txBody>
      </p:sp>
      <p:sp>
        <p:nvSpPr>
          <p:cNvPr id="4" name="txt-h1-x"/>
          <p:cNvSpPr txBox="1"/>
          <p:nvPr/>
        </p:nvSpPr>
        <p:spPr>
          <a:xfrm>
            <a:off x="1028700" y="466725"/>
            <a:ext cx="9301162" cy="47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8"/>
              </a:lnSpc>
            </a:pPr>
            <a:r>
              <a:rPr sz="2780" b="1" i="0" spc="-64">
                <a:solidFill>
                  <a:srgbClr val="0F2540"/>
                </a:solidFill>
                <a:latin typeface="Segoe UI"/>
              </a:rPr>
              <a:t>What the twin actually decides, </a:t>
            </a:r>
            <a:r>
              <a:rPr sz="2780" b="1" i="0" spc="-64">
                <a:solidFill>
                  <a:srgbClr val="C2410C"/>
                </a:solidFill>
                <a:latin typeface="Segoe UI"/>
              </a:rPr>
              <a:t>cycle by cycle</a:t>
            </a:r>
          </a:p>
        </p:txBody>
      </p:sp>
      <p:sp>
        <p:nvSpPr>
          <p:cNvPr id="5" name="txt-h3-x"/>
          <p:cNvSpPr txBox="1"/>
          <p:nvPr/>
        </p:nvSpPr>
        <p:spPr>
          <a:xfrm>
            <a:off x="1228725" y="4324350"/>
            <a:ext cx="602075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65">
                <a:solidFill>
                  <a:srgbClr val="EA580C"/>
                </a:solidFill>
                <a:latin typeface="Segoe UI"/>
              </a:rPr>
              <a:t>FOUR CONTROL VARIABLES — BOUNDED BY REAL FIELD PRACTICE</a:t>
            </a:r>
          </a:p>
        </p:txBody>
      </p:sp>
      <p:sp>
        <p:nvSpPr>
          <p:cNvPr id="6" name="txt-td-k"/>
          <p:cNvSpPr txBox="1"/>
          <p:nvPr/>
        </p:nvSpPr>
        <p:spPr>
          <a:xfrm>
            <a:off x="1228725" y="4562475"/>
            <a:ext cx="1860232" cy="376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Segoe UI"/>
              </a:rPr>
              <a:t>1</a:t>
            </a:r>
            <a:r>
              <a:rPr sz="1160" b="1" i="0">
                <a:solidFill>
                  <a:srgbClr val="0F2540"/>
                </a:solidFill>
                <a:latin typeface="Segoe UI"/>
              </a:rPr>
              <a:t>Steam volume</a:t>
            </a:r>
          </a:p>
        </p:txBody>
      </p:sp>
      <p:sp>
        <p:nvSpPr>
          <p:cNvPr id="7" name="txt-td-x"/>
          <p:cNvSpPr txBox="1"/>
          <p:nvPr/>
        </p:nvSpPr>
        <p:spPr>
          <a:xfrm>
            <a:off x="3000375" y="4562475"/>
            <a:ext cx="4160520" cy="376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0" i="0">
                <a:solidFill>
                  <a:srgbClr val="4C6076"/>
                </a:solidFill>
                <a:latin typeface="Segoe UI"/>
              </a:rPr>
              <a:t>Generator-limited over a 14–21 day window</a:t>
            </a:r>
          </a:p>
        </p:txBody>
      </p:sp>
      <p:sp>
        <p:nvSpPr>
          <p:cNvPr id="8" name="txt-td-k"/>
          <p:cNvSpPr txBox="1"/>
          <p:nvPr/>
        </p:nvSpPr>
        <p:spPr>
          <a:xfrm>
            <a:off x="1228725" y="4862512"/>
            <a:ext cx="1860232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Segoe UI"/>
              </a:rPr>
              <a:t>2</a:t>
            </a:r>
            <a:r>
              <a:rPr sz="1160" b="1" i="0">
                <a:solidFill>
                  <a:srgbClr val="0F2540"/>
                </a:solidFill>
                <a:latin typeface="Segoe UI"/>
              </a:rPr>
              <a:t>Soak duration</a:t>
            </a:r>
          </a:p>
        </p:txBody>
      </p:sp>
      <p:sp>
        <p:nvSpPr>
          <p:cNvPr id="9" name="txt-td-x"/>
          <p:cNvSpPr txBox="1"/>
          <p:nvPr/>
        </p:nvSpPr>
        <p:spPr>
          <a:xfrm>
            <a:off x="3000375" y="4862512"/>
            <a:ext cx="416052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0" i="0">
                <a:solidFill>
                  <a:srgbClr val="4C6076"/>
                </a:solidFill>
                <a:latin typeface="Segoe UI"/>
              </a:rPr>
              <a:t>Field practice: 50–60% of the injection phase</a:t>
            </a:r>
          </a:p>
        </p:txBody>
      </p:sp>
      <p:sp>
        <p:nvSpPr>
          <p:cNvPr id="10" name="txt-td-k"/>
          <p:cNvSpPr txBox="1"/>
          <p:nvPr/>
        </p:nvSpPr>
        <p:spPr>
          <a:xfrm>
            <a:off x="1228725" y="5167312"/>
            <a:ext cx="1860232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Segoe UI"/>
              </a:rPr>
              <a:t>3</a:t>
            </a:r>
            <a:r>
              <a:rPr sz="1160" b="1" i="0">
                <a:solidFill>
                  <a:srgbClr val="0F2540"/>
                </a:solidFill>
                <a:latin typeface="Segoe UI"/>
              </a:rPr>
              <a:t>Pump speed (SPM)</a:t>
            </a:r>
          </a:p>
        </p:txBody>
      </p:sp>
      <p:sp>
        <p:nvSpPr>
          <p:cNvPr id="11" name="txt-td-x"/>
          <p:cNvSpPr txBox="1"/>
          <p:nvPr/>
        </p:nvSpPr>
        <p:spPr>
          <a:xfrm>
            <a:off x="3000375" y="5167312"/>
            <a:ext cx="416052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0" i="0">
                <a:solidFill>
                  <a:srgbClr val="4C6076"/>
                </a:solidFill>
                <a:latin typeface="Segoe UI"/>
              </a:rPr>
              <a:t>VFD range, capped by the rod-floating limit</a:t>
            </a:r>
          </a:p>
        </p:txBody>
      </p:sp>
      <p:sp>
        <p:nvSpPr>
          <p:cNvPr id="12" name="txt-td-k"/>
          <p:cNvSpPr txBox="1"/>
          <p:nvPr/>
        </p:nvSpPr>
        <p:spPr>
          <a:xfrm>
            <a:off x="1228725" y="5472112"/>
            <a:ext cx="1860232" cy="376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1" i="0">
                <a:solidFill>
                  <a:srgbClr val="FFFFFF"/>
                </a:solidFill>
                <a:latin typeface="Segoe UI"/>
              </a:rPr>
              <a:t>4</a:t>
            </a:r>
            <a:r>
              <a:rPr sz="1160" b="1" i="0">
                <a:solidFill>
                  <a:srgbClr val="0F2540"/>
                </a:solidFill>
                <a:latin typeface="Segoe UI"/>
              </a:rPr>
              <a:t>Cut-off rate</a:t>
            </a:r>
          </a:p>
        </p:txBody>
      </p:sp>
      <p:sp>
        <p:nvSpPr>
          <p:cNvPr id="13" name="txt-td-x"/>
          <p:cNvSpPr txBox="1"/>
          <p:nvPr/>
        </p:nvSpPr>
        <p:spPr>
          <a:xfrm>
            <a:off x="3000375" y="5472112"/>
            <a:ext cx="4160520" cy="3762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60" b="0" i="0">
                <a:solidFill>
                  <a:srgbClr val="4C6076"/>
                </a:solidFill>
                <a:latin typeface="Segoe UI"/>
              </a:rPr>
              <a:t>When the cycle stops paying — steam goes back in</a:t>
            </a:r>
          </a:p>
        </p:txBody>
      </p:sp>
      <p:sp>
        <p:nvSpPr>
          <p:cNvPr id="14" name="txt-h3-x"/>
          <p:cNvSpPr txBox="1"/>
          <p:nvPr/>
        </p:nvSpPr>
        <p:spPr>
          <a:xfrm>
            <a:off x="7581900" y="4314825"/>
            <a:ext cx="404050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65">
                <a:solidFill>
                  <a:srgbClr val="F59E0B"/>
                </a:solidFill>
                <a:latin typeface="Segoe UI"/>
              </a:rPr>
              <a:t>OBJECTIVE &amp; CONSTRAINT</a:t>
            </a:r>
          </a:p>
        </p:txBody>
      </p:sp>
      <p:sp>
        <p:nvSpPr>
          <p:cNvPr id="15" name="txt-code-x"/>
          <p:cNvSpPr txBox="1"/>
          <p:nvPr/>
        </p:nvSpPr>
        <p:spPr>
          <a:xfrm>
            <a:off x="7581900" y="4562475"/>
            <a:ext cx="4040505" cy="3076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FFD89B"/>
                </a:solidFill>
                <a:latin typeface="Consolas"/>
              </a:rPr>
              <a:t>minimise SOR(x) </a:t>
            </a:r>
            <a:r>
              <a:rPr sz="1120" b="0" i="0">
                <a:solidFill>
                  <a:srgbClr val="8FA5BD"/>
                </a:solidFill>
                <a:latin typeface="Consolas"/>
              </a:rPr>
              <a:t>t steam / m³ oil</a:t>
            </a:r>
          </a:p>
        </p:txBody>
      </p:sp>
      <p:sp>
        <p:nvSpPr>
          <p:cNvPr id="16" name="txt-code-x"/>
          <p:cNvSpPr txBox="1"/>
          <p:nvPr/>
        </p:nvSpPr>
        <p:spPr>
          <a:xfrm>
            <a:off x="7581900" y="4793902"/>
            <a:ext cx="4040505" cy="3076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FFD89B"/>
                </a:solidFill>
                <a:latin typeface="Consolas"/>
              </a:rPr>
              <a:t>s.t. P(rod float | x) &lt; 0.30</a:t>
            </a:r>
          </a:p>
        </p:txBody>
      </p:sp>
      <p:sp>
        <p:nvSpPr>
          <p:cNvPr id="17" name="txt-code-x"/>
          <p:cNvSpPr txBox="1"/>
          <p:nvPr/>
        </p:nvSpPr>
        <p:spPr>
          <a:xfrm>
            <a:off x="7581900" y="5025330"/>
            <a:ext cx="4040505" cy="3357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3"/>
              </a:lnSpc>
            </a:pPr>
            <a:r>
              <a:rPr sz="1120" b="0" i="0">
                <a:solidFill>
                  <a:srgbClr val="FFD89B"/>
                </a:solidFill>
                <a:latin typeface="Consolas"/>
              </a:rPr>
              <a:t>x = [ V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steam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, t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soak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, N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pump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, q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cut</a:t>
            </a:r>
            <a:r>
              <a:rPr sz="1120" b="0" i="0">
                <a:solidFill>
                  <a:srgbClr val="FFD89B"/>
                </a:solidFill>
                <a:latin typeface="Consolas"/>
              </a:rPr>
              <a:t> ]</a:t>
            </a:r>
          </a:p>
        </p:txBody>
      </p:sp>
      <p:sp>
        <p:nvSpPr>
          <p:cNvPr id="18" name="txt-p-x"/>
          <p:cNvSpPr txBox="1"/>
          <p:nvPr/>
        </p:nvSpPr>
        <p:spPr>
          <a:xfrm>
            <a:off x="7581900" y="5370611"/>
            <a:ext cx="4040505" cy="4104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0" i="0">
                <a:solidFill>
                  <a:srgbClr val="8FA5BD"/>
                </a:solidFill>
                <a:latin typeface="Segoe UI"/>
              </a:rPr>
              <a:t>gp_minimize with 10 random restarts; floating index &gt; 0.6 is treated as unsafe and rejected.</a:t>
            </a:r>
          </a:p>
        </p:txBody>
      </p:sp>
      <p:sp>
        <p:nvSpPr>
          <p:cNvPr id="19" name="txt-div-note"/>
          <p:cNvSpPr txBox="1"/>
          <p:nvPr/>
        </p:nvSpPr>
        <p:spPr>
          <a:xfrm>
            <a:off x="1028700" y="5991225"/>
            <a:ext cx="110871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>
                <a:solidFill>
                  <a:srgbClr val="5A6B80"/>
                </a:solidFill>
                <a:latin typeface="Segoe UI"/>
              </a:rPr>
              <a:t>Benchmark:</a:t>
            </a:r>
            <a:r>
              <a:rPr sz="1010" b="0" i="0">
                <a:solidFill>
                  <a:srgbClr val="8493A6"/>
                </a:solidFill>
                <a:latin typeface="Segoe UI"/>
              </a:rPr>
              <a:t> heavy-oil CSS runs at an SOR of roughly 3–8 (average ~6), efficient below 3. Baghewala's own SOR is not publicly reported.</a:t>
            </a:r>
          </a:p>
        </p:txBody>
      </p:sp>
      <p:sp>
        <p:nvSpPr>
          <p:cNvPr id="20" name="txt-span-x"/>
          <p:cNvSpPr txBox="1"/>
          <p:nvPr/>
        </p:nvSpPr>
        <p:spPr>
          <a:xfrm>
            <a:off x="1028700" y="6538912"/>
            <a:ext cx="349293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30">
                <a:solidFill>
                  <a:srgbClr val="FFFFFF"/>
                </a:solidFill>
                <a:latin typeface="Segoe UI"/>
              </a:rPr>
              <a:t>PS SIH26120</a:t>
            </a:r>
            <a:r>
              <a:rPr sz="940" b="0" i="0" spc="30">
                <a:solidFill>
                  <a:srgbClr val="93A9C2"/>
                </a:solidFill>
                <a:latin typeface="Segoe UI"/>
              </a:rPr>
              <a:t> · TEAM ________ · Smart India Hackathon 2026</a:t>
            </a:r>
          </a:p>
        </p:txBody>
      </p:sp>
      <p:sp>
        <p:nvSpPr>
          <p:cNvPr id="21" name="txt-span-sih"/>
          <p:cNvSpPr txBox="1"/>
          <p:nvPr/>
        </p:nvSpPr>
        <p:spPr>
          <a:xfrm>
            <a:off x="9524404" y="6538912"/>
            <a:ext cx="22009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105">
                <a:solidFill>
                  <a:srgbClr val="F59E0B"/>
                </a:solidFill>
                <a:latin typeface="Segoe UI"/>
              </a:rPr>
              <a:t>TECHNICAL APPROACH · 04/07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div-kick"/>
          <p:cNvSpPr txBox="1"/>
          <p:nvPr/>
        </p:nvSpPr>
        <p:spPr>
          <a:xfrm>
            <a:off x="1028700" y="266700"/>
            <a:ext cx="2320446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 spc="240">
                <a:solidFill>
                  <a:srgbClr val="EA580C"/>
                </a:solidFill>
                <a:latin typeface="Segoe UI"/>
              </a:rPr>
              <a:t>FEASIBILITY &amp; VIABILITY</a:t>
            </a:r>
          </a:p>
        </p:txBody>
      </p:sp>
      <p:sp>
        <p:nvSpPr>
          <p:cNvPr id="4" name="txt-h1-x"/>
          <p:cNvSpPr txBox="1"/>
          <p:nvPr/>
        </p:nvSpPr>
        <p:spPr>
          <a:xfrm>
            <a:off x="1028700" y="466725"/>
            <a:ext cx="9301162" cy="47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8"/>
              </a:lnSpc>
            </a:pPr>
            <a:r>
              <a:rPr sz="2780" b="1" i="0" spc="-64">
                <a:solidFill>
                  <a:srgbClr val="0F2540"/>
                </a:solidFill>
                <a:latin typeface="Segoe UI"/>
              </a:rPr>
              <a:t>Settled physics, real parameters, a </a:t>
            </a:r>
            <a:r>
              <a:rPr sz="2780" b="1" i="0" spc="-64">
                <a:solidFill>
                  <a:srgbClr val="C2410C"/>
                </a:solidFill>
                <a:latin typeface="Segoe UI"/>
              </a:rPr>
              <a:t>de-risked</a:t>
            </a:r>
            <a:r>
              <a:rPr sz="2780" b="1" i="0" spc="-64">
                <a:solidFill>
                  <a:srgbClr val="0F2540"/>
                </a:solidFill>
                <a:latin typeface="Segoe UI"/>
              </a:rPr>
              <a:t> field</a:t>
            </a:r>
          </a:p>
        </p:txBody>
      </p:sp>
      <p:sp>
        <p:nvSpPr>
          <p:cNvPr id="5" name="txt-h3-x"/>
          <p:cNvSpPr txBox="1"/>
          <p:nvPr/>
        </p:nvSpPr>
        <p:spPr>
          <a:xfrm>
            <a:off x="1219200" y="1876425"/>
            <a:ext cx="3160395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 spc="-22">
                <a:solidFill>
                  <a:srgbClr val="0F2540"/>
                </a:solidFill>
                <a:latin typeface="Segoe UI"/>
              </a:rPr>
              <a:t>The physics is settled</a:t>
            </a:r>
          </a:p>
        </p:txBody>
      </p:sp>
      <p:sp>
        <p:nvSpPr>
          <p:cNvPr id="6" name="txt-p-x"/>
          <p:cNvSpPr txBox="1"/>
          <p:nvPr/>
        </p:nvSpPr>
        <p:spPr>
          <a:xfrm>
            <a:off x="1219200" y="2200275"/>
            <a:ext cx="3160395" cy="917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4C6076"/>
                </a:solidFill>
                <a:latin typeface="Segoe UI"/>
              </a:rPr>
              <a:t>Marx–Langenheim (1959), Andrade / </a:t>
            </a:r>
            <a:r>
              <a:rPr sz="1200" b="1" i="0">
                <a:solidFill>
                  <a:srgbClr val="0F2540"/>
                </a:solidFill>
                <a:latin typeface="Segoe UI"/>
              </a:rPr>
              <a:t>ASTM D341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, Vogel (1968) — textbook models, 50+ years of use. No research risk, only integration.</a:t>
            </a:r>
          </a:p>
        </p:txBody>
      </p:sp>
      <p:sp>
        <p:nvSpPr>
          <p:cNvPr id="7" name="txt-h3-x"/>
          <p:cNvSpPr txBox="1"/>
          <p:nvPr/>
        </p:nvSpPr>
        <p:spPr>
          <a:xfrm>
            <a:off x="4819650" y="1876425"/>
            <a:ext cx="3160395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 spc="-22">
                <a:solidFill>
                  <a:srgbClr val="0F2540"/>
                </a:solidFill>
                <a:latin typeface="Segoe UI"/>
              </a:rPr>
              <a:t>The parameters are real</a:t>
            </a:r>
          </a:p>
        </p:txBody>
      </p:sp>
      <p:sp>
        <p:nvSpPr>
          <p:cNvPr id="8" name="txt-p-x"/>
          <p:cNvSpPr txBox="1"/>
          <p:nvPr/>
        </p:nvSpPr>
        <p:spPr>
          <a:xfrm>
            <a:off x="4819650" y="2200275"/>
            <a:ext cx="3160395" cy="707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sz="1200" b="1" i="0">
                <a:solidFill>
                  <a:srgbClr val="0F2540"/>
                </a:solidFill>
                <a:latin typeface="Segoe UI"/>
              </a:rPr>
              <a:t>field_params.json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 is calibrated to SPE and Oil India data: depth ~1,150 m, μ 11,500 cP @ 50 °C, steam 290 °C, porosity 0.09.</a:t>
            </a:r>
          </a:p>
        </p:txBody>
      </p:sp>
      <p:sp>
        <p:nvSpPr>
          <p:cNvPr id="9" name="txt-h3-x"/>
          <p:cNvSpPr txBox="1"/>
          <p:nvPr/>
        </p:nvSpPr>
        <p:spPr>
          <a:xfrm>
            <a:off x="8420100" y="1876425"/>
            <a:ext cx="3160395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1" i="0" spc="-22">
                <a:solidFill>
                  <a:srgbClr val="0F2540"/>
                </a:solidFill>
                <a:latin typeface="Segoe UI"/>
              </a:rPr>
              <a:t>The field is de-risked</a:t>
            </a:r>
          </a:p>
        </p:txBody>
      </p:sp>
      <p:sp>
        <p:nvSpPr>
          <p:cNvPr id="10" name="txt-p-x"/>
          <p:cNvSpPr txBox="1"/>
          <p:nvPr/>
        </p:nvSpPr>
        <p:spPr>
          <a:xfrm>
            <a:off x="8420100" y="2200275"/>
            <a:ext cx="3160395" cy="707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4C6076"/>
                </a:solidFill>
                <a:latin typeface="Segoe UI"/>
              </a:rPr>
              <a:t>India's first CSS ran here — </a:t>
            </a:r>
            <a:r>
              <a:rPr sz="1200" b="1" i="0">
                <a:solidFill>
                  <a:srgbClr val="0F2540"/>
                </a:solidFill>
                <a:latin typeface="Segoe UI"/>
              </a:rPr>
              <a:t>BGW-8, Dec 2018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 — with a </a:t>
            </a:r>
            <a:r>
              <a:rPr sz="1200" b="1" i="0">
                <a:solidFill>
                  <a:srgbClr val="0F2540"/>
                </a:solidFill>
                <a:latin typeface="Segoe UI"/>
              </a:rPr>
              <a:t>5–6× first-cycle uplift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. 52 wells drilled, 33 operational.</a:t>
            </a:r>
          </a:p>
        </p:txBody>
      </p:sp>
      <p:sp>
        <p:nvSpPr>
          <p:cNvPr id="11" name="txt-span-x"/>
          <p:cNvSpPr txBox="1"/>
          <p:nvPr/>
        </p:nvSpPr>
        <p:spPr>
          <a:xfrm>
            <a:off x="1257300" y="4867275"/>
            <a:ext cx="319368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150">
                <a:solidFill>
                  <a:srgbClr val="F59E0B"/>
                </a:solidFill>
                <a:latin typeface="Segoe UI"/>
              </a:rPr>
              <a:t>RISK 01 · DATA</a:t>
            </a:r>
          </a:p>
        </p:txBody>
      </p:sp>
      <p:sp>
        <p:nvSpPr>
          <p:cNvPr id="12" name="txt-h4-x"/>
          <p:cNvSpPr txBox="1"/>
          <p:nvPr/>
        </p:nvSpPr>
        <p:spPr>
          <a:xfrm>
            <a:off x="1257300" y="5048250"/>
            <a:ext cx="3193680" cy="2647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40" b="1" i="0" spc="-15">
                <a:solidFill>
                  <a:srgbClr val="FFFFFF"/>
                </a:solidFill>
                <a:latin typeface="Segoe UI"/>
              </a:rPr>
              <a:t>Oil India history arrives late</a:t>
            </a:r>
          </a:p>
        </p:txBody>
      </p:sp>
      <p:sp>
        <p:nvSpPr>
          <p:cNvPr id="13" name="txt-p-x"/>
          <p:cNvSpPr txBox="1"/>
          <p:nvPr/>
        </p:nvSpPr>
        <p:spPr>
          <a:xfrm>
            <a:off x="1257300" y="5293965"/>
            <a:ext cx="3193680" cy="451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79"/>
              </a:lnSpc>
            </a:pPr>
            <a:r>
              <a:rPr sz="1090" b="0" i="0">
                <a:solidFill>
                  <a:srgbClr val="A8BDD2"/>
                </a:solidFill>
                <a:latin typeface="Segoe UI"/>
              </a:rPr>
              <a:t>Physics-generated cycles train the model today; field data only re-fits constants, it is not a blocker.</a:t>
            </a:r>
          </a:p>
        </p:txBody>
      </p:sp>
      <p:sp>
        <p:nvSpPr>
          <p:cNvPr id="14" name="txt-span-x"/>
          <p:cNvSpPr txBox="1"/>
          <p:nvPr/>
        </p:nvSpPr>
        <p:spPr>
          <a:xfrm>
            <a:off x="4803725" y="4867275"/>
            <a:ext cx="3193836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150">
                <a:solidFill>
                  <a:srgbClr val="F59E0B"/>
                </a:solidFill>
                <a:latin typeface="Segoe UI"/>
              </a:rPr>
              <a:t>RISK 02 · UNCERTAINTY</a:t>
            </a:r>
          </a:p>
        </p:txBody>
      </p:sp>
      <p:sp>
        <p:nvSpPr>
          <p:cNvPr id="15" name="txt-h4-x"/>
          <p:cNvSpPr txBox="1"/>
          <p:nvPr/>
        </p:nvSpPr>
        <p:spPr>
          <a:xfrm>
            <a:off x="4803725" y="5048250"/>
            <a:ext cx="3193836" cy="2647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40" b="1" i="0" spc="-15">
                <a:solidFill>
                  <a:srgbClr val="FFFFFF"/>
                </a:solidFill>
                <a:latin typeface="Segoe UI"/>
              </a:rPr>
              <a:t>Reservoir properties vary</a:t>
            </a:r>
          </a:p>
        </p:txBody>
      </p:sp>
      <p:sp>
        <p:nvSpPr>
          <p:cNvPr id="16" name="txt-p-x"/>
          <p:cNvSpPr txBox="1"/>
          <p:nvPr/>
        </p:nvSpPr>
        <p:spPr>
          <a:xfrm>
            <a:off x="4803725" y="5293965"/>
            <a:ext cx="3193836" cy="451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79"/>
              </a:lnSpc>
            </a:pPr>
            <a:r>
              <a:rPr sz="1090" b="0" i="0">
                <a:solidFill>
                  <a:srgbClr val="A8BDD2"/>
                </a:solidFill>
                <a:latin typeface="Segoe UI"/>
              </a:rPr>
              <a:t>One source of truth in field_params.json, with Monte-Carlo sensitivity sweeps in the test suite.</a:t>
            </a:r>
          </a:p>
        </p:txBody>
      </p:sp>
      <p:sp>
        <p:nvSpPr>
          <p:cNvPr id="17" name="txt-span-x"/>
          <p:cNvSpPr txBox="1"/>
          <p:nvPr/>
        </p:nvSpPr>
        <p:spPr>
          <a:xfrm>
            <a:off x="8350299" y="4867275"/>
            <a:ext cx="3193680" cy="2095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150">
                <a:solidFill>
                  <a:srgbClr val="F59E0B"/>
                </a:solidFill>
                <a:latin typeface="Segoe UI"/>
              </a:rPr>
              <a:t>RISK 03 · OPTIMISER</a:t>
            </a:r>
          </a:p>
        </p:txBody>
      </p:sp>
      <p:sp>
        <p:nvSpPr>
          <p:cNvPr id="18" name="txt-h4-x"/>
          <p:cNvSpPr txBox="1"/>
          <p:nvPr/>
        </p:nvSpPr>
        <p:spPr>
          <a:xfrm>
            <a:off x="8350299" y="5048250"/>
            <a:ext cx="3193680" cy="2647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85"/>
              </a:lnSpc>
            </a:pPr>
            <a:r>
              <a:rPr sz="1240" b="1" i="0" spc="-15">
                <a:solidFill>
                  <a:srgbClr val="FFFFFF"/>
                </a:solidFill>
                <a:latin typeface="Segoe UI"/>
              </a:rPr>
              <a:t>Search finds a local minimum</a:t>
            </a:r>
          </a:p>
        </p:txBody>
      </p:sp>
      <p:sp>
        <p:nvSpPr>
          <p:cNvPr id="19" name="txt-p-x"/>
          <p:cNvSpPr txBox="1"/>
          <p:nvPr/>
        </p:nvSpPr>
        <p:spPr>
          <a:xfrm>
            <a:off x="8350299" y="5293965"/>
            <a:ext cx="3193680" cy="63966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79"/>
              </a:lnSpc>
            </a:pPr>
            <a:r>
              <a:rPr sz="1090" b="0" i="0">
                <a:solidFill>
                  <a:srgbClr val="A8BDD2"/>
                </a:solidFill>
                <a:latin typeface="Segoe UI"/>
              </a:rPr>
              <a:t>Ten random restarts, plus hard physics bounds — injection pressure stays under the fracture gradient.</a:t>
            </a:r>
          </a:p>
        </p:txBody>
      </p:sp>
      <p:sp>
        <p:nvSpPr>
          <p:cNvPr id="20" name="txt-div-note"/>
          <p:cNvSpPr txBox="1"/>
          <p:nvPr/>
        </p:nvSpPr>
        <p:spPr>
          <a:xfrm>
            <a:off x="1028700" y="6048375"/>
            <a:ext cx="11087100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>
                <a:solidFill>
                  <a:srgbClr val="5A6B80"/>
                </a:solidFill>
                <a:latin typeface="Segoe UI"/>
              </a:rPr>
              <a:t>Porosity below 10%, poor-to-fair reservoir quality</a:t>
            </a:r>
            <a:r>
              <a:rPr sz="1010" b="0" i="0">
                <a:solidFill>
                  <a:srgbClr val="8493A6"/>
                </a:solidFill>
                <a:latin typeface="Segoe UI"/>
              </a:rPr>
              <a:t> — a genuinely hard target. That difficulty is the argument for a twin: trial-and-error costs a full 30-day cycle per experiment.</a:t>
            </a:r>
          </a:p>
        </p:txBody>
      </p:sp>
      <p:sp>
        <p:nvSpPr>
          <p:cNvPr id="21" name="txt-span-x"/>
          <p:cNvSpPr txBox="1"/>
          <p:nvPr/>
        </p:nvSpPr>
        <p:spPr>
          <a:xfrm>
            <a:off x="1028700" y="6538912"/>
            <a:ext cx="349293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30">
                <a:solidFill>
                  <a:srgbClr val="FFFFFF"/>
                </a:solidFill>
                <a:latin typeface="Segoe UI"/>
              </a:rPr>
              <a:t>PS SIH26120</a:t>
            </a:r>
            <a:r>
              <a:rPr sz="940" b="0" i="0" spc="30">
                <a:solidFill>
                  <a:srgbClr val="93A9C2"/>
                </a:solidFill>
                <a:latin typeface="Segoe UI"/>
              </a:rPr>
              <a:t> · TEAM ________ · Smart India Hackathon 2026</a:t>
            </a:r>
          </a:p>
        </p:txBody>
      </p:sp>
      <p:sp>
        <p:nvSpPr>
          <p:cNvPr id="22" name="txt-span-sih"/>
          <p:cNvSpPr txBox="1"/>
          <p:nvPr/>
        </p:nvSpPr>
        <p:spPr>
          <a:xfrm>
            <a:off x="9385399" y="6538912"/>
            <a:ext cx="234685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105">
                <a:solidFill>
                  <a:srgbClr val="F59E0B"/>
                </a:solidFill>
                <a:latin typeface="Segoe UI"/>
              </a:rPr>
              <a:t>FEASIBILITY &amp; VIABILITY · 05/07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div-kick"/>
          <p:cNvSpPr txBox="1"/>
          <p:nvPr/>
        </p:nvSpPr>
        <p:spPr>
          <a:xfrm>
            <a:off x="1028700" y="266700"/>
            <a:ext cx="1841323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 spc="240">
                <a:solidFill>
                  <a:srgbClr val="EA580C"/>
                </a:solidFill>
                <a:latin typeface="Segoe UI"/>
              </a:rPr>
              <a:t>IMPACT &amp; BENEFITS</a:t>
            </a:r>
          </a:p>
        </p:txBody>
      </p:sp>
      <p:sp>
        <p:nvSpPr>
          <p:cNvPr id="4" name="txt-h1-x"/>
          <p:cNvSpPr txBox="1"/>
          <p:nvPr/>
        </p:nvSpPr>
        <p:spPr>
          <a:xfrm>
            <a:off x="1028700" y="466725"/>
            <a:ext cx="9301162" cy="47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8"/>
              </a:lnSpc>
            </a:pPr>
            <a:r>
              <a:rPr sz="2780" b="1" i="0" spc="-64">
                <a:solidFill>
                  <a:srgbClr val="0F2540"/>
                </a:solidFill>
                <a:latin typeface="Segoe UI"/>
              </a:rPr>
              <a:t>Less steam per barrel, fewer </a:t>
            </a:r>
            <a:r>
              <a:rPr sz="2780" b="1" i="0" spc="-64">
                <a:solidFill>
                  <a:srgbClr val="C2410C"/>
                </a:solidFill>
                <a:latin typeface="Segoe UI"/>
              </a:rPr>
              <a:t>rod-pump failures</a:t>
            </a:r>
          </a:p>
        </p:txBody>
      </p:sp>
      <p:sp>
        <p:nvSpPr>
          <p:cNvPr id="5" name="txt-div-big"/>
          <p:cNvSpPr txBox="1"/>
          <p:nvPr/>
        </p:nvSpPr>
        <p:spPr>
          <a:xfrm>
            <a:off x="1209675" y="1447800"/>
            <a:ext cx="2250281" cy="476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50"/>
              </a:lnSpc>
            </a:pPr>
            <a:r>
              <a:rPr sz="3150" b="1" i="0" spc="-150">
                <a:solidFill>
                  <a:srgbClr val="F59E0B"/>
                </a:solidFill>
                <a:latin typeface="Segoe UI"/>
              </a:rPr>
              <a:t>20–30%</a:t>
            </a:r>
          </a:p>
        </p:txBody>
      </p:sp>
      <p:sp>
        <p:nvSpPr>
          <p:cNvPr id="6" name="txt-div-lab"/>
          <p:cNvSpPr txBox="1"/>
          <p:nvPr/>
        </p:nvSpPr>
        <p:spPr>
          <a:xfrm>
            <a:off x="1209675" y="1924050"/>
            <a:ext cx="2250281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20" b="1" i="0" spc="-8">
                <a:solidFill>
                  <a:srgbClr val="FFFFFF"/>
                </a:solidFill>
                <a:latin typeface="Segoe UI"/>
              </a:rPr>
              <a:t>Targeted SOR reduction</a:t>
            </a:r>
          </a:p>
        </p:txBody>
      </p:sp>
      <p:sp>
        <p:nvSpPr>
          <p:cNvPr id="7" name="txt-div-sub"/>
          <p:cNvSpPr txBox="1"/>
          <p:nvPr/>
        </p:nvSpPr>
        <p:spPr>
          <a:xfrm>
            <a:off x="1209675" y="2143125"/>
            <a:ext cx="2250281" cy="5476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38"/>
              </a:lnSpc>
            </a:pPr>
            <a:r>
              <a:rPr sz="940" b="0" i="0">
                <a:solidFill>
                  <a:srgbClr val="8FA5BD"/>
                </a:solidFill>
                <a:latin typeface="Segoe UI"/>
              </a:rPr>
              <a:t>Physics-simulated and internally consistency-checked. Field validation is the next phase.</a:t>
            </a:r>
          </a:p>
        </p:txBody>
      </p:sp>
      <p:sp>
        <p:nvSpPr>
          <p:cNvPr id="8" name="txt-div-big"/>
          <p:cNvSpPr txBox="1"/>
          <p:nvPr/>
        </p:nvSpPr>
        <p:spPr>
          <a:xfrm>
            <a:off x="3905250" y="1447800"/>
            <a:ext cx="2250281" cy="476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50"/>
              </a:lnSpc>
            </a:pPr>
            <a:r>
              <a:rPr sz="3150" b="1" i="0" spc="-150">
                <a:solidFill>
                  <a:srgbClr val="0F2540"/>
                </a:solidFill>
                <a:latin typeface="Segoe UI"/>
              </a:rPr>
              <a:t>$15k–50k</a:t>
            </a:r>
          </a:p>
        </p:txBody>
      </p:sp>
      <p:sp>
        <p:nvSpPr>
          <p:cNvPr id="9" name="txt-div-lab"/>
          <p:cNvSpPr txBox="1"/>
          <p:nvPr/>
        </p:nvSpPr>
        <p:spPr>
          <a:xfrm>
            <a:off x="3905250" y="1924050"/>
            <a:ext cx="2250281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20" b="1" i="0" spc="-8">
                <a:solidFill>
                  <a:srgbClr val="1E3A5F"/>
                </a:solidFill>
                <a:latin typeface="Segoe UI"/>
              </a:rPr>
              <a:t>Saved per avoided workover</a:t>
            </a:r>
          </a:p>
        </p:txBody>
      </p:sp>
      <p:sp>
        <p:nvSpPr>
          <p:cNvPr id="10" name="txt-div-sub"/>
          <p:cNvSpPr txBox="1"/>
          <p:nvPr/>
        </p:nvSpPr>
        <p:spPr>
          <a:xfrm>
            <a:off x="3905250" y="2143125"/>
            <a:ext cx="2250281" cy="5476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38"/>
              </a:lnSpc>
            </a:pPr>
            <a:r>
              <a:rPr sz="940" b="0" i="0">
                <a:solidFill>
                  <a:srgbClr val="8493A6"/>
                </a:solidFill>
                <a:latin typeface="Segoe UI"/>
              </a:rPr>
              <a:t>Industry-typical cost of one sucker-rod-pump failure: rig time, rods, lost production.</a:t>
            </a:r>
          </a:p>
        </p:txBody>
      </p:sp>
      <p:sp>
        <p:nvSpPr>
          <p:cNvPr id="11" name="txt-div-big"/>
          <p:cNvSpPr txBox="1"/>
          <p:nvPr/>
        </p:nvSpPr>
        <p:spPr>
          <a:xfrm>
            <a:off x="6600825" y="1447800"/>
            <a:ext cx="2250281" cy="476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50"/>
              </a:lnSpc>
            </a:pPr>
            <a:r>
              <a:rPr sz="3150" b="1" i="0" spc="-150">
                <a:solidFill>
                  <a:srgbClr val="0F2540"/>
                </a:solidFill>
                <a:latin typeface="Segoe UI"/>
              </a:rPr>
              <a:t>52 / 33</a:t>
            </a:r>
          </a:p>
        </p:txBody>
      </p:sp>
      <p:sp>
        <p:nvSpPr>
          <p:cNvPr id="12" name="txt-div-lab"/>
          <p:cNvSpPr txBox="1"/>
          <p:nvPr/>
        </p:nvSpPr>
        <p:spPr>
          <a:xfrm>
            <a:off x="6600825" y="1924050"/>
            <a:ext cx="2250281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20" b="1" i="0" spc="-8">
                <a:solidFill>
                  <a:srgbClr val="1E3A5F"/>
                </a:solidFill>
                <a:latin typeface="Segoe UI"/>
              </a:rPr>
              <a:t>Wells drilled / operational</a:t>
            </a:r>
          </a:p>
        </p:txBody>
      </p:sp>
      <p:sp>
        <p:nvSpPr>
          <p:cNvPr id="13" name="txt-div-sub"/>
          <p:cNvSpPr txBox="1"/>
          <p:nvPr/>
        </p:nvSpPr>
        <p:spPr>
          <a:xfrm>
            <a:off x="6600825" y="2143125"/>
            <a:ext cx="2250281" cy="3905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38"/>
              </a:lnSpc>
            </a:pPr>
            <a:r>
              <a:rPr sz="940" b="0" i="0">
                <a:solidFill>
                  <a:srgbClr val="8493A6"/>
                </a:solidFill>
                <a:latin typeface="Segoe UI"/>
              </a:rPr>
              <a:t>19 CSS'd in FY2025-26 alone — ~72% more than the year before.</a:t>
            </a:r>
          </a:p>
        </p:txBody>
      </p:sp>
      <p:sp>
        <p:nvSpPr>
          <p:cNvPr id="14" name="txt-div-big"/>
          <p:cNvSpPr txBox="1"/>
          <p:nvPr/>
        </p:nvSpPr>
        <p:spPr>
          <a:xfrm>
            <a:off x="9296400" y="1447800"/>
            <a:ext cx="2250281" cy="476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50"/>
              </a:lnSpc>
            </a:pPr>
            <a:r>
              <a:rPr sz="3150" b="1" i="0" spc="-150">
                <a:solidFill>
                  <a:srgbClr val="0F2540"/>
                </a:solidFill>
                <a:latin typeface="Segoe UI"/>
              </a:rPr>
              <a:t>~200×</a:t>
            </a:r>
          </a:p>
        </p:txBody>
      </p:sp>
      <p:sp>
        <p:nvSpPr>
          <p:cNvPr id="15" name="txt-div-lab"/>
          <p:cNvSpPr txBox="1"/>
          <p:nvPr/>
        </p:nvSpPr>
        <p:spPr>
          <a:xfrm>
            <a:off x="9296400" y="1924050"/>
            <a:ext cx="2250281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50"/>
              </a:lnSpc>
            </a:pPr>
            <a:r>
              <a:rPr sz="1120" b="1" i="0" spc="-8">
                <a:solidFill>
                  <a:srgbClr val="1E3A5F"/>
                </a:solidFill>
                <a:latin typeface="Segoe UI"/>
              </a:rPr>
              <a:t>Output growth since CSS</a:t>
            </a:r>
          </a:p>
        </p:txBody>
      </p:sp>
      <p:sp>
        <p:nvSpPr>
          <p:cNvPr id="16" name="txt-div-sub"/>
          <p:cNvSpPr txBox="1"/>
          <p:nvPr/>
        </p:nvSpPr>
        <p:spPr>
          <a:xfrm>
            <a:off x="9296400" y="2143125"/>
            <a:ext cx="2250281" cy="2333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238"/>
              </a:lnSpc>
            </a:pPr>
            <a:r>
              <a:rPr sz="940" b="0" i="0">
                <a:solidFill>
                  <a:srgbClr val="8493A6"/>
                </a:solidFill>
                <a:latin typeface="Segoe UI"/>
              </a:rPr>
              <a:t>218 t (FY17) → 43,773 t (FY26).</a:t>
            </a:r>
          </a:p>
        </p:txBody>
      </p:sp>
      <p:sp>
        <p:nvSpPr>
          <p:cNvPr id="17" name="txt-h3-x"/>
          <p:cNvSpPr txBox="1"/>
          <p:nvPr/>
        </p:nvSpPr>
        <p:spPr>
          <a:xfrm>
            <a:off x="7610475" y="2847975"/>
            <a:ext cx="4210526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0F2540"/>
                </a:solidFill>
                <a:latin typeface="Segoe UI"/>
              </a:rPr>
              <a:t>Economics</a:t>
            </a:r>
          </a:p>
        </p:txBody>
      </p:sp>
      <p:sp>
        <p:nvSpPr>
          <p:cNvPr id="18" name="txt-p-x"/>
          <p:cNvSpPr txBox="1"/>
          <p:nvPr/>
        </p:nvSpPr>
        <p:spPr>
          <a:xfrm>
            <a:off x="7610475" y="3105150"/>
            <a:ext cx="4210526" cy="4967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4C6076"/>
                </a:solidFill>
                <a:latin typeface="Segoe UI"/>
              </a:rPr>
              <a:t>Less steam per barrel, and every avoided rod-pump workover is </a:t>
            </a:r>
            <a:r>
              <a:rPr sz="1200" b="1" i="0">
                <a:solidFill>
                  <a:srgbClr val="0F2540"/>
                </a:solidFill>
                <a:latin typeface="Segoe UI"/>
              </a:rPr>
              <a:t>$15k–$50k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 not spent.</a:t>
            </a:r>
          </a:p>
        </p:txBody>
      </p:sp>
      <p:sp>
        <p:nvSpPr>
          <p:cNvPr id="19" name="txt-h3-x"/>
          <p:cNvSpPr txBox="1"/>
          <p:nvPr/>
        </p:nvSpPr>
        <p:spPr>
          <a:xfrm>
            <a:off x="7610475" y="3601938"/>
            <a:ext cx="4210526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0F2540"/>
                </a:solidFill>
                <a:latin typeface="Segoe UI"/>
              </a:rPr>
              <a:t>Safety</a:t>
            </a:r>
          </a:p>
        </p:txBody>
      </p:sp>
      <p:sp>
        <p:nvSpPr>
          <p:cNvPr id="20" name="txt-p-x"/>
          <p:cNvSpPr txBox="1"/>
          <p:nvPr/>
        </p:nvSpPr>
        <p:spPr>
          <a:xfrm>
            <a:off x="7610475" y="3859113"/>
            <a:ext cx="4210526" cy="4967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4C6076"/>
                </a:solidFill>
                <a:latin typeface="Segoe UI"/>
              </a:rPr>
              <a:t>Flags metal-on-metal rod and tubing wear — </a:t>
            </a:r>
            <a:r>
              <a:rPr sz="1200" b="1" i="0">
                <a:solidFill>
                  <a:srgbClr val="0F2540"/>
                </a:solidFill>
                <a:latin typeface="Segoe UI"/>
              </a:rPr>
              <a:t>over half of all SRP failures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 — before it happens.</a:t>
            </a:r>
          </a:p>
        </p:txBody>
      </p:sp>
      <p:sp>
        <p:nvSpPr>
          <p:cNvPr id="21" name="txt-h3-x"/>
          <p:cNvSpPr txBox="1"/>
          <p:nvPr/>
        </p:nvSpPr>
        <p:spPr>
          <a:xfrm>
            <a:off x="7610475" y="4355901"/>
            <a:ext cx="4210526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0F2540"/>
                </a:solidFill>
                <a:latin typeface="Segoe UI"/>
              </a:rPr>
              <a:t>Sustainability</a:t>
            </a:r>
          </a:p>
        </p:txBody>
      </p:sp>
      <p:sp>
        <p:nvSpPr>
          <p:cNvPr id="22" name="txt-p-x"/>
          <p:cNvSpPr txBox="1"/>
          <p:nvPr/>
        </p:nvSpPr>
        <p:spPr>
          <a:xfrm>
            <a:off x="7610475" y="4613076"/>
            <a:ext cx="4210526" cy="4967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4C6076"/>
                </a:solidFill>
                <a:latin typeface="Segoe UI"/>
              </a:rPr>
              <a:t>Steam here costs </a:t>
            </a:r>
            <a:r>
              <a:rPr sz="1200" b="1" i="0">
                <a:solidFill>
                  <a:srgbClr val="0F2540"/>
                </a:solidFill>
                <a:latin typeface="Segoe UI"/>
              </a:rPr>
              <a:t>~3.0 GJ of diesel per tonne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. Less steam is directly less CO₂ per barrel.</a:t>
            </a:r>
          </a:p>
        </p:txBody>
      </p:sp>
      <p:sp>
        <p:nvSpPr>
          <p:cNvPr id="23" name="txt-h3-x"/>
          <p:cNvSpPr txBox="1"/>
          <p:nvPr/>
        </p:nvSpPr>
        <p:spPr>
          <a:xfrm>
            <a:off x="7610475" y="5109864"/>
            <a:ext cx="4210526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 i="0" spc="-15">
                <a:solidFill>
                  <a:srgbClr val="0F2540"/>
                </a:solidFill>
                <a:latin typeface="Segoe UI"/>
              </a:rPr>
              <a:t>Scalability</a:t>
            </a:r>
          </a:p>
        </p:txBody>
      </p:sp>
      <p:sp>
        <p:nvSpPr>
          <p:cNvPr id="24" name="txt-p-x"/>
          <p:cNvSpPr txBox="1"/>
          <p:nvPr/>
        </p:nvSpPr>
        <p:spPr>
          <a:xfrm>
            <a:off x="7610475" y="5367039"/>
            <a:ext cx="4210526" cy="4967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4C6076"/>
                </a:solidFill>
                <a:latin typeface="Segoe UI"/>
              </a:rPr>
              <a:t>Swap </a:t>
            </a:r>
            <a:r>
              <a:rPr sz="1200" b="1" i="0">
                <a:solidFill>
                  <a:srgbClr val="0F2540"/>
                </a:solidFill>
                <a:latin typeface="Segoe UI"/>
              </a:rPr>
              <a:t>field_params.json</a:t>
            </a:r>
            <a:r>
              <a:rPr sz="1200" b="0" i="0">
                <a:solidFill>
                  <a:srgbClr val="4C6076"/>
                </a:solidFill>
                <a:latin typeface="Segoe UI"/>
              </a:rPr>
              <a:t> and the same twin moves to the next CSS well, or the next field.</a:t>
            </a:r>
          </a:p>
        </p:txBody>
      </p:sp>
      <p:sp>
        <p:nvSpPr>
          <p:cNvPr id="25" name="txt-div-disc"/>
          <p:cNvSpPr txBox="1"/>
          <p:nvPr/>
        </p:nvSpPr>
        <p:spPr>
          <a:xfrm>
            <a:off x="1028700" y="5972175"/>
            <a:ext cx="11087100" cy="4104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16"/>
              </a:lnSpc>
            </a:pPr>
            <a:r>
              <a:rPr sz="980" b="1" i="0">
                <a:solidFill>
                  <a:srgbClr val="A1560C"/>
                </a:solidFill>
                <a:latin typeface="Segoe UI"/>
              </a:rPr>
              <a:t>Stated honestly: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the 20–30% figure is what our physics model predicts, not a measured field result — and no field failure-reduction percentage is claimed, because that needs a pilot. Exact ₹/$ per well needs Oil India's own cost data.</a:t>
            </a:r>
          </a:p>
        </p:txBody>
      </p:sp>
      <p:sp>
        <p:nvSpPr>
          <p:cNvPr id="26" name="txt-span-x"/>
          <p:cNvSpPr txBox="1"/>
          <p:nvPr/>
        </p:nvSpPr>
        <p:spPr>
          <a:xfrm>
            <a:off x="1028700" y="6538912"/>
            <a:ext cx="349293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30">
                <a:solidFill>
                  <a:srgbClr val="FFFFFF"/>
                </a:solidFill>
                <a:latin typeface="Segoe UI"/>
              </a:rPr>
              <a:t>PS SIH26120</a:t>
            </a:r>
            <a:r>
              <a:rPr sz="940" b="0" i="0" spc="30">
                <a:solidFill>
                  <a:srgbClr val="93A9C2"/>
                </a:solidFill>
                <a:latin typeface="Segoe UI"/>
              </a:rPr>
              <a:t> · TEAM ________ · Smart India Hackathon 2026</a:t>
            </a:r>
          </a:p>
        </p:txBody>
      </p:sp>
      <p:sp>
        <p:nvSpPr>
          <p:cNvPr id="27" name="txt-span-sih"/>
          <p:cNvSpPr txBox="1"/>
          <p:nvPr/>
        </p:nvSpPr>
        <p:spPr>
          <a:xfrm>
            <a:off x="9718476" y="6538912"/>
            <a:ext cx="199712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105">
                <a:solidFill>
                  <a:srgbClr val="F59E0B"/>
                </a:solidFill>
                <a:latin typeface="Segoe UI"/>
              </a:rPr>
              <a:t>IMPACT &amp; BENEFITS · 06/07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div-kick"/>
          <p:cNvSpPr txBox="1"/>
          <p:nvPr/>
        </p:nvSpPr>
        <p:spPr>
          <a:xfrm>
            <a:off x="1028700" y="266700"/>
            <a:ext cx="2340761" cy="247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10" b="1" i="0" spc="240">
                <a:solidFill>
                  <a:srgbClr val="EA580C"/>
                </a:solidFill>
                <a:latin typeface="Segoe UI"/>
              </a:rPr>
              <a:t>RESEARCH &amp; REFERENCES</a:t>
            </a:r>
          </a:p>
        </p:txBody>
      </p:sp>
      <p:sp>
        <p:nvSpPr>
          <p:cNvPr id="4" name="txt-h1-x"/>
          <p:cNvSpPr txBox="1"/>
          <p:nvPr/>
        </p:nvSpPr>
        <p:spPr>
          <a:xfrm>
            <a:off x="1028700" y="466725"/>
            <a:ext cx="9301162" cy="4708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8"/>
              </a:lnSpc>
            </a:pPr>
            <a:r>
              <a:rPr sz="2780" b="1" i="0" spc="-64">
                <a:solidFill>
                  <a:srgbClr val="0F2540"/>
                </a:solidFill>
                <a:latin typeface="Segoe UI"/>
              </a:rPr>
              <a:t>Every number traces to a </a:t>
            </a:r>
            <a:r>
              <a:rPr sz="2780" b="1" i="0" spc="-64">
                <a:solidFill>
                  <a:srgbClr val="C2410C"/>
                </a:solidFill>
                <a:latin typeface="Segoe UI"/>
              </a:rPr>
              <a:t>source we can show you</a:t>
            </a:r>
          </a:p>
        </p:txBody>
      </p:sp>
      <p:sp>
        <p:nvSpPr>
          <p:cNvPr id="5" name="txt-div-colh"/>
          <p:cNvSpPr txBox="1"/>
          <p:nvPr/>
        </p:nvSpPr>
        <p:spPr>
          <a:xfrm>
            <a:off x="1028700" y="1362075"/>
            <a:ext cx="5500687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80">
                <a:solidFill>
                  <a:srgbClr val="EA580C"/>
                </a:solidFill>
                <a:latin typeface="Segoe UI"/>
              </a:rPr>
              <a:t>PHYSICS FOUNDATION — PEER-REVIEWED</a:t>
            </a:r>
          </a:p>
        </p:txBody>
      </p:sp>
      <p:sp>
        <p:nvSpPr>
          <p:cNvPr id="6" name="txt-div-colh"/>
          <p:cNvSpPr txBox="1"/>
          <p:nvPr/>
        </p:nvSpPr>
        <p:spPr>
          <a:xfrm>
            <a:off x="6648450" y="1362075"/>
            <a:ext cx="5220652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180">
                <a:solidFill>
                  <a:srgbClr val="EA580C"/>
                </a:solidFill>
                <a:latin typeface="Segoe UI"/>
              </a:rPr>
              <a:t>FIELD &amp; INDUSTRY EVIDENCE</a:t>
            </a:r>
          </a:p>
        </p:txBody>
      </p:sp>
      <p:sp>
        <p:nvSpPr>
          <p:cNvPr id="7" name="txt-div-dot"/>
          <p:cNvSpPr txBox="1"/>
          <p:nvPr/>
        </p:nvSpPr>
        <p:spPr>
          <a:xfrm>
            <a:off x="1028700" y="1781175"/>
            <a:ext cx="40005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22">
                <a:solidFill>
                  <a:srgbClr val="FFFFFF"/>
                </a:solidFill>
                <a:latin typeface="Segoe UI"/>
              </a:rPr>
              <a:t>ML</a:t>
            </a:r>
          </a:p>
        </p:txBody>
      </p:sp>
      <p:sp>
        <p:nvSpPr>
          <p:cNvPr id="8" name="txt-p-x"/>
          <p:cNvSpPr txBox="1"/>
          <p:nvPr/>
        </p:nvSpPr>
        <p:spPr>
          <a:xfrm>
            <a:off x="1485900" y="1781175"/>
            <a:ext cx="5020627" cy="483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4"/>
              </a:lnSpc>
            </a:pPr>
            <a:r>
              <a:rPr sz="1160" b="1" i="0">
                <a:solidFill>
                  <a:srgbClr val="0F2540"/>
                </a:solidFill>
                <a:latin typeface="Segoe UI"/>
              </a:rPr>
              <a:t>Marx, J. W. &amp; Langenheim, R. H.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(1959). Reservoir heating by hot fluid injection. </a:t>
            </a:r>
            <a:r>
              <a:rPr sz="1160" b="0" i="1">
                <a:solidFill>
                  <a:srgbClr val="4C6076"/>
                </a:solidFill>
                <a:latin typeface="Segoe UI"/>
              </a:rPr>
              <a:t>Trans. AIME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, 216, 312–315.</a:t>
            </a:r>
          </a:p>
        </p:txBody>
      </p:sp>
      <p:sp>
        <p:nvSpPr>
          <p:cNvPr id="9" name="txt-span-x"/>
          <p:cNvSpPr txBox="1"/>
          <p:nvPr/>
        </p:nvSpPr>
        <p:spPr>
          <a:xfrm>
            <a:off x="1485900" y="2226468"/>
            <a:ext cx="5020627" cy="238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80" b="1" i="0">
                <a:solidFill>
                  <a:srgbClr val="A1560C"/>
                </a:solidFill>
                <a:latin typeface="Segoe UI"/>
              </a:rPr>
              <a:t>Used for: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steam-zone growth and conduction loss to the overburden</a:t>
            </a:r>
          </a:p>
        </p:txBody>
      </p:sp>
      <p:sp>
        <p:nvSpPr>
          <p:cNvPr id="10" name="txt-div-dot"/>
          <p:cNvSpPr txBox="1"/>
          <p:nvPr/>
        </p:nvSpPr>
        <p:spPr>
          <a:xfrm>
            <a:off x="1028700" y="2540793"/>
            <a:ext cx="40005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22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1" name="txt-p-x"/>
          <p:cNvSpPr txBox="1"/>
          <p:nvPr/>
        </p:nvSpPr>
        <p:spPr>
          <a:xfrm>
            <a:off x="1485900" y="2540793"/>
            <a:ext cx="5020627" cy="483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4"/>
              </a:lnSpc>
            </a:pPr>
            <a:r>
              <a:rPr sz="1160" b="1" i="0">
                <a:solidFill>
                  <a:srgbClr val="0F2540"/>
                </a:solidFill>
                <a:latin typeface="Segoe UI"/>
              </a:rPr>
              <a:t>Andrade, E. N. da C.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(1934). The viscosity of liquids. </a:t>
            </a:r>
            <a:r>
              <a:rPr sz="1160" b="0" i="1">
                <a:solidFill>
                  <a:srgbClr val="4C6076"/>
                </a:solidFill>
                <a:latin typeface="Segoe UI"/>
              </a:rPr>
              <a:t>Nature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, 125, 309–310 — with </a:t>
            </a:r>
            <a:r>
              <a:rPr sz="1160" b="1" i="0">
                <a:solidFill>
                  <a:srgbClr val="0F2540"/>
                </a:solidFill>
                <a:latin typeface="Segoe UI"/>
              </a:rPr>
              <a:t>ASTM D341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for viscosity–temperature charts.</a:t>
            </a:r>
          </a:p>
        </p:txBody>
      </p:sp>
      <p:sp>
        <p:nvSpPr>
          <p:cNvPr id="12" name="txt-span-x"/>
          <p:cNvSpPr txBox="1"/>
          <p:nvPr/>
        </p:nvSpPr>
        <p:spPr>
          <a:xfrm>
            <a:off x="1485900" y="2986087"/>
            <a:ext cx="5020627" cy="238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80" b="1" i="0">
                <a:solidFill>
                  <a:srgbClr val="A1560C"/>
                </a:solidFill>
                <a:latin typeface="Segoe UI"/>
              </a:rPr>
              <a:t>Used for: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μ(T) = A·exp(B/T), fitted to Baghewala's own μ–T anchor</a:t>
            </a:r>
          </a:p>
        </p:txBody>
      </p:sp>
      <p:sp>
        <p:nvSpPr>
          <p:cNvPr id="13" name="txt-div-dot"/>
          <p:cNvSpPr txBox="1"/>
          <p:nvPr/>
        </p:nvSpPr>
        <p:spPr>
          <a:xfrm>
            <a:off x="1028700" y="3300412"/>
            <a:ext cx="40005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22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14" name="txt-p-x"/>
          <p:cNvSpPr txBox="1"/>
          <p:nvPr/>
        </p:nvSpPr>
        <p:spPr>
          <a:xfrm>
            <a:off x="1485900" y="3300412"/>
            <a:ext cx="5020627" cy="483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4"/>
              </a:lnSpc>
            </a:pPr>
            <a:r>
              <a:rPr sz="1160" b="1" i="0">
                <a:solidFill>
                  <a:srgbClr val="0F2540"/>
                </a:solidFill>
                <a:latin typeface="Segoe UI"/>
              </a:rPr>
              <a:t>Vogel, J. V.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(1968). Inflow performance relationships for solution-gas drive wells. </a:t>
            </a:r>
            <a:r>
              <a:rPr sz="1160" b="0" i="1">
                <a:solidFill>
                  <a:srgbClr val="4C6076"/>
                </a:solidFill>
                <a:latin typeface="Segoe UI"/>
              </a:rPr>
              <a:t>J. Petrol. Tech.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, 20, 83–92.</a:t>
            </a:r>
          </a:p>
        </p:txBody>
      </p:sp>
      <p:sp>
        <p:nvSpPr>
          <p:cNvPr id="15" name="txt-span-x"/>
          <p:cNvSpPr txBox="1"/>
          <p:nvPr/>
        </p:nvSpPr>
        <p:spPr>
          <a:xfrm>
            <a:off x="1485900" y="3745706"/>
            <a:ext cx="5020627" cy="238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80" b="1" i="0">
                <a:solidFill>
                  <a:srgbClr val="A1560C"/>
                </a:solidFill>
                <a:latin typeface="Segoe UI"/>
              </a:rPr>
              <a:t>Used for: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the IPR curve — flow rate against pressure drawdown</a:t>
            </a:r>
          </a:p>
        </p:txBody>
      </p:sp>
      <p:sp>
        <p:nvSpPr>
          <p:cNvPr id="16" name="txt-div-dot"/>
          <p:cNvSpPr txBox="1"/>
          <p:nvPr/>
        </p:nvSpPr>
        <p:spPr>
          <a:xfrm>
            <a:off x="6648450" y="1781175"/>
            <a:ext cx="40005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22">
                <a:solidFill>
                  <a:srgbClr val="FFFFFF"/>
                </a:solidFill>
                <a:latin typeface="Segoe UI"/>
              </a:rPr>
              <a:t>SPE</a:t>
            </a:r>
          </a:p>
        </p:txBody>
      </p:sp>
      <p:sp>
        <p:nvSpPr>
          <p:cNvPr id="17" name="txt-p-x"/>
          <p:cNvSpPr txBox="1"/>
          <p:nvPr/>
        </p:nvSpPr>
        <p:spPr>
          <a:xfrm>
            <a:off x="7105650" y="1781175"/>
            <a:ext cx="4740592" cy="483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4"/>
              </a:lnSpc>
            </a:pPr>
            <a:r>
              <a:rPr sz="1160" b="1" i="0">
                <a:solidFill>
                  <a:srgbClr val="0F2540"/>
                </a:solidFill>
                <a:latin typeface="Segoe UI"/>
              </a:rPr>
              <a:t>SPE-23APOG-535203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(2023). Enhancement of production of heavy and highly viscous crude using an electrical downhole heater.</a:t>
            </a:r>
          </a:p>
        </p:txBody>
      </p:sp>
      <p:sp>
        <p:nvSpPr>
          <p:cNvPr id="18" name="txt-span-x"/>
          <p:cNvSpPr txBox="1"/>
          <p:nvPr/>
        </p:nvSpPr>
        <p:spPr>
          <a:xfrm>
            <a:off x="7105650" y="2226468"/>
            <a:ext cx="4740592" cy="238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80" b="1" i="0">
                <a:solidFill>
                  <a:srgbClr val="A1560C"/>
                </a:solidFill>
                <a:latin typeface="Segoe UI"/>
              </a:rPr>
              <a:t>Used for: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Baghewala depth, API gravity, viscosity</a:t>
            </a:r>
          </a:p>
        </p:txBody>
      </p:sp>
      <p:sp>
        <p:nvSpPr>
          <p:cNvPr id="19" name="txt-div-dot"/>
          <p:cNvSpPr txBox="1"/>
          <p:nvPr/>
        </p:nvSpPr>
        <p:spPr>
          <a:xfrm>
            <a:off x="6648450" y="2540793"/>
            <a:ext cx="40005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22">
                <a:solidFill>
                  <a:srgbClr val="FFFFFF"/>
                </a:solidFill>
                <a:latin typeface="Segoe UI"/>
              </a:rPr>
              <a:t>OIL</a:t>
            </a:r>
          </a:p>
        </p:txBody>
      </p:sp>
      <p:sp>
        <p:nvSpPr>
          <p:cNvPr id="20" name="txt-p-x"/>
          <p:cNvSpPr txBox="1"/>
          <p:nvPr/>
        </p:nvSpPr>
        <p:spPr>
          <a:xfrm>
            <a:off x="7105650" y="2540793"/>
            <a:ext cx="4740592" cy="483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4"/>
              </a:lnSpc>
            </a:pPr>
            <a:r>
              <a:rPr sz="1160" b="1" i="0">
                <a:solidFill>
                  <a:srgbClr val="0F2540"/>
                </a:solidFill>
                <a:latin typeface="Segoe UI"/>
              </a:rPr>
              <a:t>Oil India Limited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— Rajasthan field pages and operations data for well </a:t>
            </a:r>
            <a:r>
              <a:rPr sz="1160" b="1" i="0">
                <a:solidFill>
                  <a:srgbClr val="0F2540"/>
                </a:solidFill>
                <a:latin typeface="Segoe UI"/>
              </a:rPr>
              <a:t>BGW-8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.</a:t>
            </a:r>
          </a:p>
        </p:txBody>
      </p:sp>
      <p:sp>
        <p:nvSpPr>
          <p:cNvPr id="21" name="txt-span-x"/>
          <p:cNvSpPr txBox="1"/>
          <p:nvPr/>
        </p:nvSpPr>
        <p:spPr>
          <a:xfrm>
            <a:off x="7105650" y="2986087"/>
            <a:ext cx="4740592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80" b="1" i="0">
                <a:solidFill>
                  <a:srgbClr val="A1560C"/>
                </a:solidFill>
                <a:latin typeface="Segoe UI"/>
              </a:rPr>
              <a:t>Used for: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steam rate, 280–305 °C, 85–97 kgf/cm², 60–70% quality, well counts, output history</a:t>
            </a:r>
          </a:p>
        </p:txBody>
      </p:sp>
      <p:sp>
        <p:nvSpPr>
          <p:cNvPr id="22" name="txt-div-dot"/>
          <p:cNvSpPr txBox="1"/>
          <p:nvPr/>
        </p:nvSpPr>
        <p:spPr>
          <a:xfrm>
            <a:off x="6648450" y="3462337"/>
            <a:ext cx="40005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22">
                <a:solidFill>
                  <a:srgbClr val="FFFFFF"/>
                </a:solidFill>
                <a:latin typeface="Segoe UI"/>
              </a:rPr>
              <a:t>OGJ</a:t>
            </a:r>
          </a:p>
        </p:txBody>
      </p:sp>
      <p:sp>
        <p:nvSpPr>
          <p:cNvPr id="23" name="txt-p-x"/>
          <p:cNvSpPr txBox="1"/>
          <p:nvPr/>
        </p:nvSpPr>
        <p:spPr>
          <a:xfrm>
            <a:off x="7105650" y="3462337"/>
            <a:ext cx="3973152" cy="2797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4"/>
              </a:lnSpc>
            </a:pPr>
            <a:r>
              <a:rPr sz="1160" b="1" i="0">
                <a:solidFill>
                  <a:srgbClr val="0F2540"/>
                </a:solidFill>
                <a:latin typeface="Segoe UI"/>
              </a:rPr>
              <a:t>Oil &amp; Gas Journal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— "OIL starts CSS of well in Rajasthan."</a:t>
            </a:r>
          </a:p>
        </p:txBody>
      </p:sp>
      <p:sp>
        <p:nvSpPr>
          <p:cNvPr id="24" name="txt-span-x"/>
          <p:cNvSpPr txBox="1"/>
          <p:nvPr/>
        </p:nvSpPr>
        <p:spPr>
          <a:xfrm>
            <a:off x="7105650" y="3704034"/>
            <a:ext cx="3973152" cy="238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80" b="1" i="0">
                <a:solidFill>
                  <a:srgbClr val="A1560C"/>
                </a:solidFill>
                <a:latin typeface="Segoe UI"/>
              </a:rPr>
              <a:t>Used for: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India's first CSS, Dec 2018, Belgrave Oil &amp; Gas partnership</a:t>
            </a:r>
          </a:p>
        </p:txBody>
      </p:sp>
      <p:sp>
        <p:nvSpPr>
          <p:cNvPr id="25" name="txt-div-dot"/>
          <p:cNvSpPr txBox="1"/>
          <p:nvPr/>
        </p:nvSpPr>
        <p:spPr>
          <a:xfrm>
            <a:off x="6648450" y="4018359"/>
            <a:ext cx="400050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90" b="1" i="0" spc="22">
                <a:solidFill>
                  <a:srgbClr val="FFFFFF"/>
                </a:solidFill>
                <a:latin typeface="Segoe UI"/>
              </a:rPr>
              <a:t>SCAN</a:t>
            </a:r>
          </a:p>
        </p:txBody>
      </p:sp>
      <p:sp>
        <p:nvSpPr>
          <p:cNvPr id="26" name="txt-p-x"/>
          <p:cNvSpPr txBox="1"/>
          <p:nvPr/>
        </p:nvSpPr>
        <p:spPr>
          <a:xfrm>
            <a:off x="7105650" y="4018359"/>
            <a:ext cx="4740592" cy="4833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4"/>
              </a:lnSpc>
            </a:pPr>
            <a:r>
              <a:rPr sz="1160" b="1" i="0">
                <a:solidFill>
                  <a:srgbClr val="0F2540"/>
                </a:solidFill>
                <a:latin typeface="Segoe UI"/>
              </a:rPr>
              <a:t>Competitive landscape scan</a:t>
            </a:r>
            <a:r>
              <a:rPr sz="1160" b="0" i="0">
                <a:solidFill>
                  <a:srgbClr val="22405F"/>
                </a:solidFill>
                <a:latin typeface="Segoe UI"/>
              </a:rPr>
              <a:t> — XSPOC, Lufkin SAM/SROD, Weatherford ForeSite, SLB OptiSite, AVEVA, Kongsberg Kognitwin.</a:t>
            </a:r>
          </a:p>
        </p:txBody>
      </p:sp>
      <p:sp>
        <p:nvSpPr>
          <p:cNvPr id="27" name="txt-span-x"/>
          <p:cNvSpPr txBox="1"/>
          <p:nvPr/>
        </p:nvSpPr>
        <p:spPr>
          <a:xfrm>
            <a:off x="7105650" y="4463653"/>
            <a:ext cx="4740592" cy="238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80" b="1" i="0">
                <a:solidFill>
                  <a:srgbClr val="A1560C"/>
                </a:solidFill>
                <a:latin typeface="Segoe UI"/>
              </a:rPr>
              <a:t>Used for:</a:t>
            </a:r>
            <a:r>
              <a:rPr sz="980" b="0" i="0">
                <a:solidFill>
                  <a:srgbClr val="8493A6"/>
                </a:solidFill>
                <a:latin typeface="Segoe UI"/>
              </a:rPr>
              <a:t> confirming that none of them co-optimise CSS with rod lift</a:t>
            </a:r>
          </a:p>
        </p:txBody>
      </p:sp>
      <p:sp>
        <p:nvSpPr>
          <p:cNvPr id="28" name="txt-div-em"/>
          <p:cNvSpPr txBox="1"/>
          <p:nvPr/>
        </p:nvSpPr>
        <p:spPr>
          <a:xfrm>
            <a:off x="1257300" y="5267325"/>
            <a:ext cx="4953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38">
                <a:solidFill>
                  <a:srgbClr val="F59E0B"/>
                </a:solidFill>
                <a:latin typeface="Segoe UI"/>
              </a:rPr>
              <a:t>MNIT</a:t>
            </a:r>
          </a:p>
        </p:txBody>
      </p:sp>
      <p:sp>
        <p:nvSpPr>
          <p:cNvPr id="29" name="txt-h4-x"/>
          <p:cNvSpPr txBox="1"/>
          <p:nvPr/>
        </p:nvSpPr>
        <p:spPr>
          <a:xfrm>
            <a:off x="1809750" y="5271194"/>
            <a:ext cx="6430334" cy="285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80" b="1" i="0" spc="-15">
                <a:solidFill>
                  <a:srgbClr val="FFFFFF"/>
                </a:solidFill>
                <a:latin typeface="Segoe UI"/>
              </a:rPr>
              <a:t>MNIT Jaipur — thermodynamics &amp; fluid mechanics labs</a:t>
            </a:r>
          </a:p>
        </p:txBody>
      </p:sp>
      <p:sp>
        <p:nvSpPr>
          <p:cNvPr id="30" name="txt-p-x"/>
          <p:cNvSpPr txBox="1"/>
          <p:nvPr/>
        </p:nvSpPr>
        <p:spPr>
          <a:xfrm>
            <a:off x="1809750" y="5509319"/>
            <a:ext cx="6430334" cy="2494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65"/>
              </a:lnSpc>
            </a:pPr>
            <a:r>
              <a:rPr sz="1050" b="0" i="0">
                <a:solidFill>
                  <a:srgbClr val="8FA5BD"/>
                </a:solidFill>
                <a:latin typeface="Segoe UI"/>
              </a:rPr>
              <a:t>Departmental precedent for validating the physics models, and the ChemE supervision behind this build.</a:t>
            </a:r>
          </a:p>
        </p:txBody>
      </p:sp>
      <p:sp>
        <p:nvSpPr>
          <p:cNvPr id="31" name="txt-b-x"/>
          <p:cNvSpPr txBox="1"/>
          <p:nvPr/>
        </p:nvSpPr>
        <p:spPr>
          <a:xfrm>
            <a:off x="10305603" y="5257800"/>
            <a:ext cx="1162496" cy="3238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950"/>
              </a:lnSpc>
            </a:pPr>
            <a:r>
              <a:rPr sz="1950" b="1" i="0" spc="-75">
                <a:solidFill>
                  <a:srgbClr val="F59E0B"/>
                </a:solidFill>
                <a:latin typeface="Segoe UI"/>
              </a:rPr>
              <a:t>0</a:t>
            </a:r>
          </a:p>
        </p:txBody>
      </p:sp>
      <p:sp>
        <p:nvSpPr>
          <p:cNvPr id="32" name="txt-span-x"/>
          <p:cNvSpPr txBox="1"/>
          <p:nvPr/>
        </p:nvSpPr>
        <p:spPr>
          <a:xfrm>
            <a:off x="10305603" y="5543550"/>
            <a:ext cx="116249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940" b="0" i="0">
                <a:solidFill>
                  <a:srgbClr val="8FA5BD"/>
                </a:solidFill>
                <a:latin typeface="Segoe UI"/>
              </a:rPr>
              <a:t>unverifiable citations</a:t>
            </a:r>
          </a:p>
        </p:txBody>
      </p:sp>
      <p:sp>
        <p:nvSpPr>
          <p:cNvPr id="33" name="txt-span-x"/>
          <p:cNvSpPr txBox="1"/>
          <p:nvPr/>
        </p:nvSpPr>
        <p:spPr>
          <a:xfrm>
            <a:off x="1028700" y="6538912"/>
            <a:ext cx="349293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30">
                <a:solidFill>
                  <a:srgbClr val="FFFFFF"/>
                </a:solidFill>
                <a:latin typeface="Segoe UI"/>
              </a:rPr>
              <a:t>PS SIH26120</a:t>
            </a:r>
            <a:r>
              <a:rPr sz="940" b="0" i="0" spc="30">
                <a:solidFill>
                  <a:srgbClr val="93A9C2"/>
                </a:solidFill>
                <a:latin typeface="Segoe UI"/>
              </a:rPr>
              <a:t> · TEAM ________ · Smart India Hackathon 2026</a:t>
            </a:r>
          </a:p>
        </p:txBody>
      </p:sp>
      <p:sp>
        <p:nvSpPr>
          <p:cNvPr id="34" name="txt-span-sih"/>
          <p:cNvSpPr txBox="1"/>
          <p:nvPr/>
        </p:nvSpPr>
        <p:spPr>
          <a:xfrm>
            <a:off x="9337476" y="6538912"/>
            <a:ext cx="239717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40" b="1" i="0" spc="105">
                <a:solidFill>
                  <a:srgbClr val="F59E0B"/>
                </a:solidFill>
                <a:latin typeface="Segoe UI"/>
              </a:rPr>
              <a:t>RESEARCH &amp; REFERENCES · 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