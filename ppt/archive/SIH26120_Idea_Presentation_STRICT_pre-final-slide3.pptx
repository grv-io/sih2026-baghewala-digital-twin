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ID – SIH26120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Title- Digital Twin for Well-to-Surface Optimization of Cyclic Steam Stimulation and Sucker Rod Pump Operations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Theme- Smart Automation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PS Category- Software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ID- TBD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Name (Registered on portal)- TEAM ________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Organisation- Oil India Limited  |  Baghewala field, Rajasthan</a:t>
            </a:r>
          </a:p>
          <a:p>
            <a:pPr marL="0" indent="0">
              <a:buNone/>
            </a:pPr>
            <a:r>
              <a:rPr lang="en-IN" sz="1500" b="1" i="1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“Physics + AI for India’s first cyclic-steam oilfield”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Digital Twin for CSS and Sucker Rod Pump Optimization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188720"/>
            <a:ext cx="11247120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IN" sz="20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Proposed Solution (Describe your Idea/Solution/Prototype)</a:t>
            </a:r>
          </a:p>
          <a:p>
            <a:pPr marL="0" indent="0">
              <a:buNone/>
            </a:pPr>
            <a:r>
              <a:rPr lang="en-IN" sz="15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 physics-driven AI twin of a Baghewala CSS well that tunes steam cycle and sucker-rod pump together to drive Steam-Oil Ratio down while keeping rod-floating risk safe.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ColBox0"/>
          <p:cNvSpPr txBox="1">
            <a:spLocks noChangeArrowheads="1"/>
          </p:cNvSpPr>
          <p:nvPr/>
        </p:nvSpPr>
        <p:spPr bwMode="auto">
          <a:xfrm>
            <a:off x="502920" y="2377440"/>
            <a:ext cx="35935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15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Detailed explanation of the proposed solution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Digital twin of one CSS well, end to end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Physics: Marx–Langenheim heating, Andrade μ(T), Vogel IPR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Dynamics: rod load, pump efficiency, floating-risk index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ML: XGBoost SOR predictor + risk classifier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Bayesian optimizer returns steam volume, soak, cutoff, pump speed</a:t>
            </a:r>
          </a:p>
        </p:txBody>
      </p:sp>
      <p:sp>
        <p:nvSpPr>
          <p:cNvPr id="15364" name="ColBox1"/>
          <p:cNvSpPr txBox="1">
            <a:spLocks noChangeArrowheads="1"/>
          </p:cNvSpPr>
          <p:nvPr/>
        </p:nvSpPr>
        <p:spPr bwMode="auto">
          <a:xfrm>
            <a:off x="4325112" y="2377440"/>
            <a:ext cx="35935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15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How it addresses the problem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Replaces manual cycle-by-cycle tuning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Minimises SOR (heavy-oil CSS range 3–8 t/m³)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Warns of rod floating before the pump fails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Sub-second answers for a field 550–600 km from Jaipur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One dashboard: predict, optimize, replay, alert</a:t>
            </a:r>
          </a:p>
        </p:txBody>
      </p:sp>
      <p:sp>
        <p:nvSpPr>
          <p:cNvPr id="15365" name="ColBox2"/>
          <p:cNvSpPr txBox="1">
            <a:spLocks noChangeArrowheads="1"/>
          </p:cNvSpPr>
          <p:nvPr/>
        </p:nvSpPr>
        <p:spPr bwMode="auto">
          <a:xfrm>
            <a:off x="8147304" y="2377440"/>
            <a:ext cx="35935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15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Innovation and uniqueness of the solution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First twin to co-optimize CSS scheduling with SRP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XSPOC, Lufkin, Weatherford, AVEVA, Kongsberg do one, not both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Tuned to real Baghewala data: 1,150 m deep, 8,000–15,000 cP crude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India’s first CSS well (BGW-8, Dec 2018) as the proving ground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Fully open-source stack — no licence cost to Oil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33856"/>
            <a:ext cx="11247120" cy="768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201168" indent="-201168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Technologies to be used: Python 3.13 · NumPy / SciPy · pandas · scikit-learn · XGBoost · scikit-optimize · FastAPI · Plotly · pytest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Methodology and process for implementation: physics engine → 3,000 synthetic cycles → ML emulator → true-physics grid optimiser → dashboard → advisory set-points + operating rule to the operator (SCADA hook planned)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A_P_in"/>
          <p:cNvSpPr/>
          <p:nvPr/>
        </p:nvSpPr>
        <p:spPr>
          <a:xfrm>
            <a:off x="292608" y="1975104"/>
            <a:ext cx="1353312" cy="3108960"/>
          </a:xfrm>
          <a:prstGeom prst="roundRect">
            <a:avLst>
              <a:gd name="adj" fmla="val 6081"/>
            </a:avLst>
          </a:prstGeom>
          <a:solidFill>
            <a:srgbClr val="F6F8FC"/>
          </a:solidFill>
          <a:ln w="1270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TA_P_in_hdr"/>
          <p:cNvSpPr/>
          <p:nvPr/>
        </p:nvSpPr>
        <p:spPr>
          <a:xfrm>
            <a:off x="292608" y="1975104"/>
            <a:ext cx="1353312" cy="219456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tIns="0" rIns="4572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INPUTS</a:t>
            </a:r>
            <a:endParaRPr lang="en-IN" sz="950" dirty="0"/>
          </a:p>
        </p:txBody>
      </p:sp>
      <p:sp>
        <p:nvSpPr>
          <p:cNvPr id="17413" name="TA_P_twin"/>
          <p:cNvSpPr/>
          <p:nvPr/>
        </p:nvSpPr>
        <p:spPr>
          <a:xfrm>
            <a:off x="1883664" y="1975104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EF8F3"/>
          </a:solidFill>
          <a:ln w="1270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TA_P_twin_hdr"/>
          <p:cNvSpPr/>
          <p:nvPr/>
        </p:nvSpPr>
        <p:spPr>
          <a:xfrm>
            <a:off x="1883664" y="1975104"/>
            <a:ext cx="3474720" cy="219456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73152" tIns="0" rIns="4572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PHYSICS TWIN   twin/</a:t>
            </a:r>
            <a:endParaRPr lang="en-IN" sz="950" dirty="0"/>
          </a:p>
        </p:txBody>
      </p:sp>
      <p:sp>
        <p:nvSpPr>
          <p:cNvPr id="17415" name="TA_P_ml"/>
          <p:cNvSpPr/>
          <p:nvPr/>
        </p:nvSpPr>
        <p:spPr>
          <a:xfrm>
            <a:off x="5577840" y="1975104"/>
            <a:ext cx="2926080" cy="3108960"/>
          </a:xfrm>
          <a:prstGeom prst="roundRect">
            <a:avLst>
              <a:gd name="adj" fmla="val 2812"/>
            </a:avLst>
          </a:prstGeom>
          <a:solidFill>
            <a:srgbClr val="F6FBF6"/>
          </a:solidFill>
          <a:ln w="1270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TA_P_ml_hdr"/>
          <p:cNvSpPr/>
          <p:nvPr/>
        </p:nvSpPr>
        <p:spPr>
          <a:xfrm>
            <a:off x="5577840" y="1975104"/>
            <a:ext cx="2926080" cy="219456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73152" tIns="0" rIns="4572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DATA &amp; ML   ml/</a:t>
            </a:r>
            <a:endParaRPr lang="en-IN" sz="950" dirty="0"/>
          </a:p>
        </p:txBody>
      </p:sp>
      <p:sp>
        <p:nvSpPr>
          <p:cNvPr id="17417" name="TA_P_api"/>
          <p:cNvSpPr/>
          <p:nvPr/>
        </p:nvSpPr>
        <p:spPr>
          <a:xfrm>
            <a:off x="8705088" y="1975104"/>
            <a:ext cx="1335024" cy="3108960"/>
          </a:xfrm>
          <a:prstGeom prst="roundRect">
            <a:avLst>
              <a:gd name="adj" fmla="val 6164"/>
            </a:avLst>
          </a:prstGeom>
          <a:solidFill>
            <a:srgbClr val="F9F7FD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TA_P_api_hdr"/>
          <p:cNvSpPr/>
          <p:nvPr/>
        </p:nvSpPr>
        <p:spPr>
          <a:xfrm>
            <a:off x="8705088" y="1975104"/>
            <a:ext cx="1335024" cy="219456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73152" tIns="0" rIns="4572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SERVICE   api/</a:t>
            </a:r>
            <a:endParaRPr lang="en-IN" sz="950" dirty="0"/>
          </a:p>
        </p:txBody>
      </p:sp>
      <p:sp>
        <p:nvSpPr>
          <p:cNvPr id="17419" name="TA_P_dash"/>
          <p:cNvSpPr/>
          <p:nvPr/>
        </p:nvSpPr>
        <p:spPr>
          <a:xfrm>
            <a:off x="10204704" y="1975104"/>
            <a:ext cx="1783080" cy="3108960"/>
          </a:xfrm>
          <a:prstGeom prst="roundRect">
            <a:avLst>
              <a:gd name="adj" fmla="val 4615"/>
            </a:avLst>
          </a:prstGeom>
          <a:solidFill>
            <a:srgbClr val="F9F7FD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0" name="TA_P_dash_hdr"/>
          <p:cNvSpPr/>
          <p:nvPr/>
        </p:nvSpPr>
        <p:spPr>
          <a:xfrm>
            <a:off x="10204704" y="1975104"/>
            <a:ext cx="1783080" cy="219456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73152" tIns="0" rIns="4572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DASHBOARD</a:t>
            </a:r>
            <a:endParaRPr lang="en-IN" sz="950" dirty="0"/>
          </a:p>
        </p:txBody>
      </p:sp>
      <p:sp>
        <p:nvSpPr>
          <p:cNvPr id="17421" name="TA_P_val"/>
          <p:cNvSpPr/>
          <p:nvPr/>
        </p:nvSpPr>
        <p:spPr>
          <a:xfrm>
            <a:off x="292608" y="5422392"/>
            <a:ext cx="8211312" cy="886968"/>
          </a:xfrm>
          <a:prstGeom prst="roundRect">
            <a:avLst>
              <a:gd name="adj" fmla="val 9278"/>
            </a:avLst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2" name="TA_P_leg"/>
          <p:cNvSpPr/>
          <p:nvPr/>
        </p:nvSpPr>
        <p:spPr>
          <a:xfrm>
            <a:off x="8705088" y="5422392"/>
            <a:ext cx="1335024" cy="886968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 w="9525">
            <a:solidFill>
              <a:srgbClr val="BFBFBF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cxnSp>
        <p:nvCxnSpPr>
          <p:cNvPr id="17423" name="TA_wire00_bus_bus"/>
          <p:cNvCxnSpPr/>
          <p:nvPr/>
        </p:nvCxnSpPr>
        <p:spPr>
          <a:xfrm>
            <a:off x="8778240" y="5687568"/>
            <a:ext cx="347472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24" name="TA_wire01_bus_bus"/>
          <p:cNvCxnSpPr/>
          <p:nvPr/>
        </p:nvCxnSpPr>
        <p:spPr>
          <a:xfrm>
            <a:off x="8778240" y="5852160"/>
            <a:ext cx="347472" cy="0"/>
          </a:xfrm>
          <a:prstGeom prst="line">
            <a:avLst/>
          </a:prstGeom>
          <a:ln w="28575">
            <a:solidFill>
              <a:srgbClr val="C55A11"/>
            </a:solidFill>
            <a:round/>
            <a:tailEnd type="triangle" w="med" len="med"/>
          </a:ln>
        </p:spPr>
      </p:cxnSp>
      <p:cxnSp>
        <p:nvCxnSpPr>
          <p:cNvPr id="17425" name="TA_wire02_bus_bus"/>
          <p:cNvCxnSpPr/>
          <p:nvPr/>
        </p:nvCxnSpPr>
        <p:spPr>
          <a:xfrm>
            <a:off x="8778240" y="6016752"/>
            <a:ext cx="347472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round/>
            <a:tailEnd type="triangle" w="med" len="med"/>
          </a:ln>
        </p:spPr>
      </p:cxnSp>
      <p:cxnSp>
        <p:nvCxnSpPr>
          <p:cNvPr id="17426" name="TA_wire03_bus_bus"/>
          <p:cNvCxnSpPr/>
          <p:nvPr/>
        </p:nvCxnSpPr>
        <p:spPr>
          <a:xfrm>
            <a:off x="8778240" y="6181344"/>
            <a:ext cx="347472" cy="0"/>
          </a:xfrm>
          <a:prstGeom prst="line">
            <a:avLst/>
          </a:prstGeom>
          <a:ln w="12700">
            <a:solidFill>
              <a:srgbClr val="8C8C8C"/>
            </a:solidFill>
            <a:prstDash val="sysDot"/>
            <a:round/>
            <a:tailEnd type="triangle" w="med" len="med"/>
          </a:ln>
        </p:spPr>
      </p:cxnSp>
      <p:sp>
        <p:nvSpPr>
          <p:cNvPr id="2" name="TA_wire04_params_cycle"/>
          <p:cNvSpPr/>
          <p:nvPr/>
        </p:nvSpPr>
        <p:spPr>
          <a:xfrm>
            <a:off x="1591056" y="2688336"/>
            <a:ext cx="1938528" cy="2382012"/>
          </a:xfrm>
          <a:custGeom>
            <a:avLst/>
            <a:gdLst/>
            <a:ahLst/>
            <a:cxnLst/>
            <a:rect l="l" t="t" r="r" b="b"/>
            <a:pathLst>
              <a:path w="1938528" h="2382012">
                <a:moveTo>
                  <a:pt x="0" y="0"/>
                </a:moveTo>
                <a:lnTo>
                  <a:pt x="173736" y="0"/>
                </a:lnTo>
                <a:lnTo>
                  <a:pt x="173736" y="2382012"/>
                </a:lnTo>
                <a:lnTo>
                  <a:pt x="1938528" y="2382012"/>
                </a:lnTo>
                <a:lnTo>
                  <a:pt x="1938528" y="219456"/>
                </a:lnTo>
              </a:path>
            </a:pathLst>
          </a:custGeom>
          <a:noFill/>
          <a:ln w="12700">
            <a:solidFill>
              <a:srgbClr val="7F7F7F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27" name="TA_wire05_price_bus"/>
          <p:cNvCxnSpPr/>
          <p:nvPr/>
        </p:nvCxnSpPr>
        <p:spPr>
          <a:xfrm>
            <a:off x="1591056" y="3319272"/>
            <a:ext cx="173736" cy="0"/>
          </a:xfrm>
          <a:prstGeom prst="line">
            <a:avLst/>
          </a:prstGeom>
          <a:ln w="12700">
            <a:solidFill>
              <a:srgbClr val="7F7F7F"/>
            </a:solidFill>
            <a:round/>
          </a:ln>
        </p:spPr>
      </p:cxnSp>
      <p:cxnSp>
        <p:nvCxnSpPr>
          <p:cNvPr id="17428" name="TA_wire06_bus_thermal"/>
          <p:cNvCxnSpPr/>
          <p:nvPr/>
        </p:nvCxnSpPr>
        <p:spPr>
          <a:xfrm flipH="1">
            <a:off x="3410712" y="3108960"/>
            <a:ext cx="118872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29" name="TA_wire07_bus_ipr"/>
          <p:cNvCxnSpPr/>
          <p:nvPr/>
        </p:nvCxnSpPr>
        <p:spPr>
          <a:xfrm>
            <a:off x="3529584" y="3054096"/>
            <a:ext cx="19202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30" name="TA_wire08_bus_visc"/>
          <p:cNvCxnSpPr/>
          <p:nvPr/>
        </p:nvCxnSpPr>
        <p:spPr>
          <a:xfrm flipH="1">
            <a:off x="3410712" y="4041648"/>
            <a:ext cx="118872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31" name="TA_wire09_bus_srp"/>
          <p:cNvCxnSpPr/>
          <p:nvPr/>
        </p:nvCxnSpPr>
        <p:spPr>
          <a:xfrm>
            <a:off x="3529584" y="4005072"/>
            <a:ext cx="19202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32" name="TA_wire10_bus_dyno"/>
          <p:cNvCxnSpPr/>
          <p:nvPr/>
        </p:nvCxnSpPr>
        <p:spPr>
          <a:xfrm>
            <a:off x="3529584" y="4645152"/>
            <a:ext cx="19202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33" name="TA_wire11_thermal_visc"/>
          <p:cNvCxnSpPr/>
          <p:nvPr/>
        </p:nvCxnSpPr>
        <p:spPr>
          <a:xfrm>
            <a:off x="2697480" y="3657600"/>
            <a:ext cx="0" cy="9144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34" name="TA_wire12_thermal_cycle"/>
          <p:cNvCxnSpPr/>
          <p:nvPr/>
        </p:nvCxnSpPr>
        <p:spPr>
          <a:xfrm flipV="1">
            <a:off x="2697480" y="2907792"/>
            <a:ext cx="0" cy="18288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35" name="TA_wire13_ipr_cycle"/>
          <p:cNvCxnSpPr/>
          <p:nvPr/>
        </p:nvCxnSpPr>
        <p:spPr>
          <a:xfrm flipV="1">
            <a:off x="4434840" y="2907792"/>
            <a:ext cx="0" cy="18288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sp>
        <p:nvSpPr>
          <p:cNvPr id="3" name="TA_wire14_visc_ipr"/>
          <p:cNvSpPr/>
          <p:nvPr/>
        </p:nvSpPr>
        <p:spPr>
          <a:xfrm>
            <a:off x="3410712" y="3273552"/>
            <a:ext cx="310896" cy="475488"/>
          </a:xfrm>
          <a:custGeom>
            <a:avLst/>
            <a:gdLst/>
            <a:ahLst/>
            <a:cxnLst/>
            <a:rect l="l" t="t" r="r" b="b"/>
            <a:pathLst>
              <a:path w="310896" h="475488">
                <a:moveTo>
                  <a:pt x="0" y="475488"/>
                </a:moveTo>
                <a:lnTo>
                  <a:pt x="219456" y="475488"/>
                </a:lnTo>
                <a:lnTo>
                  <a:pt x="219456" y="0"/>
                </a:lnTo>
                <a:lnTo>
                  <a:pt x="310896" y="0"/>
                </a:lnTo>
              </a:path>
            </a:pathLst>
          </a:custGeom>
          <a:noFill/>
          <a:ln w="28575">
            <a:solidFill>
              <a:srgbClr val="C55A11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6" name="TA_wire15_visc_srp"/>
          <p:cNvCxnSpPr/>
          <p:nvPr/>
        </p:nvCxnSpPr>
        <p:spPr>
          <a:xfrm>
            <a:off x="3410712" y="3877056"/>
            <a:ext cx="310896" cy="0"/>
          </a:xfrm>
          <a:prstGeom prst="line">
            <a:avLst/>
          </a:prstGeom>
          <a:ln w="28575">
            <a:solidFill>
              <a:srgbClr val="C55A11"/>
            </a:solidFill>
            <a:round/>
            <a:tailEnd type="triangle" w="med" len="med"/>
          </a:ln>
        </p:spPr>
      </p:cxnSp>
      <p:cxnSp>
        <p:nvCxnSpPr>
          <p:cNvPr id="17437" name="TA_wire16_srp_dyno"/>
          <p:cNvCxnSpPr/>
          <p:nvPr/>
        </p:nvCxnSpPr>
        <p:spPr>
          <a:xfrm>
            <a:off x="4434840" y="4398264"/>
            <a:ext cx="0" cy="9144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sp>
        <p:nvSpPr>
          <p:cNvPr id="4" name="TA_wire17_srp_cycle"/>
          <p:cNvSpPr/>
          <p:nvPr/>
        </p:nvSpPr>
        <p:spPr>
          <a:xfrm>
            <a:off x="5138928" y="2688336"/>
            <a:ext cx="109728" cy="950976"/>
          </a:xfrm>
          <a:custGeom>
            <a:avLst/>
            <a:gdLst/>
            <a:ahLst/>
            <a:cxnLst/>
            <a:rect l="l" t="t" r="r" b="b"/>
            <a:pathLst>
              <a:path w="109728" h="950976">
                <a:moveTo>
                  <a:pt x="0" y="950976"/>
                </a:moveTo>
                <a:lnTo>
                  <a:pt x="109728" y="950976"/>
                </a:lnTo>
                <a:lnTo>
                  <a:pt x="109728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7F7F7F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8" name="TA_wire18_cycle_gen"/>
          <p:cNvCxnSpPr/>
          <p:nvPr/>
        </p:nvCxnSpPr>
        <p:spPr>
          <a:xfrm>
            <a:off x="5138928" y="2523744"/>
            <a:ext cx="493776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sp>
        <p:nvSpPr>
          <p:cNvPr id="5" name="TA_wire19_bus_uq"/>
          <p:cNvSpPr/>
          <p:nvPr/>
        </p:nvSpPr>
        <p:spPr>
          <a:xfrm>
            <a:off x="5504688" y="2258568"/>
            <a:ext cx="1609344" cy="484632"/>
          </a:xfrm>
          <a:custGeom>
            <a:avLst/>
            <a:gdLst/>
            <a:ahLst/>
            <a:cxnLst/>
            <a:rect l="l" t="t" r="r" b="b"/>
            <a:pathLst>
              <a:path w="1609344" h="484632">
                <a:moveTo>
                  <a:pt x="0" y="265176"/>
                </a:moveTo>
                <a:lnTo>
                  <a:pt x="0" y="0"/>
                </a:lnTo>
                <a:lnTo>
                  <a:pt x="1536192" y="0"/>
                </a:lnTo>
                <a:lnTo>
                  <a:pt x="1536192" y="484632"/>
                </a:lnTo>
                <a:lnTo>
                  <a:pt x="1609344" y="484632"/>
                </a:lnTo>
              </a:path>
            </a:pathLst>
          </a:custGeom>
          <a:noFill/>
          <a:ln w="12700">
            <a:solidFill>
              <a:srgbClr val="7F7F7F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9" name="TA_wire20_gen_train"/>
          <p:cNvCxnSpPr/>
          <p:nvPr/>
        </p:nvCxnSpPr>
        <p:spPr>
          <a:xfrm>
            <a:off x="6291072" y="2852928"/>
            <a:ext cx="0" cy="18288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40" name="TA_wire21_train_opt"/>
          <p:cNvCxnSpPr/>
          <p:nvPr/>
        </p:nvCxnSpPr>
        <p:spPr>
          <a:xfrm>
            <a:off x="6967728" y="3392424"/>
            <a:ext cx="14630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41" name="TA_wire22_opt_rphys"/>
          <p:cNvCxnSpPr/>
          <p:nvPr/>
        </p:nvCxnSpPr>
        <p:spPr>
          <a:xfrm>
            <a:off x="7772400" y="3602736"/>
            <a:ext cx="0" cy="18288"/>
          </a:xfrm>
          <a:prstGeom prst="line">
            <a:avLst/>
          </a:prstGeom>
          <a:ln w="12700">
            <a:solidFill>
              <a:srgbClr val="7F7F7F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7442" name="TA_wire23_uq_a_uq"/>
          <p:cNvCxnSpPr/>
          <p:nvPr/>
        </p:nvCxnSpPr>
        <p:spPr>
          <a:xfrm>
            <a:off x="8449056" y="2743200"/>
            <a:ext cx="310896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43" name="TA_wire24_opt_a_opt"/>
          <p:cNvCxnSpPr/>
          <p:nvPr/>
        </p:nvCxnSpPr>
        <p:spPr>
          <a:xfrm>
            <a:off x="8449056" y="3392424"/>
            <a:ext cx="310896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44" name="TA_wire25_rphys_a_rphys"/>
          <p:cNvCxnSpPr/>
          <p:nvPr/>
        </p:nvCxnSpPr>
        <p:spPr>
          <a:xfrm>
            <a:off x="8449056" y="4087368"/>
            <a:ext cx="310896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45" name="TA_wire26_rphys_a_sched"/>
          <p:cNvCxnSpPr/>
          <p:nvPr/>
        </p:nvCxnSpPr>
        <p:spPr>
          <a:xfrm>
            <a:off x="8449056" y="4274820"/>
            <a:ext cx="310896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46" name="TA_wire27_calib_a_cal"/>
          <p:cNvCxnSpPr/>
          <p:nvPr/>
        </p:nvCxnSpPr>
        <p:spPr>
          <a:xfrm>
            <a:off x="8449056" y="4448556"/>
            <a:ext cx="310896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sp>
        <p:nvSpPr>
          <p:cNvPr id="8" name="TA_wire28_bus_a_sim"/>
          <p:cNvSpPr/>
          <p:nvPr/>
        </p:nvSpPr>
        <p:spPr>
          <a:xfrm>
            <a:off x="5504688" y="2523744"/>
            <a:ext cx="3255264" cy="2633472"/>
          </a:xfrm>
          <a:custGeom>
            <a:avLst/>
            <a:gdLst/>
            <a:ahLst/>
            <a:cxnLst/>
            <a:rect l="l" t="t" r="r" b="b"/>
            <a:pathLst>
              <a:path w="3255264" h="2633472">
                <a:moveTo>
                  <a:pt x="0" y="0"/>
                </a:moveTo>
                <a:lnTo>
                  <a:pt x="0" y="2633472"/>
                </a:lnTo>
                <a:lnTo>
                  <a:pt x="3063240" y="2633472"/>
                </a:lnTo>
                <a:lnTo>
                  <a:pt x="3063240" y="2098548"/>
                </a:lnTo>
                <a:lnTo>
                  <a:pt x="3255264" y="2098548"/>
                </a:lnTo>
              </a:path>
            </a:pathLst>
          </a:custGeom>
          <a:noFill/>
          <a:ln w="12700">
            <a:solidFill>
              <a:srgbClr val="7F7F7F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A_wire29_dyno_a_dyno"/>
          <p:cNvSpPr/>
          <p:nvPr/>
        </p:nvSpPr>
        <p:spPr>
          <a:xfrm>
            <a:off x="5138928" y="4389120"/>
            <a:ext cx="3621024" cy="832104"/>
          </a:xfrm>
          <a:custGeom>
            <a:avLst/>
            <a:gdLst/>
            <a:ahLst/>
            <a:cxnLst/>
            <a:rect l="l" t="t" r="r" b="b"/>
            <a:pathLst>
              <a:path w="3621024" h="832104">
                <a:moveTo>
                  <a:pt x="0" y="0"/>
                </a:moveTo>
                <a:lnTo>
                  <a:pt x="292608" y="0"/>
                </a:lnTo>
                <a:lnTo>
                  <a:pt x="292608" y="832104"/>
                </a:lnTo>
                <a:lnTo>
                  <a:pt x="3502152" y="832104"/>
                </a:lnTo>
                <a:lnTo>
                  <a:pt x="3502152" y="466344"/>
                </a:lnTo>
                <a:lnTo>
                  <a:pt x="3621024" y="466344"/>
                </a:lnTo>
              </a:path>
            </a:pathLst>
          </a:custGeom>
          <a:noFill/>
          <a:ln w="12700">
            <a:solidFill>
              <a:srgbClr val="7F7F7F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A_wire30_csv_calib"/>
          <p:cNvSpPr/>
          <p:nvPr/>
        </p:nvSpPr>
        <p:spPr>
          <a:xfrm>
            <a:off x="1591056" y="3886200"/>
            <a:ext cx="4352544" cy="1399032"/>
          </a:xfrm>
          <a:custGeom>
            <a:avLst/>
            <a:gdLst/>
            <a:ahLst/>
            <a:cxnLst/>
            <a:rect l="l" t="t" r="r" b="b"/>
            <a:pathLst>
              <a:path w="4352544" h="1399032">
                <a:moveTo>
                  <a:pt x="0" y="0"/>
                </a:moveTo>
                <a:lnTo>
                  <a:pt x="109728" y="0"/>
                </a:lnTo>
                <a:lnTo>
                  <a:pt x="109728" y="1399032"/>
                </a:lnTo>
                <a:lnTo>
                  <a:pt x="4352544" y="1399032"/>
                </a:lnTo>
                <a:lnTo>
                  <a:pt x="4352544" y="1179576"/>
                </a:lnTo>
              </a:path>
            </a:pathLst>
          </a:custGeom>
          <a:noFill/>
          <a:ln w="12700">
            <a:solidFill>
              <a:srgbClr val="7F7F7F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A_wire31_calib_params"/>
          <p:cNvSpPr/>
          <p:nvPr/>
        </p:nvSpPr>
        <p:spPr>
          <a:xfrm>
            <a:off x="201168" y="2468880"/>
            <a:ext cx="6016752" cy="2880360"/>
          </a:xfrm>
          <a:custGeom>
            <a:avLst/>
            <a:gdLst/>
            <a:ahLst/>
            <a:cxnLst/>
            <a:rect l="l" t="t" r="r" b="b"/>
            <a:pathLst>
              <a:path w="6016752" h="2880360">
                <a:moveTo>
                  <a:pt x="6016752" y="2596896"/>
                </a:moveTo>
                <a:lnTo>
                  <a:pt x="6016752" y="2880360"/>
                </a:lnTo>
                <a:lnTo>
                  <a:pt x="0" y="2880360"/>
                </a:lnTo>
                <a:lnTo>
                  <a:pt x="0" y="0"/>
                </a:lnTo>
                <a:lnTo>
                  <a:pt x="146304" y="0"/>
                </a:lnTo>
              </a:path>
            </a:pathLst>
          </a:custGeom>
          <a:noFill/>
          <a:ln w="15875">
            <a:solidFill>
              <a:srgbClr val="404040"/>
            </a:solidFill>
            <a:prstDash val="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47" name="TA_wire32_a_opt_a_jobs"/>
          <p:cNvCxnSpPr/>
          <p:nvPr/>
        </p:nvCxnSpPr>
        <p:spPr>
          <a:xfrm>
            <a:off x="9372600" y="3483864"/>
            <a:ext cx="0" cy="146304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48" name="TA_wire33_a_uq_d_over"/>
          <p:cNvCxnSpPr/>
          <p:nvPr/>
        </p:nvCxnSpPr>
        <p:spPr>
          <a:xfrm>
            <a:off x="9985248" y="2743200"/>
            <a:ext cx="28346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49" name="TA_wire34_a_opt_d_rec"/>
          <p:cNvCxnSpPr/>
          <p:nvPr/>
        </p:nvCxnSpPr>
        <p:spPr>
          <a:xfrm>
            <a:off x="9985248" y="3392424"/>
            <a:ext cx="28346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50" name="TA_wire35_a_rphys_d_rec"/>
          <p:cNvCxnSpPr/>
          <p:nvPr/>
        </p:nvCxnSpPr>
        <p:spPr>
          <a:xfrm>
            <a:off x="9985248" y="4087368"/>
            <a:ext cx="28346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51" name="TA_wire36_a_sched_d_model"/>
          <p:cNvCxnSpPr/>
          <p:nvPr/>
        </p:nvCxnSpPr>
        <p:spPr>
          <a:xfrm>
            <a:off x="9985248" y="4274820"/>
            <a:ext cx="28346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52" name="TA_wire37_a_cal_d_model"/>
          <p:cNvCxnSpPr/>
          <p:nvPr/>
        </p:nvCxnSpPr>
        <p:spPr>
          <a:xfrm>
            <a:off x="9985248" y="4448556"/>
            <a:ext cx="28346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53" name="TA_wire38_a_sim_d_sim"/>
          <p:cNvCxnSpPr/>
          <p:nvPr/>
        </p:nvCxnSpPr>
        <p:spPr>
          <a:xfrm>
            <a:off x="9985248" y="4622292"/>
            <a:ext cx="28346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cxnSp>
        <p:nvCxnSpPr>
          <p:cNvPr id="17454" name="TA_wire39_a_dyno_d_sim"/>
          <p:cNvCxnSpPr/>
          <p:nvPr/>
        </p:nvCxnSpPr>
        <p:spPr>
          <a:xfrm>
            <a:off x="9985248" y="4855464"/>
            <a:ext cx="283464" cy="0"/>
          </a:xfrm>
          <a:prstGeom prst="line">
            <a:avLst/>
          </a:prstGeom>
          <a:ln w="12700">
            <a:solidFill>
              <a:srgbClr val="7F7F7F"/>
            </a:solidFill>
            <a:round/>
            <a:tailEnd type="triangle" w="med" len="med"/>
          </a:ln>
        </p:spPr>
      </p:cxnSp>
      <p:sp>
        <p:nvSpPr>
          <p:cNvPr id="15" name="TA_wire40_d_rec_operator"/>
          <p:cNvSpPr/>
          <p:nvPr/>
        </p:nvSpPr>
        <p:spPr>
          <a:xfrm>
            <a:off x="10616184" y="3749040"/>
            <a:ext cx="1453896" cy="1810512"/>
          </a:xfrm>
          <a:custGeom>
            <a:avLst/>
            <a:gdLst/>
            <a:ahLst/>
            <a:cxnLst/>
            <a:rect l="l" t="t" r="r" b="b"/>
            <a:pathLst>
              <a:path w="1453896" h="1810512">
                <a:moveTo>
                  <a:pt x="1307592" y="0"/>
                </a:moveTo>
                <a:lnTo>
                  <a:pt x="1453896" y="0"/>
                </a:lnTo>
                <a:lnTo>
                  <a:pt x="1453896" y="1719072"/>
                </a:lnTo>
                <a:lnTo>
                  <a:pt x="0" y="1719072"/>
                </a:lnTo>
                <a:lnTo>
                  <a:pt x="0" y="1810512"/>
                </a:lnTo>
              </a:path>
            </a:pathLst>
          </a:custGeom>
          <a:noFill/>
          <a:ln w="15875">
            <a:solidFill>
              <a:srgbClr val="404040"/>
            </a:solidFill>
            <a:prstDash val="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55" name="TA_wire41_operator_well"/>
          <p:cNvCxnSpPr/>
          <p:nvPr/>
        </p:nvCxnSpPr>
        <p:spPr>
          <a:xfrm>
            <a:off x="11027664" y="5916168"/>
            <a:ext cx="146304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round/>
            <a:tailEnd type="triangle" w="med" len="med"/>
          </a:ln>
        </p:spPr>
      </p:cxnSp>
      <p:cxnSp>
        <p:nvCxnSpPr>
          <p:cNvPr id="17456" name="TA_wire42_calgem_v_calgem"/>
          <p:cNvCxnSpPr/>
          <p:nvPr/>
        </p:nvCxnSpPr>
        <p:spPr>
          <a:xfrm>
            <a:off x="1463040" y="4718304"/>
            <a:ext cx="0" cy="896112"/>
          </a:xfrm>
          <a:prstGeom prst="line">
            <a:avLst/>
          </a:prstGeom>
          <a:ln w="12700">
            <a:solidFill>
              <a:srgbClr val="8C8C8C"/>
            </a:solidFill>
            <a:prstDash val="sysDot"/>
            <a:round/>
            <a:tailEnd type="triangle" w="med" len="med"/>
          </a:ln>
        </p:spPr>
      </p:cxnSp>
      <p:cxnSp>
        <p:nvCxnSpPr>
          <p:cNvPr id="17457" name="TA_wire43_v_bgw_P_twin"/>
          <p:cNvCxnSpPr/>
          <p:nvPr/>
        </p:nvCxnSpPr>
        <p:spPr>
          <a:xfrm flipV="1">
            <a:off x="2697480" y="5084064"/>
            <a:ext cx="0" cy="530352"/>
          </a:xfrm>
          <a:prstGeom prst="line">
            <a:avLst/>
          </a:prstGeom>
          <a:ln w="12700">
            <a:solidFill>
              <a:srgbClr val="8C8C8C"/>
            </a:solidFill>
            <a:prstDash val="sysDot"/>
            <a:round/>
            <a:tailEnd type="triangle" w="med" len="med"/>
          </a:ln>
        </p:spPr>
      </p:cxnSp>
      <p:cxnSp>
        <p:nvCxnSpPr>
          <p:cNvPr id="17458" name="TA_wire44_v_tests_P_twin"/>
          <p:cNvCxnSpPr/>
          <p:nvPr/>
        </p:nvCxnSpPr>
        <p:spPr>
          <a:xfrm flipV="1">
            <a:off x="4379976" y="5084064"/>
            <a:ext cx="0" cy="530352"/>
          </a:xfrm>
          <a:prstGeom prst="line">
            <a:avLst/>
          </a:prstGeom>
          <a:ln w="12700">
            <a:solidFill>
              <a:srgbClr val="8C8C8C"/>
            </a:solidFill>
            <a:prstDash val="sysDot"/>
            <a:round/>
            <a:tailEnd type="triangle" w="med" len="med"/>
          </a:ln>
        </p:spPr>
      </p:cxnSp>
      <p:cxnSp>
        <p:nvCxnSpPr>
          <p:cNvPr id="17459" name="TA_wire45_v_oil_calib"/>
          <p:cNvCxnSpPr/>
          <p:nvPr/>
        </p:nvCxnSpPr>
        <p:spPr>
          <a:xfrm flipV="1">
            <a:off x="7269480" y="5065776"/>
            <a:ext cx="0" cy="548640"/>
          </a:xfrm>
          <a:prstGeom prst="line">
            <a:avLst/>
          </a:prstGeom>
          <a:ln w="12700">
            <a:solidFill>
              <a:srgbClr val="8C8C8C"/>
            </a:solidFill>
            <a:prstDash val="sysDot"/>
            <a:round/>
            <a:tailEnd type="triangle" w="med" len="med"/>
          </a:ln>
        </p:spPr>
      </p:cxnSp>
      <p:sp>
        <p:nvSpPr>
          <p:cNvPr id="17460" name="TA_dot00"/>
          <p:cNvSpPr/>
          <p:nvPr/>
        </p:nvSpPr>
        <p:spPr>
          <a:xfrm>
            <a:off x="1737360" y="3291840"/>
            <a:ext cx="54864" cy="5486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1" name="TA_dot01"/>
          <p:cNvSpPr/>
          <p:nvPr/>
        </p:nvSpPr>
        <p:spPr>
          <a:xfrm>
            <a:off x="3502152" y="3081528"/>
            <a:ext cx="54864" cy="5486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2" name="TA_dot02"/>
          <p:cNvSpPr/>
          <p:nvPr/>
        </p:nvSpPr>
        <p:spPr>
          <a:xfrm>
            <a:off x="3502152" y="3026664"/>
            <a:ext cx="54864" cy="5486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3" name="TA_dot03"/>
          <p:cNvSpPr/>
          <p:nvPr/>
        </p:nvSpPr>
        <p:spPr>
          <a:xfrm>
            <a:off x="3502152" y="4014216"/>
            <a:ext cx="54864" cy="5486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4" name="TA_dot04"/>
          <p:cNvSpPr/>
          <p:nvPr/>
        </p:nvSpPr>
        <p:spPr>
          <a:xfrm>
            <a:off x="3502152" y="3977640"/>
            <a:ext cx="54864" cy="5486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5" name="TA_dot05"/>
          <p:cNvSpPr/>
          <p:nvPr/>
        </p:nvSpPr>
        <p:spPr>
          <a:xfrm>
            <a:off x="3502152" y="4617720"/>
            <a:ext cx="54864" cy="5486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6" name="TA_dot06"/>
          <p:cNvSpPr/>
          <p:nvPr/>
        </p:nvSpPr>
        <p:spPr>
          <a:xfrm>
            <a:off x="5477256" y="2496312"/>
            <a:ext cx="54864" cy="5486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7" name="TA_params"/>
          <p:cNvSpPr/>
          <p:nvPr/>
        </p:nvSpPr>
        <p:spPr>
          <a:xfrm>
            <a:off x="347472" y="2249424"/>
            <a:ext cx="1243584" cy="859536"/>
          </a:xfrm>
          <a:prstGeom prst="roundRect">
            <a:avLst>
              <a:gd name="adj" fmla="val 7446"/>
            </a:avLst>
          </a:prstGeom>
          <a:solidFill>
            <a:srgbClr val="FFFFFF"/>
          </a:solidFill>
          <a:ln w="1270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field_params.json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rev 12 · real Baghewala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1,150 m · 11,500 cP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@ 50 °C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sat. steam 85–97 kgf/cm²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(307–317 °C at sandface)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19 CSS jobs FY26</a:t>
            </a:r>
            <a:endParaRPr lang="en-IN" sz="700" dirty="0"/>
          </a:p>
        </p:txBody>
      </p:sp>
      <p:sp>
        <p:nvSpPr>
          <p:cNvPr id="17468" name="TA_price"/>
          <p:cNvSpPr/>
          <p:nvPr/>
        </p:nvSpPr>
        <p:spPr>
          <a:xfrm>
            <a:off x="347472" y="3108960"/>
            <a:ext cx="1243584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Price decks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FY25 $78.09/bbl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FY26 floor $65/bbl</a:t>
            </a:r>
            <a:endParaRPr lang="en-IN" sz="700" dirty="0"/>
          </a:p>
        </p:txBody>
      </p:sp>
      <p:sp>
        <p:nvSpPr>
          <p:cNvPr id="17469" name="TA_csv"/>
          <p:cNvSpPr/>
          <p:nvPr/>
        </p:nvSpPr>
        <p:spPr>
          <a:xfrm>
            <a:off x="347472" y="3602736"/>
            <a:ext cx="1243584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OIL cycle records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CSV: steam_t · soak_days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cutoff · spm · oil_m3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produce_days · peak</a:t>
            </a:r>
            <a:endParaRPr lang="en-IN" sz="700" dirty="0"/>
          </a:p>
        </p:txBody>
      </p:sp>
      <p:sp>
        <p:nvSpPr>
          <p:cNvPr id="17470" name="TA_calgem"/>
          <p:cNvSpPr/>
          <p:nvPr/>
        </p:nvSpPr>
        <p:spPr>
          <a:xfrm>
            <a:off x="347472" y="4297680"/>
            <a:ext cx="1243584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CalGEM benchmark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9,692 real CSS cycles (CA)</a:t>
            </a:r>
            <a:endParaRPr lang="en-IN" sz="700" dirty="0"/>
          </a:p>
        </p:txBody>
      </p:sp>
      <p:sp>
        <p:nvSpPr>
          <p:cNvPr id="17471" name="TA_cycle"/>
          <p:cNvSpPr/>
          <p:nvPr/>
        </p:nvSpPr>
        <p:spPr>
          <a:xfrm>
            <a:off x="1993392" y="2249424"/>
            <a:ext cx="314553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cycle.py  —  CSS cycle orchestrator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day by day: inject → soak → produce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water cut as a state (condensate flowback 0.87 → 0.56)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produce ends at rate cutoff OR 3 days of rod float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economics gross + incremental · opex</a:t>
            </a:r>
            <a:endParaRPr lang="en-IN" sz="700" dirty="0"/>
          </a:p>
        </p:txBody>
      </p:sp>
      <p:sp>
        <p:nvSpPr>
          <p:cNvPr id="17472" name="TA_thermal"/>
          <p:cNvSpPr/>
          <p:nvPr/>
        </p:nvSpPr>
        <p:spPr>
          <a:xfrm>
            <a:off x="1993392" y="2926080"/>
            <a:ext cx="14173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thermal.py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Marx–Langenheim +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sensible heat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Boberg–Lantz cooldown,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δ computed (PEH 15.70–74)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wellbore loss</a:t>
            </a:r>
            <a:endParaRPr lang="en-IN" sz="700" dirty="0"/>
          </a:p>
        </p:txBody>
      </p:sp>
      <p:sp>
        <p:nvSpPr>
          <p:cNvPr id="17473" name="TA_ipr"/>
          <p:cNvSpPr/>
          <p:nvPr/>
        </p:nvSpPr>
        <p:spPr>
          <a:xfrm>
            <a:off x="3721608" y="2926080"/>
            <a:ext cx="1417320" cy="630936"/>
          </a:xfrm>
          <a:prstGeom prst="roundRect">
            <a:avLst>
              <a:gd name="adj" fmla="val 10144"/>
            </a:avLst>
          </a:prstGeom>
          <a:solidFill>
            <a:srgbClr val="FFFFFF"/>
          </a:solidFill>
          <a:ln w="1270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ipr.py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composite-radial inflow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μ-scaled cold rate · skin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P_res(t) charge/bleed,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P_current 9.4 MPa</a:t>
            </a:r>
            <a:endParaRPr lang="en-IN" sz="700" dirty="0"/>
          </a:p>
        </p:txBody>
      </p:sp>
      <p:sp>
        <p:nvSpPr>
          <p:cNvPr id="17474" name="TA_visc"/>
          <p:cNvSpPr/>
          <p:nvPr/>
        </p:nvSpPr>
        <p:spPr>
          <a:xfrm>
            <a:off x="1993392" y="3666744"/>
            <a:ext cx="1417320" cy="630936"/>
          </a:xfrm>
          <a:prstGeom prst="roundRect">
            <a:avLst>
              <a:gd name="adj" fmla="val 10144"/>
            </a:avLst>
          </a:prstGeom>
          <a:solidFill>
            <a:srgbClr val="FFFFFF"/>
          </a:solidFill>
          <a:ln w="28575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viscosity.py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Walther / ASTM D341 μ(T)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Pal–Rhodes emulsion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(O/W ↔ W/O inversion 0.70,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cap 10×)</a:t>
            </a:r>
            <a:endParaRPr lang="en-IN" sz="700" dirty="0"/>
          </a:p>
        </p:txBody>
      </p:sp>
      <p:sp>
        <p:nvSpPr>
          <p:cNvPr id="17475" name="TA_srp"/>
          <p:cNvSpPr/>
          <p:nvPr/>
        </p:nvSpPr>
        <p:spPr>
          <a:xfrm>
            <a:off x="3721608" y="3557016"/>
            <a:ext cx="1417320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srp.py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rod load · buoyancy · drag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on produced stream ·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floating index · liquid-basis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capacity ·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stroke 64–144 in · declining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SPM (VFD)</a:t>
            </a:r>
            <a:endParaRPr lang="en-IN" sz="700" dirty="0"/>
          </a:p>
        </p:txBody>
      </p:sp>
      <p:sp>
        <p:nvSpPr>
          <p:cNvPr id="17476" name="TA_callout"/>
          <p:cNvSpPr/>
          <p:nvPr/>
        </p:nvSpPr>
        <p:spPr>
          <a:xfrm>
            <a:off x="1993392" y="4306824"/>
            <a:ext cx="1417320" cy="731520"/>
          </a:xfrm>
          <a:prstGeom prst="roundRect">
            <a:avLst>
              <a:gd name="adj" fmla="val 8750"/>
            </a:avLst>
          </a:prstGeom>
          <a:solidFill>
            <a:srgbClr val="FCEEE4"/>
          </a:solidFill>
          <a:ln w="12700">
            <a:solidFill>
              <a:srgbClr val="C55A11"/>
            </a:solidFill>
            <a:prstDash val="dash"/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dirty="0" b="1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ONE μ(T), TWO FAILURES</a:t>
            </a:r>
            <a:endParaRPr lang="en-IN" sz="7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cold oil → low inflow (ipr)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 late-cycle rod float once the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stream turns oil-continuous (srp)</a:t>
            </a:r>
            <a:endParaRPr lang="en-IN" sz="700" dirty="0"/>
          </a:p>
        </p:txBody>
      </p:sp>
      <p:sp>
        <p:nvSpPr>
          <p:cNvPr id="17477" name="TA_dyno"/>
          <p:cNvSpPr/>
          <p:nvPr/>
        </p:nvSpPr>
        <p:spPr>
          <a:xfrm>
            <a:off x="3721608" y="4407408"/>
            <a:ext cx="14173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dyno.py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Gibbs 1-D wave equation →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surface card; valve-mechanics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card; fault classifier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measured-card classifier (96 %)</a:t>
            </a:r>
            <a:endParaRPr lang="en-IN" sz="700" dirty="0"/>
          </a:p>
        </p:txBody>
      </p:sp>
      <p:sp>
        <p:nvSpPr>
          <p:cNvPr id="17478" name="TA_gen"/>
          <p:cNvSpPr/>
          <p:nvPr/>
        </p:nvSpPr>
        <p:spPr>
          <a:xfrm>
            <a:off x="5632704" y="2322576"/>
            <a:ext cx="1335024" cy="530352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270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generate_data.py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twin/ · 3,000 LHS cycles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6 controls incl. pressure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stroke · seed 42</a:t>
            </a:r>
            <a:endParaRPr lang="en-IN" sz="700" dirty="0"/>
          </a:p>
        </p:txBody>
      </p:sp>
      <p:sp>
        <p:nvSpPr>
          <p:cNvPr id="17479" name="TA_train"/>
          <p:cNvSpPr/>
          <p:nvPr/>
        </p:nvSpPr>
        <p:spPr>
          <a:xfrm>
            <a:off x="5632704" y="2871216"/>
            <a:ext cx="1335024" cy="1481328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1270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train.py  —  XGBoost</a:t>
            </a:r>
            <a:endParaRPr lang="en-IN" sz="850" dirty="0"/>
          </a:p>
        </p:txBody>
      </p:sp>
      <p:sp>
        <p:nvSpPr>
          <p:cNvPr id="17480" name="TA_m_oil"/>
          <p:cNvSpPr/>
          <p:nvPr/>
        </p:nvSpPr>
        <p:spPr>
          <a:xfrm>
            <a:off x="5696712" y="3108960"/>
            <a:ext cx="1207008" cy="310896"/>
          </a:xfrm>
          <a:prstGeom prst="roundRect">
            <a:avLst>
              <a:gd name="adj" fmla="val 14705"/>
            </a:avLst>
          </a:prstGeom>
          <a:solidFill>
            <a:srgbClr val="E8F3E9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log-oil regressor</a:t>
            </a:r>
            <a:endParaRPr lang="en-IN" sz="7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R² 0.996</a:t>
            </a:r>
            <a:endParaRPr lang="en-IN" sz="700" dirty="0"/>
          </a:p>
        </p:txBody>
      </p:sp>
      <p:sp>
        <p:nvSpPr>
          <p:cNvPr id="17481" name="TA_m_margin"/>
          <p:cNvSpPr/>
          <p:nvPr/>
        </p:nvSpPr>
        <p:spPr>
          <a:xfrm>
            <a:off x="5696712" y="3483864"/>
            <a:ext cx="1207008" cy="310896"/>
          </a:xfrm>
          <a:prstGeom prst="roundRect">
            <a:avLst>
              <a:gd name="adj" fmla="val 14705"/>
            </a:avLst>
          </a:prstGeom>
          <a:solidFill>
            <a:srgbClr val="E8F3E9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incr. margin / day</a:t>
            </a:r>
            <a:endParaRPr lang="en-IN" sz="7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R² 0.98 in-envelope</a:t>
            </a:r>
            <a:endParaRPr lang="en-IN" sz="700" dirty="0"/>
          </a:p>
        </p:txBody>
      </p:sp>
      <p:sp>
        <p:nvSpPr>
          <p:cNvPr id="17482" name="TA_m_float"/>
          <p:cNvSpPr/>
          <p:nvPr/>
        </p:nvSpPr>
        <p:spPr>
          <a:xfrm>
            <a:off x="5696712" y="3858768"/>
            <a:ext cx="1207008" cy="384048"/>
          </a:xfrm>
          <a:prstGeom prst="roundRect">
            <a:avLst>
              <a:gd name="adj" fmla="val 11904"/>
            </a:avLst>
          </a:prstGeom>
          <a:solidFill>
            <a:srgbClr val="E8F3E9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float classifier</a:t>
            </a:r>
            <a:endParaRPr lang="en-IN" sz="7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AUC 0.9998 (emulator role)</a:t>
            </a:r>
            <a:endParaRPr lang="en-IN" sz="700" dirty="0"/>
          </a:p>
        </p:txBody>
      </p:sp>
      <p:sp>
        <p:nvSpPr>
          <p:cNvPr id="17483" name="TA_uq"/>
          <p:cNvSpPr/>
          <p:nvPr/>
        </p:nvSpPr>
        <p:spPr>
          <a:xfrm>
            <a:off x="7114032" y="2322576"/>
            <a:ext cx="1335024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uq.py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1,500 paired Monte-Carlo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16 inputs: skin, water cut,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condensate recovery, prices…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p10/p50/p90 · P(better)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both decks</a:t>
            </a:r>
            <a:endParaRPr lang="en-IN" sz="700" dirty="0"/>
          </a:p>
        </p:txBody>
      </p:sp>
      <p:sp>
        <p:nvSpPr>
          <p:cNvPr id="17484" name="TA_opt"/>
          <p:cNvSpPr/>
          <p:nvPr/>
        </p:nvSpPr>
        <p:spPr>
          <a:xfrm>
            <a:off x="7114032" y="3182112"/>
            <a:ext cx="1335024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optimize.py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surrogate what-if / UQ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emulator · gp_minimize</a:t>
            </a:r>
            <a:endParaRPr lang="en-IN" sz="700" dirty="0"/>
          </a:p>
        </p:txBody>
      </p:sp>
      <p:sp>
        <p:nvSpPr>
          <p:cNvPr id="17485" name="TA_rphys"/>
          <p:cNvSpPr/>
          <p:nvPr/>
        </p:nvSpPr>
        <p:spPr>
          <a:xfrm>
            <a:off x="7114032" y="3621024"/>
            <a:ext cx="1335024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1270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b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recommend_physics.py  —  decision engine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true-physics 5-D grid: steam,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pressure, cutoff, stroke, SPM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(soak fixed 10 d)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53,592 points · 36 s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 ≤ 0.6 · aggressive /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conservative</a:t>
            </a:r>
            <a:endParaRPr lang="en-IN" sz="700" dirty="0"/>
          </a:p>
        </p:txBody>
      </p:sp>
      <p:sp>
        <p:nvSpPr>
          <p:cNvPr id="17486" name="TA_calib"/>
          <p:cNvSpPr/>
          <p:nvPr/>
        </p:nvSpPr>
        <p:spPr>
          <a:xfrm>
            <a:off x="5632704" y="4553712"/>
            <a:ext cx="281635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calibrate.py  —  closed loop (twin/)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bounded least-squares fit of formation water_cut / AOF / thickness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from observed cycles → re-recommend</a:t>
            </a:r>
            <a:endParaRPr lang="en-IN" sz="700" dirty="0"/>
          </a:p>
        </p:txBody>
      </p:sp>
      <p:sp>
        <p:nvSpPr>
          <p:cNvPr id="17487" name="TA_a_app"/>
          <p:cNvSpPr/>
          <p:nvPr/>
        </p:nvSpPr>
        <p:spPr>
          <a:xfrm>
            <a:off x="8759952" y="2249424"/>
            <a:ext cx="1225296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ctr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FastAPI · typed /api/*</a:t>
            </a:r>
            <a:endParaRPr lang="en-IN" sz="750" dirty="0"/>
          </a:p>
        </p:txBody>
      </p:sp>
      <p:sp>
        <p:nvSpPr>
          <p:cNvPr id="17488" name="TA_a_uq"/>
          <p:cNvSpPr/>
          <p:nvPr/>
        </p:nvSpPr>
        <p:spPr>
          <a:xfrm>
            <a:off x="8759952" y="2651760"/>
            <a:ext cx="1225296" cy="182880"/>
          </a:xfrm>
          <a:prstGeom prst="roundRect">
            <a:avLst>
              <a:gd name="adj" fmla="val 25000"/>
            </a:avLst>
          </a:prstGeom>
          <a:solidFill>
            <a:srgbClr val="EEEAF7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dirty="0" b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/api/uq</a:t>
            </a:r>
            <a:endParaRPr lang="en-IN" sz="750" dirty="0"/>
          </a:p>
        </p:txBody>
      </p:sp>
      <p:sp>
        <p:nvSpPr>
          <p:cNvPr id="17489" name="TA_a_infra"/>
          <p:cNvSpPr/>
          <p:nvPr/>
        </p:nvSpPr>
        <p:spPr>
          <a:xfrm>
            <a:off x="8759952" y="2862072"/>
            <a:ext cx="122529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 lang="en-IN" sz="7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SQLite run history · jobs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Docker / Render · CI</a:t>
            </a:r>
            <a:endParaRPr lang="en-IN" sz="700" dirty="0"/>
          </a:p>
        </p:txBody>
      </p:sp>
      <p:sp>
        <p:nvSpPr>
          <p:cNvPr id="17490" name="TA_a_opt"/>
          <p:cNvSpPr/>
          <p:nvPr/>
        </p:nvSpPr>
        <p:spPr>
          <a:xfrm>
            <a:off x="8759952" y="3300984"/>
            <a:ext cx="1225296" cy="182880"/>
          </a:xfrm>
          <a:prstGeom prst="roundRect">
            <a:avLst>
              <a:gd name="adj" fmla="val 25000"/>
            </a:avLst>
          </a:prstGeom>
          <a:solidFill>
            <a:srgbClr val="EEEAF7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b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/api/optimize</a:t>
            </a:r>
            <a:endParaRPr lang="en-IN" sz="700" dirty="0"/>
          </a:p>
        </p:txBody>
      </p:sp>
      <p:sp>
        <p:nvSpPr>
          <p:cNvPr id="17491" name="TA_a_jobs"/>
          <p:cNvSpPr/>
          <p:nvPr/>
        </p:nvSpPr>
        <p:spPr>
          <a:xfrm>
            <a:off x="8759952" y="3630168"/>
            <a:ext cx="1225296" cy="155448"/>
          </a:xfrm>
          <a:prstGeom prst="roundRect">
            <a:avLst>
              <a:gd name="adj" fmla="val 29411"/>
            </a:avLst>
          </a:prstGeom>
          <a:solidFill>
            <a:srgbClr val="EEEAF7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b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/api/jobs/{id}</a:t>
            </a:r>
            <a:endParaRPr lang="en-IN" sz="700" dirty="0"/>
          </a:p>
        </p:txBody>
      </p:sp>
      <p:sp>
        <p:nvSpPr>
          <p:cNvPr id="17492" name="TA_a_rphys"/>
          <p:cNvSpPr/>
          <p:nvPr/>
        </p:nvSpPr>
        <p:spPr>
          <a:xfrm>
            <a:off x="8759952" y="3995928"/>
            <a:ext cx="1225296" cy="182880"/>
          </a:xfrm>
          <a:prstGeom prst="roundRect">
            <a:avLst>
              <a:gd name="adj" fmla="val 25000"/>
            </a:avLst>
          </a:prstGeom>
          <a:solidFill>
            <a:srgbClr val="EEEAF7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b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/api/recommend/physics</a:t>
            </a:r>
            <a:endParaRPr lang="en-IN" sz="700" dirty="0"/>
          </a:p>
        </p:txBody>
      </p:sp>
      <p:sp>
        <p:nvSpPr>
          <p:cNvPr id="17493" name="TA_a_sched"/>
          <p:cNvSpPr/>
          <p:nvPr/>
        </p:nvSpPr>
        <p:spPr>
          <a:xfrm>
            <a:off x="8759952" y="4197096"/>
            <a:ext cx="1225296" cy="155448"/>
          </a:xfrm>
          <a:prstGeom prst="roundRect">
            <a:avLst>
              <a:gd name="adj" fmla="val 29411"/>
            </a:avLst>
          </a:prstGeom>
          <a:solidFill>
            <a:srgbClr val="EEEAF7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b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/api/schedule</a:t>
            </a:r>
            <a:endParaRPr lang="en-IN" sz="700" dirty="0"/>
          </a:p>
        </p:txBody>
      </p:sp>
      <p:sp>
        <p:nvSpPr>
          <p:cNvPr id="17494" name="TA_a_cal"/>
          <p:cNvSpPr/>
          <p:nvPr/>
        </p:nvSpPr>
        <p:spPr>
          <a:xfrm>
            <a:off x="8759952" y="4370832"/>
            <a:ext cx="1225296" cy="155448"/>
          </a:xfrm>
          <a:prstGeom prst="roundRect">
            <a:avLst>
              <a:gd name="adj" fmla="val 29411"/>
            </a:avLst>
          </a:prstGeom>
          <a:solidFill>
            <a:srgbClr val="EEEAF7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b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/api/calibrate</a:t>
            </a:r>
            <a:endParaRPr lang="en-IN" sz="700" dirty="0"/>
          </a:p>
        </p:txBody>
      </p:sp>
      <p:sp>
        <p:nvSpPr>
          <p:cNvPr id="17495" name="TA_a_sim"/>
          <p:cNvSpPr/>
          <p:nvPr/>
        </p:nvSpPr>
        <p:spPr>
          <a:xfrm>
            <a:off x="8759952" y="4544568"/>
            <a:ext cx="1225296" cy="155448"/>
          </a:xfrm>
          <a:prstGeom prst="roundRect">
            <a:avLst>
              <a:gd name="adj" fmla="val 29411"/>
            </a:avLst>
          </a:prstGeom>
          <a:solidFill>
            <a:srgbClr val="EEEAF7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b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/simulate → /runs</a:t>
            </a:r>
            <a:endParaRPr lang="en-IN" sz="700" dirty="0"/>
          </a:p>
        </p:txBody>
      </p:sp>
      <p:sp>
        <p:nvSpPr>
          <p:cNvPr id="17496" name="TA_a_dyno"/>
          <p:cNvSpPr/>
          <p:nvPr/>
        </p:nvSpPr>
        <p:spPr>
          <a:xfrm>
            <a:off x="8759952" y="4718304"/>
            <a:ext cx="1225296" cy="274320"/>
          </a:xfrm>
          <a:prstGeom prst="roundRect">
            <a:avLst>
              <a:gd name="adj" fmla="val 16666"/>
            </a:avLst>
          </a:prstGeom>
          <a:solidFill>
            <a:srgbClr val="EEEAF7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" tIns="9144" rIns="27432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b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/api/dyno/{cards,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classify}</a:t>
            </a:r>
            <a:endParaRPr lang="en-IN" sz="700" dirty="0"/>
          </a:p>
        </p:txBody>
      </p:sp>
      <p:sp>
        <p:nvSpPr>
          <p:cNvPr id="17497" name="TA_d_tags"/>
          <p:cNvSpPr txBox="1"/>
          <p:nvPr/>
        </p:nvSpPr>
        <p:spPr>
          <a:xfrm>
            <a:off x="10268712" y="2212848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dashboard/ · EN / </a:t>
            </a:r>
            <a:r>
              <a:rPr lang="en-IN" sz="700" dirty="0">
                <a:solidFill>
                  <a:srgbClr val="5B3FA0"/>
                </a:solidFill>
                <a:latin typeface="Arial"/>
                <a:ea typeface="Arial"/>
                <a:cs typeface="Nirmala UI"/>
                <a:sym typeface="Arial"/>
              </a:rPr>
              <a:t>हिं </a:t>
            </a:r>
            <a:r>
              <a:rPr lang="en-IN" sz="700" dirty="0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· offline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live / MOCK auto-detect</a:t>
            </a:r>
            <a:endParaRPr lang="en-IN" sz="700" dirty="0"/>
          </a:p>
        </p:txBody>
      </p:sp>
      <p:sp>
        <p:nvSpPr>
          <p:cNvPr id="17498" name="TA_d_over"/>
          <p:cNvSpPr/>
          <p:nvPr/>
        </p:nvSpPr>
        <p:spPr>
          <a:xfrm>
            <a:off x="10268712" y="2468880"/>
            <a:ext cx="1655064" cy="516636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recommendation: 5 set-points +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operating rule · incremental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₹/day · UQ range · P(better)</a:t>
            </a:r>
            <a:endParaRPr lang="en-IN" sz="700" dirty="0"/>
          </a:p>
        </p:txBody>
      </p:sp>
      <p:sp>
        <p:nvSpPr>
          <p:cNvPr id="17499" name="TA_d_rec"/>
          <p:cNvSpPr/>
          <p:nvPr/>
        </p:nvSpPr>
        <p:spPr>
          <a:xfrm>
            <a:off x="10268712" y="2985516"/>
            <a:ext cx="165506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Bayesian optimiser job and the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physics-verified point, side by side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P(float) gate &lt; 0.3 · run history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stage → confirm → load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controller is contacted</a:t>
            </a:r>
            <a:endParaRPr lang="en-IN" sz="700" dirty="0"/>
          </a:p>
        </p:txBody>
      </p:sp>
      <p:sp>
        <p:nvSpPr>
          <p:cNvPr id="17500" name="TA_d_model"/>
          <p:cNvSpPr/>
          <p:nvPr/>
        </p:nvSpPr>
        <p:spPr>
          <a:xfrm>
            <a:off x="10268712" y="4119372"/>
            <a:ext cx="1655064" cy="41148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Model basis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equations · coverage matrix ·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validation · calibrate · field view</a:t>
            </a:r>
            <a:endParaRPr lang="en-IN" sz="700" dirty="0"/>
          </a:p>
        </p:txBody>
      </p:sp>
      <p:sp>
        <p:nvSpPr>
          <p:cNvPr id="17501" name="TA_d_sim"/>
          <p:cNvSpPr/>
          <p:nvPr/>
        </p:nvSpPr>
        <p:spPr>
          <a:xfrm>
            <a:off x="10268712" y="4530852"/>
            <a:ext cx="1655064" cy="516636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Simulator</a:t>
            </a:r>
            <a:endParaRPr lang="en-IN" sz="8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cycle replay: water cut &amp; float index ·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computed &amp; measured dyno cards ·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ISA-101 alarm</a:t>
            </a:r>
            <a:endParaRPr lang="en-IN" sz="700" dirty="0"/>
          </a:p>
        </p:txBody>
      </p:sp>
      <p:sp>
        <p:nvSpPr>
          <p:cNvPr id="17502" name="TA_val_title"/>
          <p:cNvSpPr txBox="1"/>
          <p:nvPr/>
        </p:nvSpPr>
        <p:spPr>
          <a:xfrm>
            <a:off x="2798064" y="5449824"/>
            <a:ext cx="1517904" cy="14630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dirty="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 · VALIDATION RING</a:t>
            </a:r>
            <a:endParaRPr lang="en-IN" sz="850" dirty="0"/>
          </a:p>
        </p:txBody>
      </p:sp>
      <p:sp>
        <p:nvSpPr>
          <p:cNvPr id="17503" name="TA_v_calgem"/>
          <p:cNvSpPr/>
          <p:nvPr/>
        </p:nvSpPr>
        <p:spPr>
          <a:xfrm>
            <a:off x="347472" y="5614416"/>
            <a:ext cx="1243584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CalGEM 2021</a:t>
            </a:r>
            <a:endParaRPr lang="en-IN" sz="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field SORs 3.47–8.24;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model sits inside</a:t>
            </a:r>
            <a:endParaRPr lang="en-IN" sz="700" dirty="0"/>
          </a:p>
        </p:txBody>
      </p:sp>
      <p:sp>
        <p:nvSpPr>
          <p:cNvPr id="17504" name="TA_v_bgw"/>
          <p:cNvSpPr/>
          <p:nvPr/>
        </p:nvSpPr>
        <p:spPr>
          <a:xfrm>
            <a:off x="1993392" y="5614416"/>
            <a:ext cx="148132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BGW-8 published</a:t>
            </a:r>
            <a:endParaRPr lang="en-IN" sz="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first-cycle uplift 5–6×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SOR 3–8 (literature band)</a:t>
            </a:r>
            <a:endParaRPr lang="en-IN" sz="700" dirty="0"/>
          </a:p>
        </p:txBody>
      </p:sp>
      <p:sp>
        <p:nvSpPr>
          <p:cNvPr id="17505" name="TA_v_tests"/>
          <p:cNvSpPr/>
          <p:nvPr/>
        </p:nvSpPr>
        <p:spPr>
          <a:xfrm>
            <a:off x="3639312" y="5614416"/>
            <a:ext cx="148132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236 tests pass</a:t>
            </a:r>
            <a:endParaRPr lang="en-IN" sz="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+ 2 declared gaps: soak;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cold-well pumpability</a:t>
            </a:r>
            <a:endParaRPr lang="en-IN" sz="700" dirty="0"/>
          </a:p>
        </p:txBody>
      </p:sp>
      <p:sp>
        <p:nvSpPr>
          <p:cNvPr id="17506" name="TA_v_audit"/>
          <p:cNvSpPr/>
          <p:nvPr/>
        </p:nvSpPr>
        <p:spPr>
          <a:xfrm>
            <a:off x="5632704" y="5614416"/>
            <a:ext cx="1335024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Self-audit</a:t>
            </a:r>
            <a:endParaRPr lang="en-IN" sz="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external tech. review 27 Sep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10 findings, 8 fixed</a:t>
            </a:r>
            <a:endParaRPr lang="en-IN" sz="700" dirty="0"/>
          </a:p>
        </p:txBody>
      </p:sp>
      <p:sp>
        <p:nvSpPr>
          <p:cNvPr id="17507" name="TA_v_oil"/>
          <p:cNvSpPr/>
          <p:nvPr/>
        </p:nvSpPr>
        <p:spPr>
          <a:xfrm>
            <a:off x="7114032" y="5614416"/>
            <a:ext cx="1335024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OIL data request</a:t>
            </a:r>
            <a:endParaRPr lang="en-IN" sz="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per-cycle field records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calibrate.py loop</a:t>
            </a:r>
            <a:endParaRPr lang="en-IN" sz="700" dirty="0"/>
          </a:p>
        </p:txBody>
      </p:sp>
      <p:sp>
        <p:nvSpPr>
          <p:cNvPr id="17508" name="TA_operator"/>
          <p:cNvSpPr/>
          <p:nvPr/>
        </p:nvSpPr>
        <p:spPr>
          <a:xfrm>
            <a:off x="10204704" y="5559552"/>
            <a:ext cx="8229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Operator</a:t>
            </a:r>
            <a:endParaRPr lang="en-IN" sz="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reviews and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confirms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(advisory)</a:t>
            </a:r>
            <a:endParaRPr lang="en-IN" sz="700" dirty="0"/>
          </a:p>
        </p:txBody>
      </p:sp>
      <p:sp>
        <p:nvSpPr>
          <p:cNvPr id="17509" name="TA_well"/>
          <p:cNvSpPr/>
          <p:nvPr/>
        </p:nvSpPr>
        <p:spPr>
          <a:xfrm>
            <a:off x="11173968" y="5559552"/>
            <a:ext cx="81381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BGW well</a:t>
            </a:r>
            <a:endParaRPr lang="en-IN" sz="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CSS job +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sucker-rod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</a:t>
            </a:r>
            <a:endParaRPr lang="en-IN" sz="700" dirty="0"/>
          </a:p>
        </p:txBody>
      </p:sp>
      <p:sp>
        <p:nvSpPr>
          <p:cNvPr id="17510" name="TA_leg_title"/>
          <p:cNvSpPr txBox="1"/>
          <p:nvPr/>
        </p:nvSpPr>
        <p:spPr>
          <a:xfrm>
            <a:off x="8778240" y="5449824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LEGEND</a:t>
            </a:r>
            <a:endParaRPr lang="en-IN" sz="700" dirty="0"/>
          </a:p>
        </p:txBody>
      </p:sp>
      <p:sp>
        <p:nvSpPr>
          <p:cNvPr id="17511" name="TA_leg_flow"/>
          <p:cNvSpPr txBox="1"/>
          <p:nvPr/>
        </p:nvSpPr>
        <p:spPr>
          <a:xfrm>
            <a:off x="9180576" y="5618988"/>
            <a:ext cx="841248" cy="1371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data flow</a:t>
            </a:r>
            <a:endParaRPr lang="en-IN" sz="700" dirty="0"/>
          </a:p>
        </p:txBody>
      </p:sp>
      <p:sp>
        <p:nvSpPr>
          <p:cNvPr id="17512" name="TA_leg_thesis"/>
          <p:cNvSpPr txBox="1"/>
          <p:nvPr/>
        </p:nvSpPr>
        <p:spPr>
          <a:xfrm>
            <a:off x="9180576" y="5783580"/>
            <a:ext cx="841248" cy="1371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μ(T) coupling</a:t>
            </a:r>
            <a:endParaRPr lang="en-IN" sz="700" dirty="0"/>
          </a:p>
        </p:txBody>
      </p:sp>
      <p:sp>
        <p:nvSpPr>
          <p:cNvPr id="17513" name="TA_leg_feedback"/>
          <p:cNvSpPr txBox="1"/>
          <p:nvPr/>
        </p:nvSpPr>
        <p:spPr>
          <a:xfrm>
            <a:off x="9180576" y="5948172"/>
            <a:ext cx="841248" cy="1371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feedback loop</a:t>
            </a:r>
            <a:endParaRPr lang="en-IN" sz="700" dirty="0"/>
          </a:p>
        </p:txBody>
      </p:sp>
      <p:sp>
        <p:nvSpPr>
          <p:cNvPr id="17514" name="TA_leg_validate"/>
          <p:cNvSpPr txBox="1"/>
          <p:nvPr/>
        </p:nvSpPr>
        <p:spPr>
          <a:xfrm>
            <a:off x="9180576" y="6112764"/>
            <a:ext cx="841248" cy="1371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validated by</a:t>
            </a:r>
            <a:endParaRPr lang="en-IN" sz="700" dirty="0"/>
          </a:p>
        </p:txBody>
      </p:sp>
      <p:sp>
        <p:nvSpPr>
          <p:cNvPr id="17515" name="TA_lbl_loop"/>
          <p:cNvSpPr txBox="1"/>
          <p:nvPr/>
        </p:nvSpPr>
        <p:spPr>
          <a:xfrm>
            <a:off x="365760" y="4791456"/>
            <a:ext cx="1042416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i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closed loop: calibrate.py</a:t>
            </a:r>
            <a:endParaRPr lang="en-IN" sz="7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dirty="0" i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re-fits these params</a:t>
            </a:r>
            <a:endParaRPr lang="en-IN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07008"/>
            <a:ext cx="3593592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Analysis of the feasibility of the idea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Physics is settled: Marx–Langenheim (1959), Andrade, Vogel (1968)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Field parameters published: 1,150 m depth, 8,000–15,000 cP at 50 °C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Steam at 280–305 °C and 60–70% quality — normal CSS practice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De-risked at this very field: India’s first CSS, BGW-8, Dec 2018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Open-source stack, laptop-scale compute, ~4 weeks to a live API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FeasCol1"/>
          <p:cNvSpPr txBox="1">
            <a:spLocks noChangeArrowheads="1"/>
          </p:cNvSpPr>
          <p:nvPr/>
        </p:nvSpPr>
        <p:spPr bwMode="auto">
          <a:xfrm>
            <a:off x="4325112" y="1207008"/>
            <a:ext cx="3593592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Potential challenges and risks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No public Baghewala SOR history to train on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Poor-to-fair reservoir: porosity below 10%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Physics model can drift from real well behaviour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Extreme viscosity makes pump behaviour non-linear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Operator trust in an automated set-point</a:t>
            </a:r>
          </a:p>
        </p:txBody>
      </p:sp>
      <p:sp>
        <p:nvSpPr>
          <p:cNvPr id="17412" name="FeasCol2"/>
          <p:cNvSpPr txBox="1">
            <a:spLocks noChangeArrowheads="1"/>
          </p:cNvSpPr>
          <p:nvPr/>
        </p:nvSpPr>
        <p:spPr bwMode="auto">
          <a:xfrm>
            <a:off x="8147304" y="1207008"/>
            <a:ext cx="3593592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Strategies for overcoming these challenges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Train on 3,000 physics-generated cycles, deterministic seed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Recalibrate on Oil India historical data at the finale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Parameter-sweep sanity tests on the physics modules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field_params.json as the single source of truth per well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Advisory mode first — the engineer approves every set-point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07008"/>
            <a:ext cx="539496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IN" sz="16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Potential impact on the target audience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Oil India CSS operators at Baghewala — 52 wells drilled, 33 operational, 19 CSS’d in FY2025-26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Every avoided rod-pump workover saves $15k–$50k (industry-typical)</a:t>
            </a:r>
          </a:p>
          <a:p>
            <a:pPr marL="201168" indent="-201168"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Output already scaling: 218 t (FY17) → 43,773 t (FY26) — the twin scales with it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6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Benefits of the solution (social, economic, environmental, etc.)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Economic: less steam fuel burned per barrel produced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Environmental: lower energy and GHG intensity per barrel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Social / safety: rod-floating alerts catch the failure mode behind most SRP workovers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Strategic: an indigenous twin for India’s first cyclic-steam asset, portable to future CSS wells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or_waterfall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81502"/>
            <a:ext cx="5669280" cy="2746355"/>
          </a:xfrm>
          <a:prstGeom prst="rect">
            <a:avLst/>
          </a:prstGeom>
        </p:spPr>
      </p:pic>
      <p:sp>
        <p:nvSpPr>
          <p:cNvPr id="17412" name="SorCaption"/>
          <p:cNvSpPr txBox="1">
            <a:spLocks noChangeArrowheads="1"/>
          </p:cNvSpPr>
          <p:nvPr/>
        </p:nvSpPr>
        <p:spPr bwMode="auto">
          <a:xfrm>
            <a:off x="6080760" y="4892040"/>
            <a:ext cx="5669280" cy="118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IN" sz="1300" b="1" i="1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Prototype v1 simulation — to be validated on OIL field data.</a:t>
            </a:r>
          </a:p>
          <a:p>
            <a:pPr marL="0" indent="0">
              <a:buNone/>
            </a:pPr>
            <a:r>
              <a:rPr lang="en-IN" sz="13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SOR 1.50 → 0.88 t/m³ (−41.3%) across 3,000 synthetic cycles — self-audited, physics v2 recalibration in progress; literature benchmark for optimisation-driven SOR cuts is &gt;20%.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1124712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Details / Links of the reference and research work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Marx, J. W., &amp; Langenheim, R. H. (1959). Reservoir heating by hot fluid injection. Trans. AIME, 216, 312–315.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Vogel, J. V. (1968). Inflow performance relationships for solution-gas drive wells. J. Petrol. Tech., 20, 83–92.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Gibbs, S. G. (1963). Predicting the behavior of sucker-rod pumping systems. J. Petrol. Tech., 15, 769–778.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Andrade, E. N. da C. (1930). The viscosity of liquids. Nature, 125, 309–310; ASTM D341 viscosity–temperature standard.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SPE-23APOG-535203 (2023). Case study for enhancement of production of heavy and highly viscous crude oil using an electrical downhole heater — Baghewala depth, API and viscosity data.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Oil India Limited — Rajasthan Fields (Baghewala / BGW-8 CSS) https://www.oil-india.com/rajasthan-fields ; production and well-count figures from OIL annual reports.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Competitive landscape (docs/research/landscape.md): XSPOC, Lufkin SAM/SROD, Weatherford ForeSite, Schlumberger, AVEVA, Kongsberg Kognitwin — none couples CSS scheduling with SRP optimization.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