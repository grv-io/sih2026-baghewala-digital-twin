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ID – SIH26120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Title- Digital Twin for Well-to-Surface Optimization of Cyclic Steam Stimulation and Sucker Rod Pump Operations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Theme- Smart Automation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PS Category- Software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ID- TBD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Name (Registered on portal)- TEAM ________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Organisation- Oil India Limited  |  Baghewala field, Rajasthan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“Physics + AI for India’s first cyclic-steam oilfield”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Digital Twin for CSS and Sucker Rod Pump Optimization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247120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IN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Proposed Solution (Describe your Idea/Solution/Prototype)</a:t>
            </a:r>
          </a:p>
          <a:p>
            <a:pPr marL="0" indent="0">
              <a:buNone/>
            </a:pPr>
            <a:r>
              <a:rPr lang="en-IN" sz="15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 physics-driven AI twin of a Baghewala CSS well that tunes steam cycle and sucker-rod pump together to drive Steam-Oil Ratio down while keeping rod-floating risk safe.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ColBox0"/>
          <p:cNvSpPr txBox="1">
            <a:spLocks noChangeArrowheads="1"/>
          </p:cNvSpPr>
          <p:nvPr/>
        </p:nvSpPr>
        <p:spPr bwMode="auto">
          <a:xfrm>
            <a:off x="502920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Detailed explanation of the proposed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Digital twin of one CSS well, end to end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Physics: Marx–Langenheim heating, Andrade μ(T), Vogel IPR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Dynamics: rod load, pump efficiency, floating-risk index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ML: XGBoost SOR predictor + risk classifier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Bayesian optimizer returns steam volume, soak, cutoff, pump speed</a:t>
            </a:r>
          </a:p>
        </p:txBody>
      </p:sp>
      <p:sp>
        <p:nvSpPr>
          <p:cNvPr id="15364" name="ColBox1"/>
          <p:cNvSpPr txBox="1">
            <a:spLocks noChangeArrowheads="1"/>
          </p:cNvSpPr>
          <p:nvPr/>
        </p:nvSpPr>
        <p:spPr bwMode="auto">
          <a:xfrm>
            <a:off x="4325112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How it addresses the problem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Replaces manual cycle-by-cycle tuning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Minimises SOR (heavy-oil CSS range 3–8 t/m³)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Warns of rod floating before the pump fails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Sub-second answers for a field 550–600 km from Jaipur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One dashboard: predict, optimize, replay, alert</a:t>
            </a:r>
          </a:p>
        </p:txBody>
      </p:sp>
      <p:sp>
        <p:nvSpPr>
          <p:cNvPr id="15365" name="ColBox2"/>
          <p:cNvSpPr txBox="1">
            <a:spLocks noChangeArrowheads="1"/>
          </p:cNvSpPr>
          <p:nvPr/>
        </p:nvSpPr>
        <p:spPr bwMode="auto">
          <a:xfrm>
            <a:off x="8147304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Innovation and uniqueness of the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First twin to co-optimize CSS scheduling with SRP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XSPOC, Lufkin, Weatherford, AVEVA, Kongsberg do one, not both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Tuned to real Baghewala data: 1,150 m deep, 8,000–15,000 cP crude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India’s first CSS well (BGW-8, Dec 2018) as the proving ground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Fully open-source stack — no licence cost to Oil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CSS cycles (Latin-hypercube, seed 42) → ML layer → Bayesian optimizer → dashboard → advisory set-points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TechArchitectur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72" y="1975104"/>
            <a:ext cx="10770225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Analysis of the feasibility of the idea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is settled: Marx–Langenheim (1959), Andrade, Vogel (1968)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 parameters published: 1,150 m depth, 8,000–15,000 cP at 50 °C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Steam at 280–305 °C and 60–70% quality — normal CSS practice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De-risked at this very field: India’s first CSS, BGW-8, Dec 2018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Open-source stack, laptop-scale compute, ~4 weeks to a live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easCol1"/>
          <p:cNvSpPr txBox="1">
            <a:spLocks noChangeArrowheads="1"/>
          </p:cNvSpPr>
          <p:nvPr/>
        </p:nvSpPr>
        <p:spPr bwMode="auto">
          <a:xfrm>
            <a:off x="4325112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challenges and risks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No public Baghewala SOR history to train on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Poor-to-fair reservoir: porosity below 10%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model can drift from real well behaviour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Extreme viscosity makes pump behaviour non-linear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Operator trust in an automated set-point</a:t>
            </a:r>
          </a:p>
        </p:txBody>
      </p:sp>
      <p:sp>
        <p:nvSpPr>
          <p:cNvPr id="17412" name="FeasCol2"/>
          <p:cNvSpPr txBox="1">
            <a:spLocks noChangeArrowheads="1"/>
          </p:cNvSpPr>
          <p:nvPr/>
        </p:nvSpPr>
        <p:spPr bwMode="auto">
          <a:xfrm>
            <a:off x="8147304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Strategies for overcoming these challenges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Train on 3,000 physics-generated cycles, deterministic seed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Recalibrate on Oil India historical data at the finale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Parameter-sweep sanity tests on the physics modules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field_params.json as the single source of truth per well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Advisory mode first — the engineer approves every set-point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53949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impact on the target audience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CSS operators at Baghewala — 52 wells drilled, 33 operational, 19 CSS’d in FY2025-26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Every avoided rod-pump workover saves $15k–$50k (industry-typical)</a:t>
            </a:r>
          </a:p>
          <a:p>
            <a:pPr marL="201168" indent="-201168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Output already scaling: 218 t (FY17) → 43,773 t (FY26) — the twin scales with it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Benefits of the solution (social, economic, environmental, etc.)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Economic: less steam fuel burned per barrel produced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Environmental: lower energy and GHG intensity per barrel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Social / safety: rod-floating alerts catch the failure mode behind most SRP workovers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Strategic: an indigenous twin for India’s first cyclic-steam asset, portable to future CSS wells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or_waterfal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81502"/>
            <a:ext cx="5669280" cy="2746355"/>
          </a:xfrm>
          <a:prstGeom prst="rect">
            <a:avLst/>
          </a:prstGeom>
        </p:spPr>
      </p:pic>
      <p:sp>
        <p:nvSpPr>
          <p:cNvPr id="17412" name="SorCaption"/>
          <p:cNvSpPr txBox="1">
            <a:spLocks noChangeArrowheads="1"/>
          </p:cNvSpPr>
          <p:nvPr/>
        </p:nvSpPr>
        <p:spPr bwMode="auto">
          <a:xfrm>
            <a:off x="6080760" y="4892040"/>
            <a:ext cx="5669280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IN" sz="13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Prototype v1 simulation — to be validated on OIL field data.</a:t>
            </a:r>
          </a:p>
          <a:p>
            <a:pPr marL="0" indent="0">
              <a:buNone/>
            </a:pPr>
            <a:r>
              <a:rPr lang="en-IN" sz="13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SOR 1.50 → 0.88 t/m³ (−41.3%) across 3,000 synthetic cycles — self-audited, physics v2 recalibration in progress; literature benchmark for optimisation-driven SOR cuts is &gt;20%.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112471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Details / Links of the reference and research work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Marx, J. W., &amp; Langenheim, R. H. (1959). Reservoir heating by hot fluid injection. Trans. AIME, 216, 312–315.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Vogel, J. V. (1968). Inflow performance relationships for solution-gas drive wells. J. Petrol. Tech., 20, 83–92.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Gibbs, S. G. (1963). Predicting the behavior of sucker-rod pumping systems. J. Petrol. Tech., 15, 769–778.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Andrade, E. N. da C. (1930). The viscosity of liquids. Nature, 125, 309–310; ASTM D341 viscosity–temperature standard.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SPE-23APOG-535203 (2023). Case study for enhancement of production of heavy and highly viscous crude oil using an electrical downhole heater — Baghewala depth, API and viscosity data.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Limited — Rajasthan Fields (Baghewala / BGW-8 CSS) https://www.oil-india.com/rajasthan-fields ; production and well-count figures from OIL annual reports.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Competitive landscape (docs/research/landscape.md): XSPOC, Lufkin SAM/SROD, Weatherford ForeSite, Schlumberger, AVEVA, Kongsberg Kognitwin — none couples CSS scheduling with SRP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