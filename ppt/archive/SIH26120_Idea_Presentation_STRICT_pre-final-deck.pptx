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Problem Statement ID – SIH26120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Problem Statement Title- Digital Twin for Well-to-Surface Optimization of Cyclic Steam Stimulation and Sucker Rod Pump Operations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Theme- Smart Automation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PS Category- Software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Team ID- TBD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Team Name (Registered on portal)- TEAM ________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Organisation- Oil India Limited  |  Baghewala field, Rajasthan</a:t>
            </a:r>
          </a:p>
          <a:p>
            <a:pPr marL="0" indent="0">
              <a:buNone/>
            </a:pPr>
            <a:r>
              <a:rPr lang="en-IN" sz="1500" b="1" i="1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“Physics + AI for India’s first cyclic-steam oilfield”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Digital Twin for CSS and Sucker Rod Pump Optimization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188720"/>
            <a:ext cx="11247120" cy="1005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IN" sz="20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Proposed Solution (Describe your Idea/Solution/Prototype)</a:t>
            </a:r>
          </a:p>
          <a:p>
            <a:pPr marL="0" indent="0">
              <a:buNone/>
            </a:pPr>
            <a:r>
              <a:rPr lang="en-IN" sz="15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A physics-driven AI twin of a Baghewala CSS well that tunes steam cycle and sucker-rod pump together to drive Steam-Oil Ratio down while keeping rod-floating risk safe.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ColBox0"/>
          <p:cNvSpPr txBox="1">
            <a:spLocks noChangeArrowheads="1"/>
          </p:cNvSpPr>
          <p:nvPr/>
        </p:nvSpPr>
        <p:spPr bwMode="auto">
          <a:xfrm>
            <a:off x="502920" y="2377440"/>
            <a:ext cx="3593592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155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Detailed explanation of the proposed solution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Digital twin of one CSS well, end to end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Physics: Marx–Langenheim heating, Andrade μ(T), Vogel IPR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Dynamics: rod load, pump efficiency, floating-risk index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ML: XGBoost SOR predictor + risk classifier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Bayesian optimizer returns steam volume, soak, cutoff, pump speed</a:t>
            </a:r>
          </a:p>
        </p:txBody>
      </p:sp>
      <p:sp>
        <p:nvSpPr>
          <p:cNvPr id="15364" name="ColBox1"/>
          <p:cNvSpPr txBox="1">
            <a:spLocks noChangeArrowheads="1"/>
          </p:cNvSpPr>
          <p:nvPr/>
        </p:nvSpPr>
        <p:spPr bwMode="auto">
          <a:xfrm>
            <a:off x="4325112" y="2377440"/>
            <a:ext cx="3593592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155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How it addresses the problem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Replaces manual cycle-by-cycle tuning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Minimises SOR (heavy-oil CSS range 3–8 t/m³)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Warns of rod floating before the pump fails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Sub-second answers for a field 550–600 km from Jaipur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One dashboard: predict, optimize, replay, alert</a:t>
            </a:r>
          </a:p>
        </p:txBody>
      </p:sp>
      <p:sp>
        <p:nvSpPr>
          <p:cNvPr id="15365" name="ColBox2"/>
          <p:cNvSpPr txBox="1">
            <a:spLocks noChangeArrowheads="1"/>
          </p:cNvSpPr>
          <p:nvPr/>
        </p:nvSpPr>
        <p:spPr bwMode="auto">
          <a:xfrm>
            <a:off x="8147304" y="2377440"/>
            <a:ext cx="3593592" cy="384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sz="155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Innovation and uniqueness of the solution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First twin to co-optimize CSS scheduling with SRP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XSPOC, Lufkin, Weatherford, AVEVA, Kongsberg do one, not both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Tuned to real Baghewala data: 1,150 m deep, 8,000–15,000 cP crude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India’s first CSS well (BGW-8, Dec 2018) as the proving ground</a:t>
            </a:r>
          </a:p>
          <a:p>
            <a:pPr marL="201168" indent="-201168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Fully open-source stack — no licence cost to Oil India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33856"/>
            <a:ext cx="11247120" cy="768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201168" indent="-201168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Technologies to be used: Python 3.13 · NumPy / SciPy · pandas · scikit-learn · XGBoost · scikit-optimize · FastAPI · Plotly · pytest</a:t>
            </a:r>
          </a:p>
          <a:p>
            <a:pPr marL="201168" indent="-201168"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Methodology and process for implementation: physics engine → 3,000 synthetic cycles → ML emulator → true-physics grid optimiser → dashboard → advisory set-points + operating rule to the operator (SCADA hook planned)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F_S1"/>
          <p:cNvSpPr/>
          <p:nvPr/>
        </p:nvSpPr>
        <p:spPr>
          <a:xfrm>
            <a:off x="292608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2" name="TF_S1_hdr"/>
          <p:cNvSpPr/>
          <p:nvPr/>
        </p:nvSpPr>
        <p:spPr>
          <a:xfrm>
            <a:off x="292608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· The well</a:t>
            </a:r>
            <a:endParaRPr lang="en-IN" sz="1500" dirty="0"/>
          </a:p>
        </p:txBody>
      </p:sp>
      <p:sp>
        <p:nvSpPr>
          <p:cNvPr id="17413" name="TF_S2"/>
          <p:cNvSpPr/>
          <p:nvPr/>
        </p:nvSpPr>
        <p:spPr>
          <a:xfrm>
            <a:off x="2712110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EF8F3"/>
          </a:solidFill>
          <a:ln w="1905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4" name="TF_S2_hdr"/>
          <p:cNvSpPr/>
          <p:nvPr/>
        </p:nvSpPr>
        <p:spPr>
          <a:xfrm>
            <a:off x="2712110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C55A11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· Digital twin</a:t>
            </a:r>
            <a:endParaRPr lang="en-IN" sz="1500" dirty="0"/>
          </a:p>
        </p:txBody>
      </p:sp>
      <p:sp>
        <p:nvSpPr>
          <p:cNvPr id="17415" name="TF_S3"/>
          <p:cNvSpPr/>
          <p:nvPr/>
        </p:nvSpPr>
        <p:spPr>
          <a:xfrm>
            <a:off x="5131613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6FBF6"/>
          </a:solidFill>
          <a:ln w="1905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6" name="TF_S3_hdr"/>
          <p:cNvSpPr/>
          <p:nvPr/>
        </p:nvSpPr>
        <p:spPr>
          <a:xfrm>
            <a:off x="5131613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· Smart search</a:t>
            </a:r>
            <a:endParaRPr lang="en-IN" sz="1500" dirty="0"/>
          </a:p>
        </p:txBody>
      </p:sp>
      <p:sp>
        <p:nvSpPr>
          <p:cNvPr id="17417" name="TF_S4"/>
          <p:cNvSpPr/>
          <p:nvPr/>
        </p:nvSpPr>
        <p:spPr>
          <a:xfrm>
            <a:off x="7551115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9F7FD"/>
          </a:solidFill>
          <a:ln w="1905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8" name="TF_S4_hdr"/>
          <p:cNvSpPr/>
          <p:nvPr/>
        </p:nvSpPr>
        <p:spPr>
          <a:xfrm>
            <a:off x="7551115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5B3FA0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· Dashboard</a:t>
            </a:r>
            <a:endParaRPr lang="en-IN" sz="1500" dirty="0"/>
          </a:p>
        </p:txBody>
      </p:sp>
      <p:sp>
        <p:nvSpPr>
          <p:cNvPr id="17419" name="TF_S5"/>
          <p:cNvSpPr/>
          <p:nvPr/>
        </p:nvSpPr>
        <p:spPr>
          <a:xfrm>
            <a:off x="9970618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0" name="TF_S5_hdr"/>
          <p:cNvSpPr/>
          <p:nvPr/>
        </p:nvSpPr>
        <p:spPr>
          <a:xfrm>
            <a:off x="9970618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· Operator</a:t>
            </a:r>
            <a:endParaRPr lang="en-IN" sz="1500" dirty="0"/>
          </a:p>
        </p:txBody>
      </p:sp>
      <p:sp>
        <p:nvSpPr>
          <p:cNvPr id="17421" name="TF_G"/>
          <p:cNvSpPr/>
          <p:nvPr/>
        </p:nvSpPr>
        <p:spPr>
          <a:xfrm>
            <a:off x="292608" y="5216652"/>
            <a:ext cx="6620256" cy="804672"/>
          </a:xfrm>
          <a:prstGeom prst="roundRect">
            <a:avLst>
              <a:gd name="adj" fmla="val 11363"/>
            </a:avLst>
          </a:prstGeom>
          <a:solidFill>
            <a:srgbClr val="F6F8FC"/>
          </a:solidFill>
          <a:ln w="15875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2" name="TF_G_hdr"/>
          <p:cNvSpPr/>
          <p:nvPr/>
        </p:nvSpPr>
        <p:spPr>
          <a:xfrm>
            <a:off x="292608" y="5216652"/>
            <a:ext cx="6620256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the operator gets</a:t>
            </a:r>
            <a:endParaRPr lang="en-IN" sz="1200" dirty="0"/>
          </a:p>
        </p:txBody>
      </p:sp>
      <p:sp>
        <p:nvSpPr>
          <p:cNvPr id="17423" name="TF_L"/>
          <p:cNvSpPr/>
          <p:nvPr/>
        </p:nvSpPr>
        <p:spPr>
          <a:xfrm>
            <a:off x="7278624" y="5216652"/>
            <a:ext cx="4709160" cy="804672"/>
          </a:xfrm>
          <a:prstGeom prst="roundRect">
            <a:avLst>
              <a:gd name="adj" fmla="val 11363"/>
            </a:avLst>
          </a:prstGeom>
          <a:solidFill>
            <a:srgbClr val="F6FBF6"/>
          </a:solidFill>
          <a:ln w="15875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4" name="TF_L_hdr"/>
          <p:cNvSpPr/>
          <p:nvPr/>
        </p:nvSpPr>
        <p:spPr>
          <a:xfrm>
            <a:off x="7278624" y="5216652"/>
            <a:ext cx="4709160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leads to</a:t>
            </a:r>
            <a:endParaRPr lang="en-IN" sz="1200" dirty="0"/>
          </a:p>
        </p:txBody>
      </p:sp>
      <p:sp>
        <p:nvSpPr>
          <p:cNvPr id="17425" name="TF_S1_disc"/>
          <p:cNvSpPr/>
          <p:nvPr/>
        </p:nvSpPr>
        <p:spPr>
          <a:xfrm>
            <a:off x="871423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6" name="TF_S2_disc"/>
          <p:cNvSpPr/>
          <p:nvPr/>
        </p:nvSpPr>
        <p:spPr>
          <a:xfrm>
            <a:off x="3290926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5A1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7" name="TF_S3_disc"/>
          <p:cNvSpPr/>
          <p:nvPr/>
        </p:nvSpPr>
        <p:spPr>
          <a:xfrm>
            <a:off x="5710428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8" name="TF_S4_disc"/>
          <p:cNvSpPr/>
          <p:nvPr/>
        </p:nvSpPr>
        <p:spPr>
          <a:xfrm>
            <a:off x="8129930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3F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9" name="TF_S5_disc"/>
          <p:cNvSpPr/>
          <p:nvPr/>
        </p:nvSpPr>
        <p:spPr>
          <a:xfrm>
            <a:off x="10549433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30" name="TF_arrow00_S1_S2"/>
          <p:cNvCxnSpPr/>
          <p:nvPr/>
        </p:nvCxnSpPr>
        <p:spPr>
          <a:xfrm>
            <a:off x="2355494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1" name="TF_arrow01_S2_S3"/>
          <p:cNvCxnSpPr/>
          <p:nvPr/>
        </p:nvCxnSpPr>
        <p:spPr>
          <a:xfrm>
            <a:off x="4774997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2" name="TF_arrow02_S3_S4"/>
          <p:cNvCxnSpPr/>
          <p:nvPr/>
        </p:nvCxnSpPr>
        <p:spPr>
          <a:xfrm>
            <a:off x="7194499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3" name="TF_arrow03_S4_S5"/>
          <p:cNvCxnSpPr/>
          <p:nvPr/>
        </p:nvCxnSpPr>
        <p:spPr>
          <a:xfrm>
            <a:off x="9614002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sp>
        <p:nvSpPr>
          <p:cNvPr id="2" name="TF_loop04_S5_S2"/>
          <p:cNvSpPr/>
          <p:nvPr/>
        </p:nvSpPr>
        <p:spPr>
          <a:xfrm>
            <a:off x="3720694" y="4732020"/>
            <a:ext cx="7258507" cy="182880"/>
          </a:xfrm>
          <a:custGeom>
            <a:avLst/>
            <a:gdLst/>
            <a:ahLst/>
            <a:cxnLst/>
            <a:rect l="l" t="t" r="r" b="b"/>
            <a:pathLst>
              <a:path w="7258507" h="182880">
                <a:moveTo>
                  <a:pt x="7258507" y="0"/>
                </a:moveTo>
                <a:lnTo>
                  <a:pt x="7258507" y="182880"/>
                </a:lnTo>
                <a:lnTo>
                  <a:pt x="0" y="18288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404040"/>
            </a:solidFill>
            <a:prstDash val="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34" name="TF_arrow05_G_L"/>
          <p:cNvCxnSpPr/>
          <p:nvPr/>
        </p:nvCxnSpPr>
        <p:spPr>
          <a:xfrm>
            <a:off x="6958584" y="5737860"/>
            <a:ext cx="274320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sp>
        <p:nvSpPr>
          <p:cNvPr id="17435" name="TF_S1_txt"/>
          <p:cNvSpPr txBox="1"/>
          <p:nvPr/>
        </p:nvSpPr>
        <p:spPr>
          <a:xfrm>
            <a:off x="365760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India's heavy-oil well: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steam goes in,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comes out.</a:t>
            </a:r>
            <a:endParaRPr lang="en-IN" sz="1200" dirty="0"/>
          </a:p>
        </p:txBody>
      </p:sp>
      <p:sp>
        <p:nvSpPr>
          <p:cNvPr id="17436" name="TF_S1_d1"/>
          <p:cNvSpPr/>
          <p:nvPr/>
        </p:nvSpPr>
        <p:spPr>
          <a:xfrm>
            <a:off x="356616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Baghewala: 1,150 m, 11,500 cP</a:t>
            </a:r>
            <a:endParaRPr lang="en-IN" sz="950" dirty="0"/>
          </a:p>
        </p:txBody>
      </p:sp>
      <p:sp>
        <p:nvSpPr>
          <p:cNvPr id="17437" name="TF_S1_d2"/>
          <p:cNvSpPr/>
          <p:nvPr/>
        </p:nvSpPr>
        <p:spPr>
          <a:xfrm>
            <a:off x="356616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India cycle records (CSV)</a:t>
            </a:r>
            <a:endParaRPr lang="en-IN" sz="950" dirty="0"/>
          </a:p>
        </p:txBody>
      </p:sp>
      <p:sp>
        <p:nvSpPr>
          <p:cNvPr id="17438" name="TF_S1_d3"/>
          <p:cNvSpPr/>
          <p:nvPr/>
        </p:nvSpPr>
        <p:spPr>
          <a:xfrm>
            <a:off x="356616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Checked vs field data (CalGEM)</a:t>
            </a:r>
            <a:endParaRPr lang="en-IN" sz="950" dirty="0"/>
          </a:p>
        </p:txBody>
      </p:sp>
      <p:sp>
        <p:nvSpPr>
          <p:cNvPr id="17439" name="TF_S2_txt"/>
          <p:cNvSpPr txBox="1"/>
          <p:nvPr/>
        </p:nvSpPr>
        <p:spPr>
          <a:xfrm>
            <a:off x="2785262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computer copy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of the well —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heat, thick oil, the pump.</a:t>
            </a:r>
            <a:endParaRPr lang="en-IN" sz="1200" dirty="0"/>
          </a:p>
        </p:txBody>
      </p:sp>
      <p:sp>
        <p:nvSpPr>
          <p:cNvPr id="17440" name="TF_S2_d1"/>
          <p:cNvSpPr/>
          <p:nvPr/>
        </p:nvSpPr>
        <p:spPr>
          <a:xfrm>
            <a:off x="2776118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Heat flow (Marx–Langenheim)</a:t>
            </a:r>
            <a:endParaRPr lang="en-IN" sz="950" dirty="0"/>
          </a:p>
        </p:txBody>
      </p:sp>
      <p:sp>
        <p:nvSpPr>
          <p:cNvPr id="17441" name="TF_S2_d2"/>
          <p:cNvSpPr/>
          <p:nvPr/>
        </p:nvSpPr>
        <p:spPr>
          <a:xfrm>
            <a:off x="2776118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Thick oil: less flow + stuck rods</a:t>
            </a:r>
            <a:endParaRPr lang="en-IN" sz="950" dirty="0"/>
          </a:p>
        </p:txBody>
      </p:sp>
      <p:sp>
        <p:nvSpPr>
          <p:cNvPr id="17442" name="TF_S2_d3"/>
          <p:cNvSpPr/>
          <p:nvPr/>
        </p:nvSpPr>
        <p:spPr>
          <a:xfrm>
            <a:off x="2776118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Pump loads, rod-float risk</a:t>
            </a:r>
            <a:endParaRPr lang="en-IN" sz="950" dirty="0"/>
          </a:p>
        </p:txBody>
      </p:sp>
      <p:sp>
        <p:nvSpPr>
          <p:cNvPr id="17443" name="TF_S3_txt"/>
          <p:cNvSpPr txBox="1"/>
          <p:nvPr/>
        </p:nvSpPr>
        <p:spPr>
          <a:xfrm>
            <a:off x="5204765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Tries 53,000 settings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 36 seconds,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keeps the safe ones.</a:t>
            </a:r>
            <a:endParaRPr lang="en-IN" sz="1200" dirty="0"/>
          </a:p>
        </p:txBody>
      </p:sp>
      <p:sp>
        <p:nvSpPr>
          <p:cNvPr id="17444" name="TF_S3_d1"/>
          <p:cNvSpPr/>
          <p:nvPr/>
        </p:nvSpPr>
        <p:spPr>
          <a:xfrm>
            <a:off x="5195621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Physics grid: 53,000 runs</a:t>
            </a:r>
            <a:endParaRPr lang="en-IN" sz="950" dirty="0"/>
          </a:p>
        </p:txBody>
      </p:sp>
      <p:sp>
        <p:nvSpPr>
          <p:cNvPr id="17445" name="TF_S3_d2"/>
          <p:cNvSpPr/>
          <p:nvPr/>
        </p:nvSpPr>
        <p:spPr>
          <a:xfrm>
            <a:off x="5195621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Fast what-if model (XGBoost)</a:t>
            </a:r>
            <a:endParaRPr lang="en-IN" sz="950" dirty="0"/>
          </a:p>
        </p:txBody>
      </p:sp>
      <p:sp>
        <p:nvSpPr>
          <p:cNvPr id="17446" name="TF_S3_d3"/>
          <p:cNvSpPr/>
          <p:nvPr/>
        </p:nvSpPr>
        <p:spPr>
          <a:xfrm>
            <a:off x="5195621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Best / worst case (1,500 runs)</a:t>
            </a:r>
            <a:endParaRPr lang="en-IN" sz="950" dirty="0"/>
          </a:p>
        </p:txBody>
      </p:sp>
      <p:sp>
        <p:nvSpPr>
          <p:cNvPr id="17447" name="TF_S4_txt"/>
          <p:cNvSpPr txBox="1"/>
          <p:nvPr/>
        </p:nvSpPr>
        <p:spPr>
          <a:xfrm>
            <a:off x="7624267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Shows the best plan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 plain words,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English and Hindi.</a:t>
            </a:r>
            <a:endParaRPr lang="en-IN" sz="1200" dirty="0"/>
          </a:p>
        </p:txBody>
      </p:sp>
      <p:sp>
        <p:nvSpPr>
          <p:cNvPr id="17448" name="TF_S4_d1"/>
          <p:cNvSpPr/>
          <p:nvPr/>
        </p:nvSpPr>
        <p:spPr>
          <a:xfrm>
            <a:off x="7615123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 pages, works offline</a:t>
            </a:r>
            <a:endParaRPr lang="en-IN" sz="950" dirty="0"/>
          </a:p>
        </p:txBody>
      </p:sp>
      <p:sp>
        <p:nvSpPr>
          <p:cNvPr id="17449" name="TF_S4_d2"/>
          <p:cNvSpPr/>
          <p:nvPr/>
        </p:nvSpPr>
        <p:spPr>
          <a:xfrm>
            <a:off x="7615123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Computed pump card (dyno)</a:t>
            </a:r>
            <a:endParaRPr lang="en-IN" sz="950" dirty="0"/>
          </a:p>
        </p:txBody>
      </p:sp>
      <p:sp>
        <p:nvSpPr>
          <p:cNvPr id="17450" name="TF_S4_d3"/>
          <p:cNvSpPr/>
          <p:nvPr/>
        </p:nvSpPr>
        <p:spPr>
          <a:xfrm>
            <a:off x="7615123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Upload records → twin learns</a:t>
            </a:r>
            <a:endParaRPr lang="en-IN" sz="950" dirty="0"/>
          </a:p>
        </p:txBody>
      </p:sp>
      <p:sp>
        <p:nvSpPr>
          <p:cNvPr id="17451" name="TF_S5_txt"/>
          <p:cNvSpPr txBox="1"/>
          <p:nvPr/>
        </p:nvSpPr>
        <p:spPr>
          <a:xfrm>
            <a:off x="10043770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Decides.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Nothing is sent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to the well automatically.</a:t>
            </a:r>
            <a:endParaRPr lang="en-IN" sz="1200" dirty="0"/>
          </a:p>
        </p:txBody>
      </p:sp>
      <p:sp>
        <p:nvSpPr>
          <p:cNvPr id="17452" name="TF_S5_d1"/>
          <p:cNvSpPr/>
          <p:nvPr/>
        </p:nvSpPr>
        <p:spPr>
          <a:xfrm>
            <a:off x="10034626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 settings + when to stop</a:t>
            </a:r>
            <a:endParaRPr lang="en-IN" sz="950" dirty="0"/>
          </a:p>
        </p:txBody>
      </p:sp>
      <p:sp>
        <p:nvSpPr>
          <p:cNvPr id="17453" name="TF_S5_d2"/>
          <p:cNvSpPr/>
          <p:nvPr/>
        </p:nvSpPr>
        <p:spPr>
          <a:xfrm>
            <a:off x="10034626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Review, confirm, then load</a:t>
            </a:r>
            <a:endParaRPr lang="en-IN" sz="950" dirty="0"/>
          </a:p>
        </p:txBody>
      </p:sp>
      <p:sp>
        <p:nvSpPr>
          <p:cNvPr id="17454" name="TF_S5_d3"/>
          <p:cNvSpPr/>
          <p:nvPr/>
        </p:nvSpPr>
        <p:spPr>
          <a:xfrm>
            <a:off x="10034626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Field view: which well next</a:t>
            </a:r>
            <a:endParaRPr lang="en-IN" sz="950" dirty="0"/>
          </a:p>
        </p:txBody>
      </p:sp>
      <p:sp>
        <p:nvSpPr>
          <p:cNvPr id="17455" name="TF_loop_txt"/>
          <p:cNvSpPr txBox="1"/>
          <p:nvPr/>
        </p:nvSpPr>
        <p:spPr>
          <a:xfrm>
            <a:off x="5612587" y="496062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Real cycle records come back → the twin re-learns</a:t>
            </a:r>
            <a:endParaRPr lang="en-IN" sz="1100" dirty="0"/>
          </a:p>
        </p:txBody>
      </p:sp>
      <p:sp>
        <p:nvSpPr>
          <p:cNvPr id="17456" name="TF_G1"/>
          <p:cNvSpPr/>
          <p:nvPr/>
        </p:nvSpPr>
        <p:spPr>
          <a:xfrm>
            <a:off x="384048" y="55092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How much steam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&amp; pressure</a:t>
            </a:r>
            <a:endParaRPr lang="en-IN" sz="1100" dirty="0"/>
          </a:p>
        </p:txBody>
      </p:sp>
      <p:sp>
        <p:nvSpPr>
          <p:cNvPr id="17457" name="TF_G2"/>
          <p:cNvSpPr/>
          <p:nvPr/>
        </p:nvSpPr>
        <p:spPr>
          <a:xfrm>
            <a:off x="2560320" y="55092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Pump speed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&amp; stroke</a:t>
            </a:r>
            <a:endParaRPr lang="en-IN" sz="1100" dirty="0"/>
          </a:p>
        </p:txBody>
      </p:sp>
      <p:sp>
        <p:nvSpPr>
          <p:cNvPr id="17458" name="TF_G3"/>
          <p:cNvSpPr/>
          <p:nvPr/>
        </p:nvSpPr>
        <p:spPr>
          <a:xfrm>
            <a:off x="4736592" y="55092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When to stop before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rods jam</a:t>
            </a:r>
            <a:endParaRPr lang="en-IN" sz="1100" dirty="0"/>
          </a:p>
        </p:txBody>
      </p:sp>
      <p:sp>
        <p:nvSpPr>
          <p:cNvPr id="17459" name="TF_L1"/>
          <p:cNvSpPr/>
          <p:nvPr/>
        </p:nvSpPr>
        <p:spPr>
          <a:xfrm>
            <a:off x="7370064" y="5509260"/>
            <a:ext cx="1447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Less diesel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per barrel</a:t>
            </a:r>
            <a:endParaRPr lang="en-IN" sz="1100" dirty="0"/>
          </a:p>
        </p:txBody>
      </p:sp>
      <p:sp>
        <p:nvSpPr>
          <p:cNvPr id="17460" name="TF_L2"/>
          <p:cNvSpPr/>
          <p:nvPr/>
        </p:nvSpPr>
        <p:spPr>
          <a:xfrm>
            <a:off x="8909304" y="5509260"/>
            <a:ext cx="1447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Safer pump</a:t>
            </a:r>
            <a:endParaRPr lang="en-IN" sz="1100" dirty="0"/>
          </a:p>
        </p:txBody>
      </p:sp>
      <p:sp>
        <p:nvSpPr>
          <p:cNvPr id="17461" name="TF_L3"/>
          <p:cNvSpPr/>
          <p:nvPr/>
        </p:nvSpPr>
        <p:spPr>
          <a:xfrm>
            <a:off x="10448544" y="5509260"/>
            <a:ext cx="1447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More oil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per cycle</a:t>
            </a:r>
            <a:endParaRPr lang="en-IN" sz="1100" dirty="0"/>
          </a:p>
        </p:txBody>
      </p:sp>
      <p:sp>
        <p:nvSpPr>
          <p:cNvPr id="17462" name="TF_trust"/>
          <p:cNvSpPr txBox="1"/>
          <p:nvPr/>
        </p:nvSpPr>
        <p:spPr>
          <a:xfrm>
            <a:off x="5404104" y="6076188"/>
            <a:ext cx="6583680" cy="201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i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Built on published physics · checked against real field data · 236 automated tests</a:t>
            </a:r>
            <a:endParaRPr lang="en-IN" sz="1100" dirty="0"/>
          </a:p>
        </p:txBody>
      </p:sp>
      <p:pic>
        <p:nvPicPr>
          <p:cNvPr id="17463" name="TF_S1_icon" descr="icon: ic_pumpjack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" y="2487168"/>
            <a:ext cx="713232" cy="713232"/>
          </a:xfrm>
          <a:prstGeom prst="rect">
            <a:avLst/>
          </a:prstGeom>
        </p:spPr>
      </p:pic>
      <p:pic>
        <p:nvPicPr>
          <p:cNvPr id="17464" name="TF_S2_icon" descr="icon: ic_dashboard.svg frame + ic_pumpjack.svg (compose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078" y="2487168"/>
            <a:ext cx="713232" cy="713232"/>
          </a:xfrm>
          <a:prstGeom prst="rect">
            <a:avLst/>
          </a:prstGeom>
        </p:spPr>
      </p:pic>
      <p:pic>
        <p:nvPicPr>
          <p:cNvPr id="17465" name="TF_S3_icon" descr="icon: magnifier + ic_neural-net.svg (composed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3580" y="2487168"/>
            <a:ext cx="713232" cy="713232"/>
          </a:xfrm>
          <a:prstGeom prst="rect">
            <a:avLst/>
          </a:prstGeom>
        </p:spPr>
      </p:pic>
      <p:pic>
        <p:nvPicPr>
          <p:cNvPr id="17466" name="TF_S4_icon" descr="icon: ic_dashboard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3082" y="2487168"/>
            <a:ext cx="713232" cy="713232"/>
          </a:xfrm>
          <a:prstGeom prst="rect">
            <a:avLst/>
          </a:prstGeom>
        </p:spPr>
      </p:pic>
      <p:pic>
        <p:nvPicPr>
          <p:cNvPr id="17467" name="TF_S5_icon" descr="icon: ic_team.svg centre figure + hard hat (composed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2585" y="2487168"/>
            <a:ext cx="713232" cy="713232"/>
          </a:xfrm>
          <a:prstGeom prst="rect">
            <a:avLst/>
          </a:prstGeom>
        </p:spPr>
      </p:pic>
      <p:pic>
        <p:nvPicPr>
          <p:cNvPr id="17468" name="TF_loop_icon" descr="icon: ic_calendar-cycle.sv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1691" y="4942332"/>
            <a:ext cx="256032" cy="256032"/>
          </a:xfrm>
          <a:prstGeom prst="rect">
            <a:avLst/>
          </a:prstGeom>
        </p:spPr>
      </p:pic>
      <p:pic>
        <p:nvPicPr>
          <p:cNvPr id="17469" name="TF_G1_icon" descr="icon: ic_steam.sv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573268"/>
            <a:ext cx="329184" cy="329184"/>
          </a:xfrm>
          <a:prstGeom prst="rect">
            <a:avLst/>
          </a:prstGeom>
        </p:spPr>
      </p:pic>
      <p:pic>
        <p:nvPicPr>
          <p:cNvPr id="17470" name="TF_G2_icon" descr="icon: ic_pumpjack.sv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3472" y="5573268"/>
            <a:ext cx="329184" cy="329184"/>
          </a:xfrm>
          <a:prstGeom prst="rect">
            <a:avLst/>
          </a:prstGeom>
        </p:spPr>
      </p:pic>
      <p:pic>
        <p:nvPicPr>
          <p:cNvPr id="17471" name="TF_G3_icon" descr="icon: ic_alert-triangle.sv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9744" y="5573268"/>
            <a:ext cx="329184" cy="329184"/>
          </a:xfrm>
          <a:prstGeom prst="rect">
            <a:avLst/>
          </a:prstGeom>
        </p:spPr>
      </p:pic>
      <p:pic>
        <p:nvPicPr>
          <p:cNvPr id="17472" name="TF_L1_icon" descr="icon: ic_flame.sv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43216" y="5573268"/>
            <a:ext cx="329184" cy="329184"/>
          </a:xfrm>
          <a:prstGeom prst="rect">
            <a:avLst/>
          </a:prstGeom>
        </p:spPr>
      </p:pic>
      <p:pic>
        <p:nvPicPr>
          <p:cNvPr id="17473" name="TF_L2_icon" descr="icon: ic_shield-check.sv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82456" y="5573268"/>
            <a:ext cx="329184" cy="329184"/>
          </a:xfrm>
          <a:prstGeom prst="rect">
            <a:avLst/>
          </a:prstGeom>
        </p:spPr>
      </p:pic>
      <p:pic>
        <p:nvPicPr>
          <p:cNvPr id="17474" name="TF_L3_icon" descr="icon: ic_oil-drop.sv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21696" y="5573268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07008"/>
            <a:ext cx="3593592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1400"/>
              </a:spcAft>
              <a:buNone/>
            </a:pPr>
            <a:r>
              <a:rPr lang="en-IN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Analysis of the feasibility of the idea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Physics is settled: Marx–Langenheim (1959), Andrade, Vogel (1968)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Field parameters published: 1,150 m depth, 8,000–15,000 cP at 50 °C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Steam at 280–305 °C and 60–70% quality — normal CSS practice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De-risked at this very field: India’s first CSS, BGW-8, Dec 2018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Open-source stack, laptop-scale compute, ~4 weeks to a live API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FeasCol1"/>
          <p:cNvSpPr txBox="1">
            <a:spLocks noChangeArrowheads="1"/>
          </p:cNvSpPr>
          <p:nvPr/>
        </p:nvSpPr>
        <p:spPr bwMode="auto">
          <a:xfrm>
            <a:off x="4325112" y="1207008"/>
            <a:ext cx="3593592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1400"/>
              </a:spcAft>
              <a:buNone/>
            </a:pPr>
            <a:r>
              <a:rPr lang="en-IN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Potential challenges and risks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No public Baghewala SOR history to train on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Poor-to-fair reservoir: porosity below 10%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Physics model can drift from real well behaviour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Extreme viscosity makes pump behaviour non-linear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Operator trust in an automated set-point</a:t>
            </a:r>
          </a:p>
        </p:txBody>
      </p:sp>
      <p:sp>
        <p:nvSpPr>
          <p:cNvPr id="17412" name="FeasCol2"/>
          <p:cNvSpPr txBox="1">
            <a:spLocks noChangeArrowheads="1"/>
          </p:cNvSpPr>
          <p:nvPr/>
        </p:nvSpPr>
        <p:spPr bwMode="auto">
          <a:xfrm>
            <a:off x="8147304" y="1207008"/>
            <a:ext cx="3593592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1400"/>
              </a:spcAft>
              <a:buNone/>
            </a:pPr>
            <a:r>
              <a:rPr lang="en-IN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Strategies for overcoming these challenges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Train on 3,000 physics-generated cycles, deterministic seed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Recalibrate on Oil India historical data at the finale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Parameter-sweep sanity tests on the physics modules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field_params.json as the single source of truth per well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Advisory mode first — the engineer approves every set-point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07008"/>
            <a:ext cx="539496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IN" sz="165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Potential impact on the target audience</a:t>
            </a:r>
          </a:p>
          <a:p>
            <a:pPr marL="201168" indent="-201168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Oil India CSS operators at Baghewala — 52 wells drilled, 33 operational, 19 CSS’d in FY2025-26</a:t>
            </a:r>
          </a:p>
          <a:p>
            <a:pPr marL="201168" indent="-201168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Every avoided rod-pump workover saves $15k–$50k (industry-typical)</a:t>
            </a:r>
          </a:p>
          <a:p>
            <a:pPr marL="201168" indent="-201168"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Output already scaling: 218 t (FY17) → 43,773 t (FY26) — the twin scales with it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IN" sz="165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Benefits of the solution (social, economic, environmental, etc.)</a:t>
            </a:r>
          </a:p>
          <a:p>
            <a:pPr marL="201168" indent="-201168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Economic: less steam fuel burned per barrel produced</a:t>
            </a:r>
          </a:p>
          <a:p>
            <a:pPr marL="201168" indent="-201168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Environmental: lower energy and GHG intensity per barrel</a:t>
            </a:r>
          </a:p>
          <a:p>
            <a:pPr marL="201168" indent="-201168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Social / safety: rod-floating alerts catch the failure mode behind most SRP workovers</a:t>
            </a:r>
          </a:p>
          <a:p>
            <a:pPr marL="201168" indent="-201168">
              <a:buFont typeface="Arial" panose="020B0604020202020204" pitchFamily="34" charset="0"/>
              <a:buChar char="•"/>
            </a:pPr>
            <a:r>
              <a:rPr lang="en-IN" sz="14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Strategic: an indigenous twin for India’s first cyclic-steam asset, portable to future CSS wells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or_waterfall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81502"/>
            <a:ext cx="5669280" cy="2746355"/>
          </a:xfrm>
          <a:prstGeom prst="rect">
            <a:avLst/>
          </a:prstGeom>
        </p:spPr>
      </p:pic>
      <p:sp>
        <p:nvSpPr>
          <p:cNvPr id="17412" name="SorCaption"/>
          <p:cNvSpPr txBox="1">
            <a:spLocks noChangeArrowheads="1"/>
          </p:cNvSpPr>
          <p:nvPr/>
        </p:nvSpPr>
        <p:spPr bwMode="auto">
          <a:xfrm>
            <a:off x="6080760" y="4892040"/>
            <a:ext cx="5669280" cy="1188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IN" sz="1300" b="1" i="1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Prototype v1 simulation — to be validated on OIL field data.</a:t>
            </a:r>
          </a:p>
          <a:p>
            <a:pPr marL="0" indent="0">
              <a:buNone/>
            </a:pPr>
            <a:r>
              <a:rPr lang="en-IN" sz="13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SOR 1.50 → 0.88 t/m³ (−41.3%) across 3,000 synthetic cycles — self-audited, physics v2 recalibration in progress; literature benchmark for optimisation-driven SOR cuts is &gt;20%.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34440"/>
            <a:ext cx="1124712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-IN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Details / Links of the reference and research work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Marx, J. W., &amp; Langenheim, R. H. (1959). Reservoir heating by hot fluid injection. Trans. AIME, 216, 312–315.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Vogel, J. V. (1968). Inflow performance relationships for solution-gas drive wells. J. Petrol. Tech., 20, 83–92.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Gibbs, S. G. (1963). Predicting the behavior of sucker-rod pumping systems. J. Petrol. Tech., 15, 769–778.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Andrade, E. N. da C. (1930). The viscosity of liquids. Nature, 125, 309–310; ASTM D341 viscosity–temperature standard.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SPE-23APOG-535203 (2023). Case study for enhancement of production of heavy and highly viscous crude oil using an electrical downhole heater — Baghewala depth, API and viscosity data.</a:t>
            </a:r>
          </a:p>
          <a:p>
            <a:pPr marL="201168" indent="-201168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Oil India Limited — Rajasthan Fields (Baghewala / BGW-8 CSS) https://www.oil-india.com/rajasthan-fields ; production and well-count figures from OIL annual reports.</a:t>
            </a:r>
          </a:p>
          <a:p>
            <a:pPr marL="201168" indent="-201168">
              <a:buFont typeface="Arial" panose="020B0604020202020204" pitchFamily="34" charset="0"/>
              <a:buChar char="•"/>
            </a:pPr>
            <a:r>
              <a:rPr lang="en-IN" sz="16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Competitive landscape (docs/research/landscape.md): XSPOC, Lufkin SAM/SROD, Weatherford ForeSite, Schlumberger, AVEVA, Kongsberg Kognitwin — none couples CSS scheduling with SRP optimization.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