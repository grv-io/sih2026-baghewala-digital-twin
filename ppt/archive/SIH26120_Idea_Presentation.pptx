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SIH26120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Digital Twin for Well-to-Surface Optimization of Cyclic Steam Stimulation and Sucker Rod Pump Operations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TBD (fill after SIH portal team registration)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TEAM ________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Physics-Driven AI Optimizer for CSS &amp; Sucker-Rod Pump Operations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US" sz="2600" dirty="0">
                <a:latin typeface="Arial" pitchFamily="34" charset="0"/>
                <a:cs typeface="Arial" pitchFamily="34" charset="0"/>
              </a:rPr>
              <a:t>Problem: high Steam-Oil Ratio (industry CSS range 3-8, avg ~6), manual tuning, rod-floating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US" sz="2600" dirty="0">
                <a:latin typeface="Arial" pitchFamily="34" charset="0"/>
                <a:cs typeface="Arial" pitchFamily="34" charset="0"/>
              </a:rPr>
              <a:t>Digital twin fuses reservoir heating, viscosity, pump dynamics &amp; inflow performance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Outputs real-time optimal steam volume, soak time, cutoff rate &amp; pump speed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No commercial product (XSPOC, Lufkin, Weatherford, SLB) couples CSS + SRP like this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Arial" pitchFamily="34" charset="0"/>
                <a:cs typeface="Arial" pitchFamily="34" charset="0"/>
              </a:rPr>
              <a:t>Killer number: targets SOR &lt;3.5 t/m3 (20-30% cut vs literature CSS benchmark)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________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64008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Physics: Marx-Langenheim heating, Andrade viscosity law, Vogel inflow curve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Dynamics: sucker-rod load, pump efficiency, floating-risk index (unsafe &gt; 0.6)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Simulation: 3000+ synthetic CSS cycles via Latin-hypercube sampling (seed=42)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ML: XGBoost SOR predictor + floating-risk classifier + Bayesian optimizer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Stack: Python 3.12, NumPy/SciPy/XGBoost/scikit-optimize, FastAPI backend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________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7590790" y="2533653"/>
            <a:ext cx="3931920" cy="548640"/>
          </a:xfrm>
          <a:prstGeom prst="round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Physics Engine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(Marx-Langenheim, Andrade, Vogel)</a:t>
            </a:r>
          </a:p>
        </p:txBody>
      </p:sp>
      <p:sp>
        <p:nvSpPr>
          <p:cNvPr id="17412" name="Down Arrow 17411"/>
          <p:cNvSpPr/>
          <p:nvPr/>
        </p:nvSpPr>
        <p:spPr>
          <a:xfrm>
            <a:off x="9465310" y="3082293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590790" y="3192021"/>
            <a:ext cx="3931920" cy="548640"/>
          </a:xfrm>
          <a:prstGeom prst="roundRect">
            <a:avLst/>
          </a:prstGeom>
          <a:solidFill>
            <a:srgbClr val="3B6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Synthetic Data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(3000+ CSS cycles)</a:t>
            </a:r>
          </a:p>
        </p:txBody>
      </p:sp>
      <p:sp>
        <p:nvSpPr>
          <p:cNvPr id="17414" name="Down Arrow 17413"/>
          <p:cNvSpPr/>
          <p:nvPr/>
        </p:nvSpPr>
        <p:spPr>
          <a:xfrm>
            <a:off x="9465310" y="3740661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7590790" y="3850389"/>
            <a:ext cx="3931920" cy="548640"/>
          </a:xfrm>
          <a:prstGeom prst="roundRect">
            <a:avLst/>
          </a:prstGeom>
          <a:solidFill>
            <a:srgbClr val="6B4A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ML Models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(XGBoost SOR + risk classifier)</a:t>
            </a:r>
          </a:p>
        </p:txBody>
      </p:sp>
      <p:sp>
        <p:nvSpPr>
          <p:cNvPr id="17416" name="Down Arrow 17415"/>
          <p:cNvSpPr/>
          <p:nvPr/>
        </p:nvSpPr>
        <p:spPr>
          <a:xfrm>
            <a:off x="9465310" y="4399029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7590790" y="4508757"/>
            <a:ext cx="3931920" cy="548640"/>
          </a:xfrm>
          <a:prstGeom prst="roundRect">
            <a:avLst/>
          </a:prstGeom>
          <a:solidFill>
            <a:srgbClr val="5A3B6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Bayesian Optimizer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590790" y="510311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</a:rPr>
              <a:t>Feedback loop: optimizer output refines the next simulated CSS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Physics validated: Marx-Langenheim, Andrade (ASTM D341), Vogel IPR models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Params from Oil India/SPE data (depth ~1150 m, 8-15k cP, &lt;10% porosity)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Proven at Baghewala: India's first CSS (BGW-8, 2018) - 5-6x uplift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Scale: 52 wells drilled, 33 operational, 19 CSS'd in FY25-26 (+72% YoY)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Killer number: ~1,150 m confirmed depth (SPE-23APOG / Oil India)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________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6400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Economics: $15k-$50k saved per avoided rod-workover (industry-typical)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Safety: alerts target the #1 SRP failure mode (rod/tubing wear)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Growth: Baghewala output up ~200x since CSS began (218t -&gt; 43,773t)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Scale: 52 wells drilled, 33 operational, 19 CSS'd in FY25-26 (+72% YoY)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Killer number: 20-30% SOR cut (physics-simulated; field validation next)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________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o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790" y="2533653"/>
            <a:ext cx="3931920" cy="25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Marx &amp; Langenheim (1959), Reservoir Heating by Hot Fluid Injection, Trans. AIME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Andrade (1934), Viscosity of Liquids, Nature; ASTM D341 viscosity-temp standard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Vogel, J.V. (1968), Inflow Performance Relationships, J. Petrol. Tech., 20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SPE-23APOG-535203 (2023) - Baghewala reservoir/fluid data (depth, API, viscosity)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Oil India internal data (BGW-8 CSS cycle) + landscape.md competitive-gap check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________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