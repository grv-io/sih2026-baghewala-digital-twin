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IDEA TITLE &amp; PS DETAILS</a:t>
            </a:r>
          </a:p>
          <a:p/>
          <a:p>
            <a:r>
              <a:t>Headline: Digital Twin for Well-to-Surface Optimization of CSS and Sucker Rod Pump Operations</a:t>
            </a:r>
          </a:p>
          <a:p>
            <a:r>
              <a:t>PS ID SIH26120 | Oil India Limited | Category: Software | Theme: Smart Automation</a:t>
            </a:r>
          </a:p>
          <a:p>
            <a:r>
              <a:t>Team: MNIT Jaipur — Chemical Engineering (lead) + Software members.</a:t>
            </a:r>
          </a:p>
          <a:p/>
          <a:p>
            <a:r>
              <a:t>Opening line (say this): "Oil India's Baghewala field in Rajasthan produces some of</a:t>
            </a:r>
          </a:p>
          <a:p>
            <a:r>
              <a:t>the most viscous crude in India — 14-17 degrees API, 8,000-15,000 cP at reservoir</a:t>
            </a:r>
          </a:p>
          <a:p>
            <a:r>
              <a:t>temperature. It only flows because it is heated with steam. We are building the</a:t>
            </a:r>
          </a:p>
          <a:p>
            <a:r>
              <a:t>digital twin that decides how to heat it and how to pump it, together."</a:t>
            </a:r>
          </a:p>
          <a:p/>
          <a:p>
            <a:r>
              <a:t>Chips on this slide:</a:t>
            </a:r>
          </a:p>
          <a:p>
            <a:r>
              <a:t>- 14-17 degrees API heavy crude (SPE-23APOG-535203; OIL internal deck)</a:t>
            </a:r>
          </a:p>
          <a:p>
            <a:r>
              <a:t>- India's first Cyclic Steam Stimulation — well BGW-8, December 2018 (Oil &amp; Gas Journal)</a:t>
            </a:r>
          </a:p>
          <a:p>
            <a:r>
              <a:t>- Annual output 218 t (FY2016-17) to 43,773 t (FY2025-26) — roughly 200x since</a:t>
            </a:r>
          </a:p>
          <a:p>
            <a:r>
              <a:t>  commercial CSS began (OIL internal deck; PSU Watch)</a:t>
            </a:r>
          </a:p>
          <a:p/>
          <a:p>
            <a:r>
              <a:t>ChemE term to land early: Cyclic Steam Stimulation (CSS) — inject steam, soak, then</a:t>
            </a:r>
          </a:p>
          <a:p>
            <a:r>
              <a:t>produce the same well; repeat. Sucker Rod Pump (SRP) — the beam pump ("pumpjack")</a:t>
            </a:r>
          </a:p>
          <a:p>
            <a:r>
              <a:t>that lifts the heated oil to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PROPOSED SOLUTION</a:t>
            </a:r>
          </a:p>
          <a:p/>
          <a:p>
            <a:r>
              <a:t>Headline: Steam and pump, optimised as one system — not two.</a:t>
            </a:r>
          </a:p>
          <a:p/>
          <a:p>
            <a:r>
              <a:t>Problem framing: at Baghewala the steam dose (how much, how long a soak) and the</a:t>
            </a:r>
          </a:p>
          <a:p>
            <a:r>
              <a:t>rod-pump settings (speed, stroke, cut-off) are decided separately and largely by</a:t>
            </a:r>
          </a:p>
          <a:p>
            <a:r>
              <a:t>hand. The result is wasted steam — a high Steam-Oil Ratio — and rod/tubing wear</a:t>
            </a:r>
          </a:p>
          <a:p>
            <a:r>
              <a:t>failures that cost a workover each time.</a:t>
            </a:r>
          </a:p>
          <a:p/>
          <a:p>
            <a:r>
              <a:t>The solution: a digital twin that chains four physics blocks in one pass —</a:t>
            </a:r>
          </a:p>
          <a:p>
            <a:r>
              <a:t>reservoir heating (Marx-Langenheim) -&gt; oil viscosity at the new temperature</a:t>
            </a:r>
          </a:p>
          <a:p>
            <a:r>
              <a:t>(Andrade) -&gt; well inflow (Vogel IPR) -&gt; sucker-rod load and pump efficiency —</a:t>
            </a:r>
          </a:p>
          <a:p>
            <a:r>
              <a:t>so one CSS cycle simulates in well under a second.</a:t>
            </a:r>
          </a:p>
          <a:p/>
          <a:p>
            <a:r>
              <a:t>Outputs (the recommendation card): steam injection volume, soak duration,</a:t>
            </a:r>
          </a:p>
          <a:p>
            <a:r>
              <a:t>production cut-off rate, pump speed — each shown with the SOR it is predicted to</a:t>
            </a:r>
          </a:p>
          <a:p>
            <a:r>
              <a:t>achieve.</a:t>
            </a:r>
          </a:p>
          <a:p/>
          <a:p>
            <a:r>
              <a:t>Guardrail: every candidate set-point is screened by a rod-floating risk index</a:t>
            </a:r>
          </a:p>
          <a:p>
            <a:r>
              <a:t>before it is ever shown to an operator.</a:t>
            </a:r>
          </a:p>
          <a:p/>
          <a:p>
            <a:r>
              <a:t>Uniqueness (the panel at bottom right): pump-side optimisers — ChampionX XSPOC,</a:t>
            </a:r>
          </a:p>
          <a:p>
            <a:r>
              <a:t>Lufkin SAM/SROD, Weatherford ForeSite — optimise lift in isolation. Reservoir and</a:t>
            </a:r>
          </a:p>
          <a:p>
            <a:r>
              <a:t>facility thermal twins — SLB OptiSite/ProcessOps, AVEVA, Kongsberg Kognitwin —</a:t>
            </a:r>
          </a:p>
          <a:p>
            <a:r>
              <a:t>optimise steam in isolation. Our landscape scan found no commercial product that</a:t>
            </a:r>
          </a:p>
          <a:p>
            <a:r>
              <a:t>closes the loop across both. Source: docs/landscape.md.</a:t>
            </a:r>
          </a:p>
          <a:p/>
          <a:p>
            <a:r>
              <a:t>Diagram: well cutaway — surface beam pump and wellhead, rod string inside</a:t>
            </a:r>
          </a:p>
          <a:p>
            <a:r>
              <a:t>vacuum-insulated tubing (which Baghewala genuinely uses to limit heat loss),</a:t>
            </a:r>
          </a:p>
          <a:p>
            <a:r>
              <a:t>downhole pump at ~1,150 m, and the steam-heated halo in the Jodhpur Sandstone pay</a:t>
            </a:r>
          </a:p>
          <a:p>
            <a:r>
              <a:t>zone with inflow arrows through the perforations. Steam is injected at 280-305 °C,</a:t>
            </a:r>
          </a:p>
          <a:p>
            <a:r>
              <a:t>85-97 kgf/cm2 — the real first-cycle numbers from well BGW-08.</a:t>
            </a:r>
          </a:p>
          <a:p/>
          <a:p>
            <a:r>
              <a:t>ChemE term: Steam-Oil Ratio (SOR) — tonnes of steam injected per cubic metre of</a:t>
            </a:r>
          </a:p>
          <a:p>
            <a:r>
              <a:t>oil produced. Lower is better; a CSS cycle is considered thermally efficient below</a:t>
            </a:r>
          </a:p>
          <a:p>
            <a:r>
              <a:t>about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TECHNICAL APPROACH</a:t>
            </a:r>
          </a:p>
          <a:p/>
          <a:p>
            <a:r>
              <a:t>Headline: Four layers — physics in, set-points out.</a:t>
            </a:r>
          </a:p>
          <a:p/>
          <a:p>
            <a:r>
              <a:t>LAYER 1 — DATA. Oil India's Baghewala well and CSS-cycle logs, plus &gt;= 3,000</a:t>
            </a:r>
          </a:p>
          <a:p>
            <a:r>
              <a:t>synthetic cycles generated by the physics engine itself using Latin-hypercube</a:t>
            </a:r>
          </a:p>
          <a:p>
            <a:r>
              <a:t>sampling across the parameter ranges. Fixed random seed, so every run is</a:t>
            </a:r>
          </a:p>
          <a:p>
            <a:r>
              <a:t>reproducible. (twin/generate_data.py)</a:t>
            </a:r>
          </a:p>
          <a:p/>
          <a:p>
            <a:r>
              <a:t>LAYER 2 — PHYSICS. The well-to-surface chain: Marx-Langenheim steam-zone growth</a:t>
            </a:r>
          </a:p>
          <a:p>
            <a:r>
              <a:t>gives the heated volume and temperature; Andrade gives oil viscosity at that</a:t>
            </a:r>
          </a:p>
          <a:p>
            <a:r>
              <a:t>temperature; Vogel IPR gives the inflow the reservoir can deliver; the SRP model</a:t>
            </a:r>
          </a:p>
          <a:p>
            <a:r>
              <a:t>gives rod load, pump fillage/efficiency and the floating-risk index.</a:t>
            </a:r>
          </a:p>
          <a:p>
            <a:r>
              <a:t>(twin/thermal.py, viscosity.py, ipr.py, srp.py, cycle.py)</a:t>
            </a:r>
          </a:p>
          <a:p/>
          <a:p>
            <a:r>
              <a:t>LAYER 3 — LEARNING. XGBoost surrogate predicts SOR far faster than re-running the</a:t>
            </a:r>
          </a:p>
          <a:p>
            <a:r>
              <a:t>physics; a second model classifies rod-floating risk; Bayesian optimisation</a:t>
            </a:r>
          </a:p>
          <a:p>
            <a:r>
              <a:t>(scikit-optimize gp_minimize) searches the four control variables to minimise SOR</a:t>
            </a:r>
          </a:p>
          <a:p>
            <a:r>
              <a:t>subject to the floating-risk constraint. (ml/train.py, ml/optimize.py)</a:t>
            </a:r>
          </a:p>
          <a:p/>
          <a:p>
            <a:r>
              <a:t>LAYER 4 — DELIVERY. FastAPI endpoints /simulate, /optimize, /params behind a</a:t>
            </a:r>
          </a:p>
          <a:p>
            <a:r>
              <a:t>Plotly dashboard: SOR gauge, dynamometer card, floating-risk alert, and a</a:t>
            </a:r>
          </a:p>
          <a:p>
            <a:r>
              <a:t>recommendation card per well per cycle. (api/main.py, dashboard/index.html)</a:t>
            </a:r>
          </a:p>
          <a:p/>
          <a:p>
            <a:r>
              <a:t>CLOSED LOOP: accepted set-points go back in as new training rows, and out to the</a:t>
            </a:r>
          </a:p>
          <a:p>
            <a:r>
              <a:t>VFD speed and steam-control schedule for the next cycle.</a:t>
            </a:r>
          </a:p>
          <a:p/>
          <a:p>
            <a:r>
              <a:t>THE THREE GOVERNING EQUATIONS (be ready to defend these):</a:t>
            </a:r>
          </a:p>
          <a:p>
            <a:r>
              <a:t>- Marx-Langenheim (1959): heated area grows with cumulative steam enthalpy</a:t>
            </a:r>
          </a:p>
          <a:p>
            <a:r>
              <a:t>  injected, discounted by conduction loss into the overburden.</a:t>
            </a:r>
          </a:p>
          <a:p>
            <a:r>
              <a:t>- Andrade: mu(T) = A exp(B/T). Critical point — we fit A and B to Baghewala's own</a:t>
            </a:r>
          </a:p>
          <a:p>
            <a:r>
              <a:t>  measured 8,000-15,000 cP at 50 degC, NOT to a generic API-gravity correlation,</a:t>
            </a:r>
          </a:p>
          <a:p>
            <a:r>
              <a:t>  because this crude is ~90-100x more viscous than a typical 18 deg API oil.</a:t>
            </a:r>
          </a:p>
          <a:p>
            <a:r>
              <a:t>- Vogel (1968): the standard solution-gas-drive inflow performance relationship.</a:t>
            </a:r>
          </a:p>
          <a:p/>
          <a:p>
            <a:r>
              <a:t>Stack: Python 3.12, NumPy/SciPy, XGBoost, scikit-optimize, FastAPI, Plotly,</a:t>
            </a:r>
          </a:p>
          <a:p>
            <a:r>
              <a:t>pytest for the physics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TECHNICAL APPROACH (METHODOLOGY)</a:t>
            </a:r>
          </a:p>
          <a:p/>
          <a:p>
            <a:r>
              <a:t>Headline: What the twin actually decides, cycle by cycle.</a:t>
            </a:r>
          </a:p>
          <a:p/>
          <a:p>
            <a:r>
              <a:t>THE CSS CYCLE (the chart): a Cyclic Steam Stimulation cycle has three phases.</a:t>
            </a:r>
          </a:p>
          <a:p>
            <a:r>
              <a:t>- INJECT, 14-21 days. Steam at 280-305 degC, 85-97 kgf/cm2 wellhead pressure,</a:t>
            </a:r>
          </a:p>
          <a:p>
            <a:r>
              <a:t>  60-70% quality, ~3,100 kg/hr. Reservoir temperature around the wellbore climbs.</a:t>
            </a:r>
          </a:p>
          <a:p>
            <a:r>
              <a:t>- SOAK, 7-13 days (Baghewala practice is 50-60% of the injection phase length).</a:t>
            </a:r>
          </a:p>
          <a:p>
            <a:r>
              <a:t>  The well is shut in; heat spreads outward and oil viscosity collapses.</a:t>
            </a:r>
          </a:p>
          <a:p>
            <a:r>
              <a:t>- PRODUCE. The sucker rod pump lifts. Rate peaks early, then declines as the zone</a:t>
            </a:r>
          </a:p>
          <a:p>
            <a:r>
              <a:t>  cools and the oil thickens again — which is exactly when you must decide to stop</a:t>
            </a:r>
          </a:p>
          <a:p>
            <a:r>
              <a:t>  and re-inject.</a:t>
            </a:r>
          </a:p>
          <a:p/>
          <a:p>
            <a:r>
              <a:t>THE FOUR CONTROL VARIABLES the optimiser searches:</a:t>
            </a:r>
          </a:p>
          <a:p>
            <a:r>
              <a:t>1. Steam volume — bounded by generator capacity (~3.1 t/hr at BGW-08) across the</a:t>
            </a:r>
          </a:p>
          <a:p>
            <a:r>
              <a:t>   injection window.</a:t>
            </a:r>
          </a:p>
          <a:p>
            <a:r>
              <a:t>2. Soak duration — bounded by observed field practice, 50-60% of injection length.</a:t>
            </a:r>
          </a:p>
          <a:p>
            <a:r>
              <a:t>3. Pump speed in strokes per minute, through the VFD — capped by the rod-floating</a:t>
            </a:r>
          </a:p>
          <a:p>
            <a:r>
              <a:t>   limit.</a:t>
            </a:r>
          </a:p>
          <a:p>
            <a:r>
              <a:t>4. Production cut-off rate — the point at which the cycle stops paying and steam</a:t>
            </a:r>
          </a:p>
          <a:p>
            <a:r>
              <a:t>   should go back in.</a:t>
            </a:r>
          </a:p>
          <a:p/>
          <a:p>
            <a:r>
              <a:t>OBJECTIVE: minimise SOR(x), tonnes of steam per cubic metre of oil, subject to</a:t>
            </a:r>
          </a:p>
          <a:p>
            <a:r>
              <a:t>P(rod float | x) &lt; 0.30. Solver is scikit-optimize gp_minimize with 10 random</a:t>
            </a:r>
          </a:p>
          <a:p>
            <a:r>
              <a:t>restarts to avoid local minima. A floating index above 0.6 is treated as unsafe</a:t>
            </a:r>
          </a:p>
          <a:p>
            <a:r>
              <a:t>and the candidate is rejected outright.</a:t>
            </a:r>
          </a:p>
          <a:p/>
          <a:p>
            <a:r>
              <a:t>HONESTY POINT (say this if asked): heavy-oil CSS typically runs at an SOR of 3-8,</a:t>
            </a:r>
          </a:p>
          <a:p>
            <a:r>
              <a:t>lifecycle average about 6, and is considered thermally efficient below 3.</a:t>
            </a:r>
          </a:p>
          <a:p>
            <a:r>
              <a:t>Baghewala's own achieved SOR is NOT publicly reported anywhere we could find, so</a:t>
            </a:r>
          </a:p>
          <a:p>
            <a:r>
              <a:t>we deliberately benchmark against that published literature band rather than</a:t>
            </a:r>
          </a:p>
          <a:p>
            <a:r>
              <a:t>quoting an invented field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FEASIBILITY &amp; VIABILITY</a:t>
            </a:r>
          </a:p>
          <a:p/>
          <a:p>
            <a:r>
              <a:t>Headline: Settled physics, real parameters, a field that is already de-risked.</a:t>
            </a:r>
          </a:p>
          <a:p/>
          <a:p>
            <a:r>
              <a:t>PILLAR 1 — THE PHYSICS IS SETTLED. Marx-Langenheim (1959) for steam-zone growth,</a:t>
            </a:r>
          </a:p>
          <a:p>
            <a:r>
              <a:t>the Andrade law (ASTM D341 is the standard viscosity-temperature relation), and</a:t>
            </a:r>
          </a:p>
          <a:p>
            <a:r>
              <a:t>Vogel (1968) for inflow performance. These are textbook, 50+ year old models. We</a:t>
            </a:r>
          </a:p>
          <a:p>
            <a:r>
              <a:t>are not doing novel research; we are doing integration work, which is exactly the</a:t>
            </a:r>
          </a:p>
          <a:p>
            <a:r>
              <a:t>kind of risk a hackathon team can actually retire.</a:t>
            </a:r>
          </a:p>
          <a:p/>
          <a:p>
            <a:r>
              <a:t>PILLAR 2 — THE PARAMETERS ARE REAL. params/field_params.json is calibrated to</a:t>
            </a:r>
          </a:p>
          <a:p>
            <a:r>
              <a:t>SPE-23APOG-535203 and Oil India data: reservoir depth ~1,150 m, reference</a:t>
            </a:r>
          </a:p>
          <a:p>
            <a:r>
              <a:t>viscosity 11,500 cP at 50 degC, steam injection 290 degC, porosity 0.09, with the</a:t>
            </a:r>
          </a:p>
          <a:p>
            <a:r>
              <a:t>Andrade constants fitted to that anchor (A = 1.164e-6, B = 7436.6 K). These are</a:t>
            </a:r>
          </a:p>
          <a:p>
            <a:r>
              <a:t>not placeholders.</a:t>
            </a:r>
          </a:p>
          <a:p/>
          <a:p>
            <a:r>
              <a:t>PILLAR 3 — THE FIELD IS DE-RISKED. India's first Cyclic Steam Stimulation ran at</a:t>
            </a:r>
          </a:p>
          <a:p>
            <a:r>
              <a:t>this exact field — well BGW-8, December 2018, with Belgrave Oil &amp; Gas Corp of</a:t>
            </a:r>
          </a:p>
          <a:p>
            <a:r>
              <a:t>Calgary — and delivered a 5-6x first-cycle production uplift. 52 wells drilled,</a:t>
            </a:r>
          </a:p>
          <a:p>
            <a:r>
              <a:t>33 operational, 19 CSS'd in FY2025-26 alone (~72% year-on-year growth). We are</a:t>
            </a:r>
          </a:p>
          <a:p>
            <a:r>
              <a:t>optimising a proven process, not proposing an unproven one.</a:t>
            </a:r>
          </a:p>
          <a:p/>
          <a:p>
            <a:r>
              <a:t>BUILD PATH — under four weeks to a live API. Week 1 physics engine. Week 2</a:t>
            </a:r>
          </a:p>
          <a:p>
            <a:r>
              <a:t>synthetic cycle generation plus the physics unit tests. Week 3 XGBoost surrogate</a:t>
            </a:r>
          </a:p>
          <a:p>
            <a:r>
              <a:t>and the Bayesian optimiser. Week 4 FastAPI endpoints and the Plotly dashboard.</a:t>
            </a:r>
          </a:p>
          <a:p>
            <a:r>
              <a:t>At the finale: Oil India's historical data re-fits the constants and validates</a:t>
            </a:r>
          </a:p>
          <a:p>
            <a:r>
              <a:t>against real cycles.</a:t>
            </a:r>
          </a:p>
          <a:p/>
          <a:p>
            <a:r>
              <a:t>RISKS AND MITIGATIONS:</a:t>
            </a:r>
          </a:p>
          <a:p>
            <a:r>
              <a:t>01 Data — if Oil India history arrives late, the physics-generated cycles still</a:t>
            </a:r>
          </a:p>
          <a:p>
            <a:r>
              <a:t>   train the model; field data re-fits constants rather than unblocking the build.</a:t>
            </a:r>
          </a:p>
          <a:p>
            <a:r>
              <a:t>02 Uncertainty — reservoir properties vary; field_params.json is the single source</a:t>
            </a:r>
          </a:p>
          <a:p>
            <a:r>
              <a:t>   of truth and Monte-Carlo sensitivity sweeps run in the test suite.</a:t>
            </a:r>
          </a:p>
          <a:p>
            <a:r>
              <a:t>03 Optimiser — Bayesian search can settle in a local minimum; we use ten random</a:t>
            </a:r>
          </a:p>
          <a:p>
            <a:r>
              <a:t>   restarts and hard physics bounds (injection pressure below fracture gradient).</a:t>
            </a:r>
          </a:p>
          <a:p/>
          <a:p>
            <a:r>
              <a:t>CLOSING POINT: porosity under 10%, poor-to-fair reservoir quality. That difficulty</a:t>
            </a:r>
          </a:p>
          <a:p>
            <a:r>
              <a:t>is the argument FOR a twin — every trial-and-error experiment in the real field</a:t>
            </a:r>
          </a:p>
          <a:p>
            <a:r>
              <a:t>costs a full ~30-day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IMPACT &amp; BENEFITS</a:t>
            </a:r>
          </a:p>
          <a:p/>
          <a:p>
            <a:r>
              <a:t>Headline: Less steam per barrel, fewer workovers, on an already-scaling asset.</a:t>
            </a:r>
          </a:p>
          <a:p/>
          <a:p>
            <a:r>
              <a:t>THE FOUR CALLOUTS:</a:t>
            </a:r>
          </a:p>
          <a:p>
            <a:r>
              <a:t>- 20-30% targeted SOR reduction. Physics-simulated and internally</a:t>
            </a:r>
          </a:p>
          <a:p>
            <a:r>
              <a:t>  consistency-checked. NOT a measured field result — field validation is the next</a:t>
            </a:r>
          </a:p>
          <a:p>
            <a:r>
              <a:t>  phase. Say this out loud; judges reward the distinction.</a:t>
            </a:r>
          </a:p>
          <a:p>
            <a:r>
              <a:t>- $15,000-$50,000 saved per avoided workover — the industry-typical cost of one</a:t>
            </a:r>
          </a:p>
          <a:p>
            <a:r>
              <a:t>  sucker-rod-pump failure (rig time, rod and tubing replacement, lost production).</a:t>
            </a:r>
          </a:p>
          <a:p>
            <a:r>
              <a:t>  Source: iFactory / general SRP literature.</a:t>
            </a:r>
          </a:p>
          <a:p>
            <a:r>
              <a:t>- 52 wells drilled, 33 operational at Baghewala; 19 CSS'd in FY2025-26 alone,</a:t>
            </a:r>
          </a:p>
          <a:p>
            <a:r>
              <a:t>  about 72% more than the year before.</a:t>
            </a:r>
          </a:p>
          <a:p>
            <a:r>
              <a:t>- ~200x output growth since commercial CSS began: 218 t in FY2016-17 to 43,773 t</a:t>
            </a:r>
          </a:p>
          <a:p>
            <a:r>
              <a:t>  in FY2025-26.</a:t>
            </a:r>
          </a:p>
          <a:p/>
          <a:p>
            <a:r>
              <a:t>THE SOR CHART: heavy-oil CSS runs at an SOR of roughly 3-8 with a lifecycle</a:t>
            </a:r>
          </a:p>
          <a:p>
            <a:r>
              <a:t>average near 6; below 3 is considered thermally efficient. Our optimiser targets</a:t>
            </a:r>
          </a:p>
          <a:p>
            <a:r>
              <a:t>under 3.5. The chart is explicitly labelled illustrative — Baghewala's own</a:t>
            </a:r>
          </a:p>
          <a:p>
            <a:r>
              <a:t>achieved SOR is not publicly reported in any source we could find, so we compare</a:t>
            </a:r>
          </a:p>
          <a:p>
            <a:r>
              <a:t>against the published literature band instead of inventing a field baseline.</a:t>
            </a:r>
          </a:p>
          <a:p/>
          <a:p>
            <a:r>
              <a:t>BENEFITS:</a:t>
            </a:r>
          </a:p>
          <a:p>
            <a:r>
              <a:t>- Economics: lower steam per barrel plus avoided workovers at $15k-$50k each.</a:t>
            </a:r>
          </a:p>
          <a:p>
            <a:r>
              <a:t>  The exact per-well annual figure needs Oil India's own cost data.</a:t>
            </a:r>
          </a:p>
          <a:p>
            <a:r>
              <a:t>- Safety: the floating-risk index targets metal-on-metal rod/tubing wear, which is</a:t>
            </a:r>
          </a:p>
          <a:p>
            <a:r>
              <a:t>  over half of all SRP failures. We do not claim a percentage reduction — that</a:t>
            </a:r>
          </a:p>
          <a:p>
            <a:r>
              <a:t>  requires a pilot.</a:t>
            </a:r>
          </a:p>
          <a:p>
            <a:r>
              <a:t>- Sustainability: derived from Baghewala's own numbers, steam generation costs</a:t>
            </a:r>
          </a:p>
          <a:p>
            <a:r>
              <a:t>  about 71 kg of diesel per tonne of steam, roughly 3.0 GJ per tonne. Less steam</a:t>
            </a:r>
          </a:p>
          <a:p>
            <a:r>
              <a:t>  is directly less diesel and less CO2 per barrel.</a:t>
            </a:r>
          </a:p>
          <a:p>
            <a:r>
              <a:t>- Scalability: swap field_params.json and the framework moves to the next CSS</a:t>
            </a:r>
          </a:p>
          <a:p>
            <a:r>
              <a:t>  well or another heavy-oil field.</a:t>
            </a:r>
          </a:p>
          <a:p/>
          <a:p>
            <a:r>
              <a:t>ChemE term: sucker rod floating — loss of pump integrity when viscous drag lifts</a:t>
            </a:r>
          </a:p>
          <a:p>
            <a:r>
              <a:t>the rod string above its neutral point on the downstroke.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RESEARCH &amp; REFERENCES</a:t>
            </a:r>
          </a:p>
          <a:p/>
          <a:p>
            <a:r>
              <a:t>Headline: Every number on this deck traces to a source we can show you.</a:t>
            </a:r>
          </a:p>
          <a:p/>
          <a:p>
            <a:r>
              <a:t>PHYSICS FOUNDATION (peer-reviewed):</a:t>
            </a:r>
          </a:p>
          <a:p>
            <a:r>
              <a:t>- Marx, J. W. &amp; Langenheim, R. H. (1959). "Reservoir heating by hot fluid</a:t>
            </a:r>
          </a:p>
          <a:p>
            <a:r>
              <a:t>  injection." Trans. AIME, 216, 312-315. Used for steam-zone growth and the</a:t>
            </a:r>
          </a:p>
          <a:p>
            <a:r>
              <a:t>  conduction heat loss into the overburden.</a:t>
            </a:r>
          </a:p>
          <a:p>
            <a:r>
              <a:t>- Andrade, E. N. da C. (1934). "The viscosity of liquids." Nature, 125, 309-310,</a:t>
            </a:r>
          </a:p>
          <a:p>
            <a:r>
              <a:t>  together with ASTM D341, the standard viscosity-temperature relation. Used for</a:t>
            </a:r>
          </a:p>
          <a:p>
            <a:r>
              <a:t>  mu(T) = A exp(B/T), fitted to Baghewala's own measured viscosity anchor rather</a:t>
            </a:r>
          </a:p>
          <a:p>
            <a:r>
              <a:t>  than a generic API-gravity correlation.</a:t>
            </a:r>
          </a:p>
          <a:p>
            <a:r>
              <a:t>- Vogel, J. V. (1968). "Inflow performance relationships for solution-gas drive</a:t>
            </a:r>
          </a:p>
          <a:p>
            <a:r>
              <a:t>  wells." J. Petrol. Tech., 20, 83-92. Used for the IPR curve.</a:t>
            </a:r>
          </a:p>
          <a:p/>
          <a:p>
            <a:r>
              <a:t>FIELD &amp; INDUSTRY EVIDENCE:</a:t>
            </a:r>
          </a:p>
          <a:p>
            <a:r>
              <a:t>- SPE-23APOG-535203 (2023), "Case Study for Enhancement of Production of Heavy and</a:t>
            </a:r>
          </a:p>
          <a:p>
            <a:r>
              <a:t>  Highly Viscous Crude Oil Using Electrical Downhole Heater" — Baghewala reservoir</a:t>
            </a:r>
          </a:p>
          <a:p>
            <a:r>
              <a:t>  depth, API gravity and viscosity.</a:t>
            </a:r>
          </a:p>
          <a:p>
            <a:r>
              <a:t>- Oil India Limited — Rajasthan field pages plus operations data for well BGW-8:</a:t>
            </a:r>
          </a:p>
          <a:p>
            <a:r>
              <a:t>  steam rate ~3,100 kg/hr, 280-305 degC, 85-97 kgf/cm2, 60-70% steam quality,</a:t>
            </a:r>
          </a:p>
          <a:p>
            <a:r>
              <a:t>  well counts, and the annual production history.</a:t>
            </a:r>
          </a:p>
          <a:p>
            <a:r>
              <a:t>- Oil &amp; Gas Journal, "OIL starts CSS of well in Rajasthan" — India's first CSS,</a:t>
            </a:r>
          </a:p>
          <a:p>
            <a:r>
              <a:t>  December 2018, with Belgrave Oil &amp; Gas Corp of Calgary.</a:t>
            </a:r>
          </a:p>
          <a:p>
            <a:r>
              <a:t>- Competitive landscape scan (docs/landscape.md) — ChampionX XSPOC, Lufkin</a:t>
            </a:r>
          </a:p>
          <a:p>
            <a:r>
              <a:t>  SAM/SROD, Weatherford ForeSite, SLB OptiSite/ProcessOps, AVEVA, Kongsberg</a:t>
            </a:r>
          </a:p>
          <a:p>
            <a:r>
              <a:t>  Kognitwin. Used to confirm that none of them co-optimise CSS steam scheduling</a:t>
            </a:r>
          </a:p>
          <a:p>
            <a:r>
              <a:t>  with sucker-rod lift.</a:t>
            </a:r>
          </a:p>
          <a:p/>
          <a:p>
            <a:r>
              <a:t>MNIT Jaipur thermodynamics and fluid mechanics labs provide the departmental</a:t>
            </a:r>
          </a:p>
          <a:p>
            <a:r>
              <a:t>precedent for validating the physics models.</a:t>
            </a:r>
          </a:p>
          <a:p/>
          <a:p>
            <a:r>
              <a:t>SOURCING DISCIPLINE (say this if a judge probes a number): every figure in this</a:t>
            </a:r>
          </a:p>
          <a:p>
            <a:r>
              <a:t>deck is tagged CONFIRMED, TYPICAL (industry-standard where no Baghewala-specific</a:t>
            </a:r>
          </a:p>
          <a:p>
            <a:r>
              <a:t>source exists), or DERIVED (calculated from confirmed numbers). Where no source</a:t>
            </a:r>
          </a:p>
          <a:p>
            <a:r>
              <a:t>exists — Baghewala's own achieved SOR, and any field failure-reduction percentage</a:t>
            </a:r>
          </a:p>
          <a:p>
            <a:r>
              <a:t>— we say so on the slide instead of inventing a figure.</a:t>
            </a:r>
          </a:p>
          <a:p/>
          <a:p>
            <a:r>
              <a:t>ChemE term: Inflow Performance Relationship (IPR) — the map of well flow rate</a:t>
            </a:r>
          </a:p>
          <a:p>
            <a:r>
              <a:t>against pressure drawdown.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